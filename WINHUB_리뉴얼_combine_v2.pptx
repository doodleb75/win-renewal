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2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9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주요 에셋 </a:t>
                      </a:r>
                      <a:r>
                        <a:rPr lang="en-US" altLang="ko-KR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스펙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8702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31520" y="97840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3874736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165604" y="4279392"/>
            <a:ext cx="22468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65604" y="4480560"/>
            <a:ext cx="22468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7막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비주얼(3D WebGL) &amp; 차세대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S.01~S.04: 지능 신경망 ──► 퀀텀 코어 수렴 핀 스크롤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S.05~S.07: 차세대 인터랙티브 2x3 무박스 수치 그리드 &amp; 에디토리얼 인덱스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7막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048022"/>
              </p:ext>
            </p:extLst>
          </p:nvPr>
        </p:nvGraphicFramePr>
        <p:xfrm>
          <a:off x="457200" y="1234440"/>
          <a:ext cx="8229600" cy="342899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7막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94A3B8"/>
                </a:solidFill>
                <a:latin typeface="Malgun Gothic" panose="020B0503020000020004" pitchFamily="50" charset="-127"/>
              </a:rPr>
              <a:t>- 8 -</a:t>
            </a:r>
            <a:endParaRPr lang="ko-KR" altLang="en-US" sz="800" dirty="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7-Act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배경 컨텐츠와 유기적으로 연동되는 반투명 오버레이 드로어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7단계 디지털 신경망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07592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441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Cinematic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63240" y="1344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영역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519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비디오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806440" y="1344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미래지향적 게이트웨이: 비디오 배경 루프 위에서 미래를 여는 열쇠 모티브 전개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57200" y="172821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180136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18379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087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63240" y="18379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Tech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519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 SVG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06440" y="18379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지능의 신경망: AI/클라우드 칩셋이 분해되며 첫 번째 시안 광선 스트림 점등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57200" y="2221992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295144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087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2331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Strategy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519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806440" y="2331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맞춤: 360도 레이더 스캔을 통해 고객사 고유의 비즈니스 도메인 정밀 타겟팅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2715768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2788920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2825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087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063240" y="2825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Execution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519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Hex Shield Seal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806440" y="28254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무결점 증명: 육각 쉴드 매트릭스 결합, 100% 품질 보증과 세 번째 앰버 스트림 완성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57200" y="3209544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282696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33192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5087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Convergence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63240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Synergy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519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Core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5806440" y="3319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수렴: 3대 스트림이 퀀텀 코어로 동시에 쏟아지며 빛의 폭발 모션 연출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572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9436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9436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087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Proof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6324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Impact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2519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2x3 Grid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80644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증명: 99.98% 가동률, 15+년 등 무박스 헤어라인 수치 그리드 카운트업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572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59436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9436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087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&amp; Outro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06324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S.06 / S.07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519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Table + CTA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580644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&amp; 제안: 에디토리얼 실적 인덱스 테이블을 지나 'READY TO EMPOWER?' 제안으로 마침표</a:t>
            </a:r>
            <a:endParaRPr lang="en-US" sz="720" dirty="0"/>
          </a:p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383081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futuristic_key.mp4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1863469" y="1848408"/>
            <a:ext cx="1613061" cy="1613061"/>
          </a:xfrm>
          <a:prstGeom prst="ellipse">
            <a:avLst/>
          </a:prstGeom>
          <a:solidFill>
            <a:srgbClr val="1E293B">
              <a:alpha val="50000"/>
            </a:srgbClr>
          </a:solidFill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2518775" y="2050040"/>
            <a:ext cx="302448" cy="1008163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855306" y="2453306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209428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864734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7C79D8-2124-A717-40F4-B0E674CA12E3}"/>
              </a:ext>
            </a:extLst>
          </p:cNvPr>
          <p:cNvGrpSpPr/>
          <p:nvPr/>
        </p:nvGrpSpPr>
        <p:grpSpPr>
          <a:xfrm>
            <a:off x="1359387" y="4243603"/>
            <a:ext cx="2621224" cy="282285"/>
            <a:chOff x="1359387" y="3804244"/>
            <a:chExt cx="2621224" cy="282285"/>
          </a:xfrm>
        </p:grpSpPr>
        <p:sp>
          <p:nvSpPr>
            <p:cNvPr id="39" name="Shape 36"/>
            <p:cNvSpPr/>
            <p:nvPr/>
          </p:nvSpPr>
          <p:spPr>
            <a:xfrm>
              <a:off x="1359387" y="3804244"/>
              <a:ext cx="2621224" cy="282285"/>
            </a:xfrm>
            <a:prstGeom prst="round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 37"/>
            <p:cNvSpPr/>
            <p:nvPr/>
          </p:nvSpPr>
          <p:spPr>
            <a:xfrm>
              <a:off x="1359387" y="3834489"/>
              <a:ext cx="2621224" cy="2217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71" b="1" dirty="0">
                  <a:solidFill>
                    <a:srgbClr val="080A1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SCROLL TO INITIATE SYSTEM ↓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비디오</a:t>
            </a:r>
            <a:r>
              <a:rPr dirty="0"/>
              <a:t> </a:t>
            </a:r>
            <a:r>
              <a:rPr dirty="0" err="1"/>
              <a:t>에셋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futuristic_key.mp4 60FPS </a:t>
            </a:r>
            <a:r>
              <a:rPr dirty="0" err="1"/>
              <a:t>무한</a:t>
            </a:r>
            <a:r>
              <a:rPr dirty="0"/>
              <a:t> </a:t>
            </a:r>
            <a:r>
              <a:rPr dirty="0" err="1"/>
              <a:t>루프</a:t>
            </a:r>
            <a:r>
              <a:rPr dirty="0"/>
              <a:t> </a:t>
            </a:r>
            <a:r>
              <a:rPr dirty="0" err="1"/>
              <a:t>재생</a:t>
            </a:r>
            <a:br>
              <a:rPr dirty="0"/>
            </a:br>
            <a:r>
              <a:rPr dirty="0"/>
              <a:t>  · 65% </a:t>
            </a:r>
            <a:r>
              <a:rPr dirty="0" err="1"/>
              <a:t>다크</a:t>
            </a:r>
            <a:r>
              <a:rPr dirty="0"/>
              <a:t> </a:t>
            </a:r>
            <a:r>
              <a:rPr dirty="0" err="1"/>
              <a:t>오버레이로</a:t>
            </a:r>
            <a:r>
              <a:rPr dirty="0"/>
              <a:t> </a:t>
            </a:r>
            <a:r>
              <a:rPr dirty="0" err="1"/>
              <a:t>타이포그래피</a:t>
            </a:r>
            <a:r>
              <a:rPr dirty="0"/>
              <a:t> </a:t>
            </a:r>
            <a:r>
              <a:rPr dirty="0" err="1"/>
              <a:t>시인성</a:t>
            </a:r>
            <a:r>
              <a:rPr dirty="0"/>
              <a:t> </a:t>
            </a:r>
            <a:r>
              <a:rPr dirty="0" err="1"/>
              <a:t>확보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미래지향</a:t>
            </a:r>
            <a:r>
              <a:rPr dirty="0"/>
              <a:t> </a:t>
            </a:r>
            <a:r>
              <a:rPr dirty="0" err="1"/>
              <a:t>카피라이팅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'CONNECTS TO EMPOWER YOUR SUCCESS'</a:t>
            </a:r>
            <a:br>
              <a:rPr dirty="0"/>
            </a:br>
            <a:r>
              <a:rPr dirty="0"/>
              <a:t>  · </a:t>
            </a:r>
            <a:r>
              <a:rPr dirty="0" err="1"/>
              <a:t>디지털</a:t>
            </a:r>
            <a:r>
              <a:rPr dirty="0"/>
              <a:t> 키(Gateway) </a:t>
            </a:r>
            <a:r>
              <a:rPr dirty="0" err="1"/>
              <a:t>모티브의</a:t>
            </a:r>
            <a:r>
              <a:rPr dirty="0"/>
              <a:t> </a:t>
            </a:r>
            <a:r>
              <a:rPr dirty="0" err="1"/>
              <a:t>기업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도약</a:t>
            </a:r>
            <a:r>
              <a:rPr dirty="0"/>
              <a:t> </a:t>
            </a:r>
            <a:r>
              <a:rPr dirty="0" err="1"/>
              <a:t>형상화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[GNB 및 </a:t>
            </a:r>
            <a:r>
              <a:rPr dirty="0" err="1"/>
              <a:t>인터랙션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상단</a:t>
            </a:r>
            <a:r>
              <a:rPr dirty="0"/>
              <a:t> </a:t>
            </a:r>
            <a:r>
              <a:rPr dirty="0" err="1"/>
              <a:t>고정</a:t>
            </a:r>
            <a:r>
              <a:rPr dirty="0"/>
              <a:t> GNB: </a:t>
            </a:r>
            <a:r>
              <a:rPr dirty="0" err="1"/>
              <a:t>로고</a:t>
            </a:r>
            <a:r>
              <a:rPr dirty="0"/>
              <a:t> + </a:t>
            </a:r>
            <a:r>
              <a:rPr dirty="0" err="1"/>
              <a:t>햄버거</a:t>
            </a:r>
            <a:r>
              <a:rPr dirty="0"/>
              <a:t> </a:t>
            </a:r>
            <a:r>
              <a:rPr dirty="0" err="1"/>
              <a:t>메뉴</a:t>
            </a:r>
            <a:r>
              <a:rPr dirty="0"/>
              <a:t>(</a:t>
            </a:r>
            <a:r>
              <a:rPr dirty="0" err="1"/>
              <a:t>단순화</a:t>
            </a:r>
            <a:r>
              <a:rPr dirty="0"/>
              <a:t>)</a:t>
            </a:r>
            <a:br>
              <a:rPr dirty="0"/>
            </a:br>
            <a:r>
              <a:rPr dirty="0"/>
              <a:t>  · 'SCROLL TO INITIATE SYSTEM' </a:t>
            </a:r>
            <a:r>
              <a:rPr dirty="0" err="1"/>
              <a:t>클릭</a:t>
            </a:r>
            <a:r>
              <a:rPr dirty="0"/>
              <a:t> 시 S.01 </a:t>
            </a:r>
            <a:r>
              <a:rPr dirty="0" err="1"/>
              <a:t>부드러운</a:t>
            </a:r>
            <a:r>
              <a:rPr dirty="0"/>
              <a:t> </a:t>
            </a:r>
            <a:r>
              <a:rPr dirty="0" err="1"/>
              <a:t>스크롤</a:t>
            </a:r>
            <a:r>
              <a:rPr dirty="0"/>
              <a:t> </a:t>
            </a:r>
            <a:r>
              <a:rPr dirty="0" err="1"/>
              <a:t>이동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2832" y="150000"/>
            <a:ext cx="80233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futuristic_key.mp4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Stream Wire to Synergy Core ↓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196" y="150000"/>
            <a:ext cx="6276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AI Kernel SVG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비즈니스 환경을 360도 스캔해 컨설팅부터 시스템 구축 및 운영 로드맵 설계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56496" y="150000"/>
            <a:ext cx="7350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360° Radar Scan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· PROVEN EXECUTION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MOMENTUM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다년간 축적된 대형 SI 프로젝트 노하우와 검증된 품질 관리로 무결점 납기 보증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913877" y="2554122"/>
            <a:ext cx="1411428" cy="1512244"/>
          </a:xfrm>
          <a:prstGeom prst="hexagon">
            <a:avLst/>
          </a:prstGeom>
          <a:solidFill>
            <a:srgbClr val="78350F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1913877" y="3058204"/>
            <a:ext cx="1411428" cy="504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50" dirty="0"/>
          </a:p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QUALITY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S.03 Proven Execution (무결점 증명)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6533" y="150000"/>
            <a:ext cx="6949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Hex Shield Seal</a:t>
            </a:r>
          </a:p>
        </p:txBody>
      </p:sp>
      <p:sp>
        <p:nvSpPr>
          <p:cNvPr id="2" name="Footer_PageNumber_14">
            <a:extLst>
              <a:ext uri="{FF2B5EF4-FFF2-40B4-BE49-F238E27FC236}">
                <a16:creationId xmlns:a16="http://schemas.microsoft.com/office/drawing/2014/main" id="{0D9735FE-134D-9A6F-6D69-95EB28EF466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814693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81469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· INTEGRATED SYNERGY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76204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CONVERGED CORE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1918979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리더십 · 고객 맞춤 전략 · 검증된 수행력이 유기적으로 결합한 압도적 시너지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13877" y="2668613"/>
            <a:ext cx="1411428" cy="1209795"/>
          </a:xfrm>
          <a:prstGeom prst="ellipse">
            <a:avLst/>
          </a:prstGeom>
          <a:solidFill>
            <a:srgbClr val="1E1B4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2317142" y="2971062"/>
            <a:ext cx="604897" cy="60489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409795" y="4245818"/>
            <a:ext cx="2419591" cy="260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REACTOR CORE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[Pulse Wave Explosion]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S.04 Integrated Synergy (퀀텀 코어 수렴)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0960" y="150000"/>
            <a:ext cx="66608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Quantum Core</a:t>
            </a:r>
          </a:p>
        </p:txBody>
      </p:sp>
      <p:sp>
        <p:nvSpPr>
          <p:cNvPr id="2" name="Footer_PageNumber_15">
            <a:extLst>
              <a:ext uri="{FF2B5EF4-FFF2-40B4-BE49-F238E27FC236}">
                <a16:creationId xmlns:a16="http://schemas.microsoft.com/office/drawing/2014/main" id="{B5F7916B-2A51-19CD-4707-06B4AC198EC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· ENTERPRISE IMPACT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S.05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8443" y="150000"/>
            <a:ext cx="79111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CoMinVi 2x3 Grid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S.06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3095" y="150000"/>
            <a:ext cx="52181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Index Table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 dirty="0">
                <a:solidFill>
                  <a:srgbClr val="0F172A"/>
                </a:solidFill>
                <a:latin typeface="맑은 고딕"/>
              </a:rPr>
              <a:t>▶ [</a:t>
            </a:r>
            <a:r>
              <a:rPr sz="1000" b="1" dirty="0" err="1">
                <a:solidFill>
                  <a:srgbClr val="0F172A"/>
                </a:solidFill>
                <a:latin typeface="맑은 고딕"/>
              </a:rPr>
              <a:t>에디토리얼</a:t>
            </a:r>
            <a:r>
              <a:rPr sz="1000" b="1" dirty="0">
                <a:solidFill>
                  <a:srgbClr val="0F172A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F172A"/>
                </a:solidFill>
                <a:latin typeface="맑은 고딕"/>
              </a:rPr>
              <a:t>인덱스</a:t>
            </a:r>
            <a:r>
              <a:rPr sz="1000" b="1" dirty="0">
                <a:solidFill>
                  <a:srgbClr val="0F172A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F172A"/>
                </a:solidFill>
                <a:latin typeface="맑은 고딕"/>
              </a:rPr>
              <a:t>테이블</a:t>
            </a:r>
            <a:r>
              <a:rPr sz="1000" b="1" dirty="0">
                <a:solidFill>
                  <a:srgbClr val="0F172A"/>
                </a:solidFill>
                <a:latin typeface="맑은 고딕"/>
              </a:rPr>
              <a:t>]:</a:t>
            </a:r>
          </a:p>
          <a:p>
            <a:r>
              <a:rPr sz="900" b="0" dirty="0">
                <a:solidFill>
                  <a:srgbClr val="475569"/>
                </a:solidFill>
                <a:latin typeface="맑은 고딕"/>
              </a:rPr>
              <a:t>  · 1행 1레코드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미니멀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인터랙티브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테이블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구조</a:t>
            </a:r>
            <a:endParaRPr sz="900" b="0" dirty="0">
              <a:solidFill>
                <a:srgbClr val="475569"/>
              </a:solidFill>
              <a:latin typeface="맑은 고딕"/>
            </a:endParaRPr>
          </a:p>
          <a:p>
            <a:r>
              <a:rPr sz="900" b="0" dirty="0">
                <a:solidFill>
                  <a:srgbClr val="475569"/>
                </a:solidFill>
                <a:latin typeface="맑은 고딕"/>
              </a:rPr>
              <a:t>  ·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호버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시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해당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프로젝트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썸네일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플로팅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프리뷰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및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화살표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대각선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회전</a:t>
            </a:r>
            <a:endParaRPr sz="900" b="0" dirty="0">
              <a:solidFill>
                <a:srgbClr val="475569"/>
              </a:solidFill>
              <a:latin typeface="맑은 고딕"/>
            </a:endParaRPr>
          </a:p>
          <a:p>
            <a:endParaRPr sz="900" b="0" dirty="0">
              <a:solidFill>
                <a:srgbClr val="475569"/>
              </a:solidFill>
              <a:latin typeface="맑은 고딕"/>
            </a:endParaRPr>
          </a:p>
          <a:p>
            <a:r>
              <a:rPr sz="1000" b="1" dirty="0">
                <a:solidFill>
                  <a:srgbClr val="0F172A"/>
                </a:solidFill>
                <a:latin typeface="맑은 고딕"/>
              </a:rPr>
              <a:t>▶ [</a:t>
            </a:r>
            <a:r>
              <a:rPr sz="1000" b="1" dirty="0" err="1">
                <a:solidFill>
                  <a:srgbClr val="0F172A"/>
                </a:solidFill>
                <a:latin typeface="맑은 고딕"/>
              </a:rPr>
              <a:t>실적</a:t>
            </a:r>
            <a:r>
              <a:rPr sz="1000" b="1" dirty="0">
                <a:solidFill>
                  <a:srgbClr val="0F172A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F172A"/>
                </a:solidFill>
                <a:latin typeface="맑은 고딕"/>
              </a:rPr>
              <a:t>데이터</a:t>
            </a:r>
            <a:r>
              <a:rPr sz="1000" b="1" dirty="0">
                <a:solidFill>
                  <a:srgbClr val="0F172A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0F172A"/>
                </a:solidFill>
                <a:latin typeface="맑은 고딕"/>
              </a:rPr>
              <a:t>바인딩</a:t>
            </a:r>
            <a:r>
              <a:rPr sz="1000" b="1" dirty="0">
                <a:solidFill>
                  <a:srgbClr val="0F172A"/>
                </a:solidFill>
                <a:latin typeface="맑은 고딕"/>
              </a:rPr>
              <a:t> &amp; </a:t>
            </a:r>
            <a:r>
              <a:rPr sz="1000" b="1" dirty="0" err="1">
                <a:solidFill>
                  <a:srgbClr val="0F172A"/>
                </a:solidFill>
                <a:latin typeface="맑은 고딕"/>
              </a:rPr>
              <a:t>인터랙션</a:t>
            </a:r>
            <a:r>
              <a:rPr sz="1000" b="1" dirty="0">
                <a:solidFill>
                  <a:srgbClr val="0F172A"/>
                </a:solidFill>
                <a:latin typeface="맑은 고딕"/>
              </a:rPr>
              <a:t>]:</a:t>
            </a:r>
          </a:p>
          <a:p>
            <a:r>
              <a:rPr sz="900" b="0" dirty="0">
                <a:solidFill>
                  <a:srgbClr val="475569"/>
                </a:solidFill>
                <a:latin typeface="맑은 고딕"/>
              </a:rPr>
              <a:t>  · ABC MART, LX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하우시스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, AK PLAZA,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신세계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I&amp;C 등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핵심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실적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직관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노출</a:t>
            </a:r>
            <a:endParaRPr sz="900" b="0" dirty="0">
              <a:solidFill>
                <a:srgbClr val="475569"/>
              </a:solidFill>
              <a:latin typeface="맑은 고딕"/>
            </a:endParaRPr>
          </a:p>
          <a:p>
            <a:r>
              <a:rPr sz="900" b="0" dirty="0">
                <a:solidFill>
                  <a:srgbClr val="475569"/>
                </a:solidFill>
                <a:latin typeface="맑은 고딕"/>
              </a:rPr>
              <a:t>  ·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클릭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시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서브페이지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Works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상세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(S02-Detail)로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스무스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트랜지션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이동</a:t>
            </a:r>
            <a:endParaRPr sz="900" b="0" dirty="0">
              <a:solidFill>
                <a:srgbClr val="475569"/>
              </a:solidFill>
              <a:latin typeface="맑은 고딕"/>
            </a:endParaRPr>
          </a:p>
          <a:p>
            <a:endParaRPr sz="900" b="0" dirty="0">
              <a:solidFill>
                <a:srgbClr val="475569"/>
              </a:solidFill>
              <a:latin typeface="맑은 고딕"/>
            </a:endParaRPr>
          </a:p>
          <a:p>
            <a:r>
              <a:rPr sz="1000" b="1" dirty="0">
                <a:solidFill>
                  <a:srgbClr val="0F172A"/>
                </a:solidFill>
                <a:latin typeface="맑은 고딕"/>
              </a:rPr>
              <a:t>▶ [</a:t>
            </a:r>
            <a:r>
              <a:rPr sz="1000" b="1" dirty="0" err="1">
                <a:solidFill>
                  <a:srgbClr val="0F172A"/>
                </a:solidFill>
                <a:latin typeface="맑은 고딕"/>
              </a:rPr>
              <a:t>엔터프라이즈</a:t>
            </a:r>
            <a:r>
              <a:rPr sz="1000" b="1" dirty="0">
                <a:solidFill>
                  <a:srgbClr val="0F172A"/>
                </a:solidFill>
                <a:latin typeface="맑은 고딕"/>
              </a:rPr>
              <a:t> UI/UX </a:t>
            </a:r>
            <a:r>
              <a:rPr sz="1000" b="1" dirty="0" err="1">
                <a:solidFill>
                  <a:srgbClr val="0F172A"/>
                </a:solidFill>
                <a:latin typeface="맑은 고딕"/>
              </a:rPr>
              <a:t>최적화</a:t>
            </a:r>
            <a:r>
              <a:rPr sz="1000" b="1" dirty="0">
                <a:solidFill>
                  <a:srgbClr val="0F172A"/>
                </a:solidFill>
                <a:latin typeface="맑은 고딕"/>
              </a:rPr>
              <a:t>]:</a:t>
            </a:r>
          </a:p>
          <a:p>
            <a:r>
              <a:rPr sz="900" b="0" dirty="0">
                <a:solidFill>
                  <a:srgbClr val="475569"/>
                </a:solidFill>
                <a:latin typeface="맑은 고딕"/>
              </a:rPr>
              <a:t>  · 1px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헤어라인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디바이더와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시안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네온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강조로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가독성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극대화</a:t>
            </a:r>
            <a:endParaRPr sz="900" b="0" dirty="0">
              <a:solidFill>
                <a:srgbClr val="475569"/>
              </a:solidFill>
              <a:latin typeface="맑은 고딕"/>
            </a:endParaRPr>
          </a:p>
          <a:p>
            <a:r>
              <a:rPr sz="900" b="0" dirty="0">
                <a:solidFill>
                  <a:srgbClr val="475569"/>
                </a:solidFill>
                <a:latin typeface="맑은 고딕"/>
              </a:rPr>
              <a:t>  ·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모바일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/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태블릿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터치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디바이스에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맞춘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최적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탭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타겟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영역</a:t>
            </a:r>
            <a:r>
              <a:rPr sz="900" b="0" dirty="0">
                <a:solidFill>
                  <a:srgbClr val="47556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75569"/>
                </a:solidFill>
                <a:latin typeface="맑은 고딕"/>
              </a:rPr>
              <a:t>보장</a:t>
            </a:r>
            <a:endParaRPr sz="900" b="0" dirty="0">
              <a:solidFill>
                <a:srgbClr val="475569"/>
              </a:solidFill>
              <a:latin typeface="맑은 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BC616A-171E-C292-30A7-73123D63BE5B}"/>
              </a:ext>
            </a:extLst>
          </p:cNvPr>
          <p:cNvSpPr/>
          <p:nvPr/>
        </p:nvSpPr>
        <p:spPr>
          <a:xfrm>
            <a:off x="3022856" y="1759405"/>
            <a:ext cx="1143477" cy="621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ABC</a:t>
            </a:r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47000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153000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S.07 · READY TO CONNECT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04081" y="165000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225000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04081" y="255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S.07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7372" y="150000"/>
            <a:ext cx="65325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Full Bleed CTA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20000" y="3720342"/>
            <a:ext cx="4920000" cy="969658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720935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370833" y="3846760"/>
            <a:ext cx="8890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WINHUB
IT Innovation Partner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319681" y="3846760"/>
            <a:ext cx="9525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About Us
Works
Contact Us
Support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90B94-7886-919B-E1AD-51DC9D55B48D}"/>
              </a:ext>
            </a:extLst>
          </p:cNvPr>
          <p:cNvSpPr txBox="1"/>
          <p:nvPr/>
        </p:nvSpPr>
        <p:spPr>
          <a:xfrm>
            <a:off x="3919326" y="3846760"/>
            <a:ext cx="1016000" cy="346249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contact@winhub.co.kr
031-908-7711
Direct Inquiry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[3D 비주얼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Three.js 기반 궤도 회전 및 3D Canvas 시각 효과 탑재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8787" y="150000"/>
            <a:ext cx="85042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Vision &amp; 3D Spline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000" y="229644"/>
            <a:ext cx="760000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서브 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4000" y="233491"/>
            <a:ext cx="1120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750">
                <a:solidFill>
                  <a:srgbClr val="0EA5E9"/>
                </a:solidFill>
                <a:latin typeface="Malgun Gothic" panose="020B0503020000020004" pitchFamily="50" charset="-127"/>
              </a:rPr>
              <a:t>BIZ DOMAIN &amp; Icons</a:t>
            </a:r>
            <a:endParaRPr lang="ko-KR" altLang="en-US" sz="750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40000" y="1520000"/>
            <a:ext cx="2340000" cy="1477493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01. WEB &amp; APP DEVELOPMENT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앱 구축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Vue.js, React, Next.js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초고속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SPA
· Flutter, RN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크로스플랫폼 앱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GSAP &amp; Three.js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인터랙티브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UI/UX</a:t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520000"/>
            <a:ext cx="2340000" cy="1477493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40000" y="3140000"/>
            <a:ext cx="2340000" cy="1477493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 err="1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 아키텍처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477493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[4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대 핵심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BIZ DOMAIN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설계 및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Web/App, Smart Platform/ERP, Enterprise DX, Cloud Consulting
  · 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카드 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&amp; Three.js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파티클 배경 연동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호버 인터랙션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마우스 호버 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1.05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배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Scale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확대 및 네온 시안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(#0EA5E9)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발광 효과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엔터프라이즈 레퍼런스 데이터 바인딩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LX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등 실제 구축 사례와 각 사업영역 간 다이렉트 딥링크 제공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리플로우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데스크톱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태블릿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모바일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열 스택 자동 재배치</a:t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Shape 54">
            <a:extLst>
              <a:ext uri="{FF2B5EF4-FFF2-40B4-BE49-F238E27FC236}">
                <a16:creationId xmlns:a16="http://schemas.microsoft.com/office/drawing/2014/main" id="{85D3DD79-0628-7D22-8A36-145D5F48029C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0" name="Text 55">
            <a:extLst>
              <a:ext uri="{FF2B5EF4-FFF2-40B4-BE49-F238E27FC236}">
                <a16:creationId xmlns:a16="http://schemas.microsoft.com/office/drawing/2014/main" id="{DF05E31B-4ADE-95A4-D942-F48B03953A3F}"/>
              </a:ext>
            </a:extLst>
          </p:cNvPr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rPr dirty="0"/>
              <a:t>WINHUB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및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방안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rPr dirty="0"/>
              <a:t>WINHUB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및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8787" y="150000"/>
            <a:ext cx="850426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96383" y="150000"/>
            <a:ext cx="8552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Grid &amp; Decap CMS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47491" y="150000"/>
            <a:ext cx="953018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0547" y="150000"/>
            <a:ext cx="110690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1200px Showcase &amp; Nav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837767" y="2865831"/>
            <a:ext cx="193252" cy="19325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[스마트 견적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서비스 유형(웹/앱/ERP/솔루션), 예산, 일정 인터랙티브 입력</a:t>
            </a:r>
            <a:br/>
            <a:r>
              <a:t>  · 개인정보 보호 암호화 및 실시간 검증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[본사 위치 지도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카카오맵 API 연동 및 오시는 길(마두역 4번출구) 안내</a:t>
            </a:r>
            <a:br/>
            <a:r>
              <a:t>  · SK M-City 섹션 9005호 맵 마커 표시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[공식 연락처 직통 채널]: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대표 이메일: contact@winhub.co.kr | 대표 전화: 031-908-7711</a:t>
            </a:r>
            <a:br/>
            <a:r>
              <a:t>  · 접수 즉시 담당자 배정 및 24시간 내 회신 프로세스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9401" y="150000"/>
            <a:ext cx="1049197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Smart Form &amp; Map API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" name="Text 28">
            <a:extLst>
              <a:ext uri="{FF2B5EF4-FFF2-40B4-BE49-F238E27FC236}">
                <a16:creationId xmlns:a16="http://schemas.microsoft.com/office/drawing/2014/main" id="{6281EC5E-86DF-2154-D892-A2D4D099C4B4}"/>
              </a:ext>
            </a:extLst>
          </p:cNvPr>
          <p:cNvSpPr/>
          <p:nvPr/>
        </p:nvSpPr>
        <p:spPr>
          <a:xfrm>
            <a:off x="3568645" y="2564504"/>
            <a:ext cx="821385" cy="189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</a:t>
            </a:r>
            <a:r>
              <a:rPr lang="en-US" sz="1600" b="1" dirty="0" err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심볼릭</a:t>
            </a: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 </a:t>
            </a:r>
            <a:r>
              <a:rPr lang="en-US" sz="8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</a:t>
            </a: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무드와 차세대 인터랙티브 기술적 명확성을 </a:t>
            </a:r>
            <a:r>
              <a:rPr lang="en-US" sz="8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결합한</a:t>
            </a: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완성형</a:t>
            </a: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</a:t>
            </a: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1 (Hero)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CONNECTS TO EMPOWER YOUR SUCCESS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미래를 여는 디지털 키(Gateway)로 고객 비즈니스의 성공적 도약을 견인합니다.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#futuristic_key #연결 #도약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2 (S.01)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ORCHESTRATING ENTERPRISE INTELLIGENCE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AI · 클라우드 · 빅데이터 아키텍처를 엔터프라이즈 환경에 최적화하여 구현합니다.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#신경망 #AI코어 #클라우드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3 (S.02)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PRECISION AT SCALE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고객 비즈니스 환경을 정밀 분석해 컨설팅부터 시스템 구축 및 운영 로드맵을 설계합니다.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#레이더스캔 #정밀분석 #맞춤전략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4 (S.03)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VERIFIED MOMENTUM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다년간 축적된 대형 SI 프로젝트 노하우와 검증된 방법론으로 무결점 납기를 보증합니다.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#육각쉴드 #품질보증 #무결점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5 (S.04)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THE CONVERGED CORE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기술 리더십 · 고객 맞춤 전략 · 검증된 수행력이 결합하여 압도적 시너지를 완성합니다.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#퀀텀코어 #에너지수렴 #시너지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</a:t>
            </a: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2057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en-US" altLang="ko-KR" sz="750" b="1" dirty="0" err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Decap</a:t>
            </a:r>
            <a:r>
              <a:rPr lang="en-US" altLang="ko-KR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CMS &amp; GitHub </a:t>
            </a:r>
            <a:r>
              <a:rPr lang="ko-KR" alt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</a:t>
            </a:r>
            <a:r>
              <a:rPr lang="ko-KR" altLang="en-US" sz="750" b="1" dirty="0" err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r>
              <a:rPr lang="ko-KR" alt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altLang="ko-KR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</a:t>
            </a:r>
            <a:r>
              <a:rPr lang="en-US" altLang="ko-KR" sz="750" b="1" dirty="0" err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r>
              <a:rPr lang="en-US" altLang="ko-KR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/Netlify CI/CD </a:t>
            </a:r>
            <a:r>
              <a:rPr lang="ko-KR" alt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 dirty="0" err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</a:t>
            </a:r>
            <a:r>
              <a:rPr lang="ko-KR" alt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842255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5284</Words>
  <Application>Microsoft Office PowerPoint</Application>
  <PresentationFormat>화면 슬라이드 쇼(16:9)</PresentationFormat>
  <Paragraphs>708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3</cp:revision>
  <dcterms:created xsi:type="dcterms:W3CDTF">2026-10-16T06:28:46Z</dcterms:created>
  <dcterms:modified xsi:type="dcterms:W3CDTF">2026-10-19T08:06:47Z</dcterms:modified>
</cp:coreProperties>
</file>