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3" r:id="rId15"/>
    <p:sldId id="274" r:id="rId16"/>
    <p:sldId id="275" r:id="rId17"/>
    <p:sldId id="282" r:id="rId18"/>
    <p:sldId id="276" r:id="rId19"/>
    <p:sldId id="277" r:id="rId20"/>
    <p:sldId id="278" r:id="rId21"/>
    <p:sldId id="279" r:id="rId22"/>
    <p:sldId id="280" r:id="rId23"/>
    <p:sldId id="281" r:id="rId24"/>
    <p:sldId id="283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3076" y="4023360"/>
            <a:ext cx="13779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93076" y="4224528"/>
            <a:ext cx="13779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정적 카탈로그 웹의 한계를 넘어 인터랙티브 웹으로의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고화질 비디오 배경 &amp; 현대적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풀스크린 오버레이 메뉴로 시원하고 직관적인 메뉴 탐색 환경 제공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페이지 이동 시 화면 깜빡임 없이 부드럽게 이어지는 연속적 화면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공간 배치 혁신: 불필요한 박스 테두리를 없애고 깔끔한 헤어라인 그리드 적용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S.01~S.02: 심플 SVG(AI 칩셋·레이더) 모션 &amp; 앰비언트 무드 배경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S.03~S.05: 차세대 인터랙티브 2x3 수치 그리드 &amp; 실적 쇼케이스 CTA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5단계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HTML5 비디오, 모던 웹 모션 라이브러리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1100" b="1">
                <a:latin typeface="Malgun Gothic"/>
              </a:defRPr>
            </a:pPr>
            <a:r>
              <a:rPr sz="1100" b="1">
                <a:latin typeface="Malgun Gothic"/>
              </a:rPr>
              <a:t>시네마틱 영상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50">
                <a:latin typeface="Malgun Gothic"/>
              </a:defRPr>
            </a:pPr>
            <a:r>
              <a:rPr sz="850" dirty="0">
                <a:latin typeface="Malgun Gothic"/>
              </a:rPr>
              <a:t>· futuristic_key.mp4 </a:t>
            </a:r>
            <a:r>
              <a:rPr sz="850" dirty="0" err="1">
                <a:latin typeface="Malgun Gothic"/>
              </a:rPr>
              <a:t>고화질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비디오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배경이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시각적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압도감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50">
                <a:latin typeface="Malgun Gothic"/>
              </a:defRPr>
            </a:pPr>
            <a:r>
              <a:rPr sz="850" dirty="0">
                <a:latin typeface="Malgun Gothic"/>
              </a:rPr>
              <a:t>· 99.98% </a:t>
            </a:r>
            <a:r>
              <a:rPr sz="850" dirty="0" err="1">
                <a:latin typeface="Malgun Gothic"/>
              </a:rPr>
              <a:t>가동률</a:t>
            </a:r>
            <a:r>
              <a:rPr sz="850" dirty="0">
                <a:latin typeface="Malgun Gothic"/>
              </a:rPr>
              <a:t>, 50+ </a:t>
            </a:r>
            <a:r>
              <a:rPr sz="850" dirty="0" err="1">
                <a:latin typeface="Malgun Gothic"/>
              </a:rPr>
              <a:t>대기업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레퍼런스</a:t>
            </a:r>
            <a:r>
              <a:rPr sz="850" dirty="0">
                <a:latin typeface="Malgun Gothic"/>
              </a:rPr>
              <a:t> 등 </a:t>
            </a:r>
            <a:r>
              <a:rPr sz="850" dirty="0" err="1">
                <a:latin typeface="Malgun Gothic"/>
              </a:rPr>
              <a:t>구체적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수치로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50">
                <a:latin typeface="Malgun Gothic"/>
              </a:defRPr>
            </a:pPr>
            <a:r>
              <a:rPr sz="850" dirty="0">
                <a:latin typeface="Malgun Gothic"/>
              </a:rPr>
              <a:t>· </a:t>
            </a:r>
            <a:r>
              <a:rPr sz="850" dirty="0" err="1">
                <a:latin typeface="Malgun Gothic"/>
              </a:rPr>
              <a:t>강력한</a:t>
            </a:r>
            <a:r>
              <a:rPr sz="850" dirty="0">
                <a:latin typeface="Malgun Gothic"/>
              </a:rPr>
              <a:t> B2B </a:t>
            </a:r>
            <a:r>
              <a:rPr sz="850" dirty="0" err="1">
                <a:latin typeface="Malgun Gothic"/>
              </a:rPr>
              <a:t>프로젝트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제안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문의</a:t>
            </a:r>
            <a:r>
              <a:rPr sz="850" dirty="0">
                <a:latin typeface="Malgun Gothic"/>
              </a:rPr>
              <a:t> </a:t>
            </a:r>
            <a:r>
              <a:rPr sz="850" dirty="0" err="1">
                <a:latin typeface="Malgun Gothic"/>
              </a:rPr>
              <a:t>전환</a:t>
            </a:r>
            <a:r>
              <a:rPr sz="850" dirty="0">
                <a:latin typeface="Malgun Gothic"/>
              </a:rPr>
              <a:t>(Conversion) </a:t>
            </a:r>
            <a:r>
              <a:rPr sz="850" dirty="0" err="1">
                <a:latin typeface="Malgun Gothic"/>
              </a:rPr>
              <a:t>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1000">
                <a:latin typeface="Malgun Gothic"/>
              </a:defRPr>
            </a:pPr>
            <a:r>
              <a:rPr sz="1000">
                <a:latin typeface="Malgun Gothic"/>
              </a:rPr>
              <a:t>깜빡임 없는 매끄러운 화면 전환과 풀스크린 커튼 메뉴 시스템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다운 확장형 메뉴</a:t>
            </a: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(Push-down Expandable Menu)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54533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lang="ko-KR" altLang="en-US" sz="700" dirty="0">
                <a:latin typeface="Malgun Gothic"/>
              </a:rPr>
              <a:t>우측 상단의 아이콘을 클릭하면 상단에서 넓은 영역의 전체 메뉴 패널이 펼쳐집니다</a:t>
            </a:r>
            <a:r>
              <a:rPr lang="en-US" altLang="ko-KR" sz="700" dirty="0">
                <a:latin typeface="Malgun Gothic"/>
              </a:rPr>
              <a:t>.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lang="ko-KR" altLang="en-US" sz="700" dirty="0">
                <a:latin typeface="Malgun Gothic"/>
              </a:rPr>
              <a:t>메뉴 패널이 본문을 덮어버리는</a:t>
            </a:r>
            <a:r>
              <a:rPr lang="en-US" altLang="ko-KR" sz="700" dirty="0">
                <a:latin typeface="Malgun Gothic"/>
              </a:rPr>
              <a:t>(Overlay)</a:t>
            </a:r>
            <a:r>
              <a:rPr lang="ko-KR" altLang="en-US" sz="700" dirty="0">
                <a:latin typeface="Malgun Gothic"/>
              </a:rPr>
              <a:t>가 아니라</a:t>
            </a:r>
            <a:r>
              <a:rPr lang="en-US" altLang="ko-KR" sz="700" dirty="0">
                <a:latin typeface="Malgun Gothic"/>
              </a:rPr>
              <a:t>, </a:t>
            </a:r>
            <a:r>
              <a:rPr lang="ko-KR" altLang="en-US" sz="700" dirty="0">
                <a:latin typeface="Malgun Gothic"/>
              </a:rPr>
              <a:t>전체 레이아웃을 부드럽게 아래로 밀어내며</a:t>
            </a:r>
            <a:r>
              <a:rPr lang="en-US" altLang="ko-KR" sz="700" dirty="0">
                <a:latin typeface="Malgun Gothic"/>
              </a:rPr>
              <a:t>(Push-down) </a:t>
            </a:r>
            <a:r>
              <a:rPr lang="ko-KR" altLang="en-US" sz="700" dirty="0">
                <a:latin typeface="Malgun Gothic"/>
              </a:rPr>
              <a:t>등장하는 </a:t>
            </a:r>
            <a:r>
              <a:rPr lang="ko-KR" altLang="en-US" sz="700" dirty="0" err="1">
                <a:latin typeface="Malgun Gothic"/>
              </a:rPr>
              <a:t>트랜지션</a:t>
            </a:r>
            <a:r>
              <a:rPr lang="ko-KR" altLang="en-US" sz="700" dirty="0">
                <a:latin typeface="Malgun Gothic"/>
              </a:rPr>
              <a:t> 효과를 적용했습니다</a:t>
            </a:r>
            <a:r>
              <a:rPr lang="en-US" altLang="ko-KR" sz="700" dirty="0">
                <a:latin typeface="Malgun Gothic"/>
              </a:rPr>
              <a:t>.</a:t>
            </a:r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lang="ko-KR" altLang="en-US" sz="700" dirty="0">
                <a:latin typeface="Malgun Gothic"/>
              </a:rPr>
              <a:t>확보된 넓은 여백을 통해 </a:t>
            </a:r>
            <a:r>
              <a:rPr lang="en-US" altLang="ko-KR" sz="700" dirty="0">
                <a:latin typeface="Malgun Gothic"/>
              </a:rPr>
              <a:t>About Us, Woks, Contact Us </a:t>
            </a:r>
            <a:r>
              <a:rPr lang="ko-KR" altLang="en-US" sz="700" dirty="0">
                <a:latin typeface="Malgun Gothic"/>
              </a:rPr>
              <a:t>배치하여 </a:t>
            </a:r>
            <a:r>
              <a:rPr lang="ko-KR" altLang="en-US" sz="700" dirty="0" err="1">
                <a:latin typeface="Malgun Gothic"/>
              </a:rPr>
              <a:t>핵시</a:t>
            </a:r>
            <a:r>
              <a:rPr lang="ko-KR" altLang="en-US" sz="700" dirty="0">
                <a:latin typeface="Malgun Gothic"/>
              </a:rPr>
              <a:t> </a:t>
            </a:r>
            <a:r>
              <a:rPr lang="ko-KR" altLang="en-US" sz="700" dirty="0" err="1">
                <a:latin typeface="Malgun Gothic"/>
              </a:rPr>
              <a:t>매뉴의</a:t>
            </a:r>
            <a:r>
              <a:rPr lang="ko-KR" altLang="en-US" sz="700" dirty="0">
                <a:latin typeface="Malgun Gothic"/>
              </a:rPr>
              <a:t> 가독성을 극대화하고 직관적인 조작을 </a:t>
            </a:r>
            <a:r>
              <a:rPr lang="ko-KR" altLang="en-US" sz="700" dirty="0" err="1">
                <a:latin typeface="Malgun Gothic"/>
              </a:rPr>
              <a:t>돕습니다</a:t>
            </a:r>
            <a:r>
              <a:rPr lang="en-US" altLang="ko-KR" sz="700" dirty="0">
                <a:latin typeface="Malgun Gothic"/>
              </a:rPr>
              <a:t>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43631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좁은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드롭다운</a:t>
            </a:r>
            <a:r>
              <a:rPr sz="700" dirty="0">
                <a:latin typeface="Malgun Gothic"/>
              </a:rPr>
              <a:t> 창 </a:t>
            </a:r>
            <a:r>
              <a:rPr sz="700" dirty="0" err="1">
                <a:latin typeface="Malgun Gothic"/>
              </a:rPr>
              <a:t>대신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화면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전체</a:t>
            </a:r>
            <a:r>
              <a:rPr sz="700" dirty="0">
                <a:latin typeface="Malgun Gothic"/>
              </a:rPr>
              <a:t>(</a:t>
            </a:r>
            <a:r>
              <a:rPr sz="700" dirty="0" err="1">
                <a:latin typeface="Malgun Gothic"/>
              </a:rPr>
              <a:t>풀스크린</a:t>
            </a:r>
            <a:r>
              <a:rPr sz="700" dirty="0">
                <a:latin typeface="Malgun Gothic"/>
              </a:rPr>
              <a:t>)를 </a:t>
            </a:r>
            <a:r>
              <a:rPr sz="700" dirty="0" err="1">
                <a:latin typeface="Malgun Gothic"/>
              </a:rPr>
              <a:t>감각적으로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덮는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시원한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오버레이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메뉴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메뉴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텍스트</a:t>
            </a:r>
            <a:r>
              <a:rPr sz="700" dirty="0">
                <a:latin typeface="Malgun Gothic"/>
              </a:rPr>
              <a:t>: </a:t>
            </a:r>
            <a:r>
              <a:rPr sz="700" dirty="0" err="1">
                <a:latin typeface="Malgun Gothic"/>
              </a:rPr>
              <a:t>아래에서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위로</a:t>
            </a:r>
            <a:r>
              <a:rPr sz="700" dirty="0">
                <a:latin typeface="Malgun Gothic"/>
              </a:rPr>
              <a:t> 물 </a:t>
            </a:r>
            <a:r>
              <a:rPr sz="700" dirty="0" err="1">
                <a:latin typeface="Malgun Gothic"/>
              </a:rPr>
              <a:t>흐르듯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순차적으로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나타나는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트렌디한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모션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연출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큼직하고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세련된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폰트를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적용하여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방문자에게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명확하고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직관적인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브랜드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인상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전달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참조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사이트</a:t>
            </a:r>
            <a:r>
              <a:rPr sz="700" dirty="0">
                <a:latin typeface="Malgun Gothic"/>
              </a:rPr>
              <a:t>: 1367studio (https://www.1367studio.com/) </a:t>
            </a:r>
            <a:r>
              <a:rPr sz="700" dirty="0" err="1">
                <a:latin typeface="Malgun Gothic"/>
              </a:rPr>
              <a:t>풀스크린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메뉴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스타일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벤치마킹</a:t>
            </a:r>
            <a:endParaRPr lang="en-US" sz="700" dirty="0"/>
          </a:p>
          <a:p>
            <a:pPr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ESC 키 </a:t>
            </a:r>
            <a:r>
              <a:rPr sz="700" dirty="0" err="1">
                <a:latin typeface="Malgun Gothic"/>
              </a:rPr>
              <a:t>감지</a:t>
            </a:r>
            <a:r>
              <a:rPr sz="700" dirty="0">
                <a:latin typeface="Malgun Gothic"/>
              </a:rPr>
              <a:t> 및 </a:t>
            </a:r>
            <a:r>
              <a:rPr sz="700" dirty="0" err="1">
                <a:latin typeface="Malgun Gothic"/>
              </a:rPr>
              <a:t>닫기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버튼으로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언제든지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편하고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빠르게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닫을</a:t>
            </a:r>
            <a:r>
              <a:rPr sz="700" dirty="0">
                <a:latin typeface="Malgun Gothic"/>
              </a:rPr>
              <a:t> 수 </a:t>
            </a:r>
            <a:r>
              <a:rPr sz="700" dirty="0" err="1">
                <a:latin typeface="Malgun Gothic"/>
              </a:rPr>
              <a:t>있는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쉬운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사용성</a:t>
            </a:r>
            <a:endParaRPr sz="700" dirty="0">
              <a:latin typeface="Malgun Gothic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20439"/>
            <a:ext cx="8229600" cy="109250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57134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1000" b="1">
                <a:latin typeface="Malgun Gothic"/>
              </a:defRPr>
            </a:pPr>
            <a:r>
              <a:rPr sz="900" b="1" dirty="0">
                <a:latin typeface="Malgun Gothic"/>
              </a:rPr>
              <a:t>3. </a:t>
            </a:r>
            <a:r>
              <a:rPr sz="900" b="1" dirty="0" err="1">
                <a:latin typeface="Malgun Gothic"/>
              </a:rPr>
              <a:t>화면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깜빡임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없는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매끄러운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페이지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이동</a:t>
            </a:r>
            <a:r>
              <a:rPr sz="900" b="1" dirty="0">
                <a:latin typeface="Malgun Gothic"/>
              </a:rPr>
              <a:t> (</a:t>
            </a:r>
            <a:r>
              <a:rPr sz="900" b="1" dirty="0" err="1">
                <a:latin typeface="Malgun Gothic"/>
              </a:rPr>
              <a:t>화면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끊김</a:t>
            </a:r>
            <a:r>
              <a:rPr sz="900" b="1" dirty="0">
                <a:latin typeface="Malgun Gothic"/>
              </a:rPr>
              <a:t> </a:t>
            </a:r>
            <a:r>
              <a:rPr sz="900" b="1" dirty="0" err="1">
                <a:latin typeface="Malgun Gothic"/>
              </a:rPr>
              <a:t>방지</a:t>
            </a:r>
            <a:r>
              <a:rPr sz="900" b="1" dirty="0">
                <a:latin typeface="Malgun Gothic"/>
              </a:rPr>
              <a:t>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83133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>
                <a:latin typeface="Malgun Gothic"/>
              </a:rPr>
              <a:t>· 1단계: 메뉴 클릭 시 화면이 하얗게 깜빡이지 않고 부드럽게 전환 시작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>
                <a:latin typeface="Malgun Gothic"/>
              </a:rPr>
              <a:t>· 2단계: 현재 화면이 은은하게 페이드아웃되며 다음 페이지로 자연스럽게 연결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>
                <a:latin typeface="Malgun Gothic"/>
              </a:rPr>
              <a:t>· 3단계: 상단 헤더 메뉴와 배경 무드를 안정적으로 유지하며 새 콘텐츠 신속 로딩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>
                <a:latin typeface="Malgun Gothic"/>
              </a:rPr>
              <a:t>· 4단계: 새로운 페이지의 최상단 위치로 스크롤을 매끄럽게 맞추어 즉시 탐색 지원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  <a:defRPr sz="850">
                <a:latin typeface="Malgun Gothic"/>
              </a:defRPr>
            </a:pPr>
            <a:r>
              <a:rPr sz="700">
                <a:latin typeface="Malgun Gothic"/>
              </a:rPr>
              <a:t>· 5단계: 신규 페이지의 인터랙티브 요소들이 유기적으로 등장하며 방문자 몰입 유도</a:t>
            </a:r>
            <a:endParaRPr lang="en-US" sz="70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화면이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아래로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밀려나지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않고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고정된</a:t>
            </a:r>
            <a:r>
              <a:rPr sz="700" dirty="0">
                <a:latin typeface="Malgun Gothic"/>
              </a:rPr>
              <a:t> 채, </a:t>
            </a:r>
            <a:r>
              <a:rPr sz="700" dirty="0" err="1">
                <a:latin typeface="Malgun Gothic"/>
              </a:rPr>
              <a:t>스크롤에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맞춰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텍스트와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그래픽이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자연스럽게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변화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  <a:defRPr sz="850">
                <a:latin typeface="Malgun Gothic"/>
              </a:defRPr>
            </a:pPr>
            <a:r>
              <a:rPr sz="700" dirty="0">
                <a:latin typeface="Malgun Gothic"/>
              </a:rPr>
              <a:t>· </a:t>
            </a:r>
            <a:r>
              <a:rPr sz="700" dirty="0" err="1">
                <a:latin typeface="Malgun Gothic"/>
              </a:rPr>
              <a:t>고화질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비디오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배경</a:t>
            </a:r>
            <a:r>
              <a:rPr sz="700" dirty="0">
                <a:latin typeface="Malgun Gothic"/>
              </a:rPr>
              <a:t>, </a:t>
            </a:r>
            <a:r>
              <a:rPr sz="700" dirty="0" err="1">
                <a:latin typeface="Malgun Gothic"/>
              </a:rPr>
              <a:t>은은한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조명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색상</a:t>
            </a:r>
            <a:r>
              <a:rPr sz="700" dirty="0">
                <a:latin typeface="Malgun Gothic"/>
              </a:rPr>
              <a:t>, SVG </a:t>
            </a:r>
            <a:r>
              <a:rPr sz="700" dirty="0" err="1">
                <a:latin typeface="Malgun Gothic"/>
              </a:rPr>
              <a:t>신경망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그래픽이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스크롤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흐름과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완벽</a:t>
            </a:r>
            <a:r>
              <a:rPr sz="700" dirty="0">
                <a:latin typeface="Malgun Gothic"/>
              </a:rPr>
              <a:t> </a:t>
            </a:r>
            <a:r>
              <a:rPr sz="700" dirty="0" err="1">
                <a:latin typeface="Malgun Gothic"/>
              </a:rPr>
              <a:t>결합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0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- 5 -</a:t>
            </a: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6AFE4814-4B62-F016-A621-3B1323328806}"/>
              </a:ext>
            </a:extLst>
          </p:cNvPr>
          <p:cNvSpPr/>
          <p:nvPr/>
        </p:nvSpPr>
        <p:spPr>
          <a:xfrm>
            <a:off x="6217693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런타임과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SVG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20182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dirty="0" err="1"/>
                        <a:t>스크롤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속도에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맞추어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화면과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텍스트가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자연스럽게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변화하는</a:t>
                      </a:r>
                      <a:r>
                        <a:rPr sz="750" dirty="0"/>
                        <a:t> 1:1 </a:t>
                      </a:r>
                      <a:r>
                        <a:rPr sz="750" dirty="0" err="1"/>
                        <a:t>모션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연동</a:t>
                      </a:r>
                      <a:endParaRPr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dirty="0" err="1"/>
                        <a:t>텍스트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문장을</a:t>
                      </a:r>
                      <a:r>
                        <a:rPr sz="750" dirty="0"/>
                        <a:t> 행 </a:t>
                      </a:r>
                      <a:r>
                        <a:rPr sz="750" dirty="0" err="1"/>
                        <a:t>단위로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분할하여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아래에서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위로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부드럽게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나타나는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등장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효과</a:t>
                      </a:r>
                      <a:endParaRPr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dirty="0"/>
                        <a:t>HTML5 Video &amp; Modern SVG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dirty="0" err="1"/>
                        <a:t>고화질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배경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비디오</a:t>
                      </a:r>
                      <a:r>
                        <a:rPr sz="750" dirty="0"/>
                        <a:t>, </a:t>
                      </a:r>
                      <a:r>
                        <a:rPr sz="750" dirty="0" err="1"/>
                        <a:t>심플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벡터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그래픽</a:t>
                      </a:r>
                      <a:r>
                        <a:rPr sz="750" dirty="0"/>
                        <a:t>, </a:t>
                      </a:r>
                      <a:r>
                        <a:rPr sz="750" dirty="0" err="1"/>
                        <a:t>실시간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부드러운</a:t>
                      </a:r>
                      <a:r>
                        <a:rPr sz="750" dirty="0"/>
                        <a:t> 웹 </a:t>
                      </a:r>
                      <a:r>
                        <a:rPr sz="750" dirty="0" err="1"/>
                        <a:t>모션</a:t>
                      </a:r>
                      <a:endParaRPr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dirty="0" err="1"/>
                        <a:t>futuristic_key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비디오</a:t>
                      </a:r>
                      <a:r>
                        <a:rPr sz="750" dirty="0"/>
                        <a:t> + </a:t>
                      </a:r>
                      <a:r>
                        <a:rPr lang="ko-KR" altLang="en-US" sz="750" dirty="0"/>
                        <a:t>심플한</a:t>
                      </a:r>
                      <a:r>
                        <a:rPr sz="750" dirty="0"/>
                        <a:t> AI/</a:t>
                      </a:r>
                      <a:r>
                        <a:rPr sz="750" dirty="0" err="1"/>
                        <a:t>레이더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그래픽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연출</a:t>
                      </a:r>
                      <a:endParaRPr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</a:t>
                      </a:r>
                      <a:r>
                        <a:rPr lang="en-US" sz="750" dirty="0" err="1">
                          <a:solidFill>
                            <a:srgbClr val="000000"/>
                          </a:solidFill>
                        </a:rPr>
                        <a:t>유동</a:t>
                      </a: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750" dirty="0" err="1">
                          <a:solidFill>
                            <a:srgbClr val="000000"/>
                          </a:solidFill>
                        </a:rPr>
                        <a:t>타이포그래피</a:t>
                      </a: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lang="ko-KR" altLang="en-US" sz="750" dirty="0">
                          <a:solidFill>
                            <a:srgbClr val="000000"/>
                          </a:solidFill>
                        </a:rPr>
                        <a:t>반응형 대응</a:t>
                      </a:r>
                      <a:r>
                        <a:rPr lang="en-US" altLang="ko-KR" sz="75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6345" y="2468880"/>
            <a:ext cx="20071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1: Hero 비디오 게이트웨이 (futuristic_key.mp4)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2: S.01 Tech Innovation (지능의 신경망)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3: S.02 Custom Strategy (정밀 맞춤 스캔)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4: S.03 Proven Execution (무결점 품질 쉴드)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5: S.04 Integrated Synergy (퀀텀 코어 수렴)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6: S.05 Enterprise Impact (2x3 수치 그리드)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Act 7: S.06 Works Index &amp; S.07 Outro CTA</a:t>
            </a:r>
            <a:endParaRPr lang="en-US" sz="6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10613" y="2468880"/>
            <a:ext cx="1834007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Company Overview (CEO 인사말 &amp; 철학)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4대 핵심 역량 (신뢰, 기술, 정밀, 시너지)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연혁 타임라인 (축적된 엔터프라이즈 레퍼런스)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글로벌 파트너십 및 기술 인증 내역</a:t>
            </a:r>
            <a:endParaRPr lang="en-US" sz="6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645152" y="2468880"/>
            <a:ext cx="194767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전체 프로젝트 인덱스 테이블 (차세대 인터랙티브 스타일)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카테고리 필터 (POS / ERP / Cloud SI)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프로젝트 상세 뷰 (Overview, Challenge, Solution)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기술 스펙 테이블 및 정량적 성과 공개</a:t>
            </a:r>
            <a:endParaRPr lang="en-US" sz="600" dirty="0">
              <a:latin typeface="+mj-ea"/>
              <a:ea typeface="+mj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78027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다이렉트 프로젝트 견적 문의 폼 (POS/ERP/SI)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카카오맵 API 연동 (일산 SK M-City 본사 위치)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상시 직통 채널 (대표전화, 공식 이메일 안내)</a:t>
            </a: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+mj-ea"/>
                <a:ea typeface="+mj-ea"/>
                <a:cs typeface="Malgun Gothic" pitchFamily="34" charset="-120"/>
              </a:rPr>
              <a:t>· 개인정보 보호 및 보안 암호화 전송 체계</a:t>
            </a:r>
            <a:endParaRPr lang="en-US" sz="600" dirty="0">
              <a:latin typeface="+mj-ea"/>
              <a:ea typeface="+mj-ea"/>
            </a:endParaRPr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7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sz="800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ko-KR" sz="800" b="1" dirty="0"/>
              <a:t>푸시 다운 메뉴 동작 및 퍼블리싱 명세</a:t>
            </a:r>
            <a:endParaRPr lang="en-US" sz="800" b="1" dirty="0"/>
          </a:p>
        </p:txBody>
      </p:sp>
      <p:sp>
        <p:nvSpPr>
          <p:cNvPr id="32" name="Text 30"/>
          <p:cNvSpPr/>
          <p:nvPr/>
        </p:nvSpPr>
        <p:spPr>
          <a:xfrm>
            <a:off x="5303520" y="1684634"/>
            <a:ext cx="320040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▶ </a:t>
            </a:r>
            <a:r>
              <a:rPr lang="ko-KR" altLang="ko-KR" sz="800" dirty="0"/>
              <a:t>[진입 모션 - </a:t>
            </a:r>
            <a:r>
              <a:rPr lang="ko-KR" altLang="ko-KR" sz="800" dirty="0" err="1"/>
              <a:t>Push-down</a:t>
            </a:r>
            <a:r>
              <a:rPr lang="ko-KR" altLang="ko-KR" sz="800" dirty="0"/>
              <a:t>]: 메뉴 버튼(+) 클릭 시, 본문 영역을 가리지 않고 전체 레이아웃을 아래로 부드럽게 밀어내며 여유로운 공간감의 네비게이션 패널이 펼쳐짐 </a:t>
            </a:r>
            <a:endParaRPr lang="en-US" altLang="ko-KR" sz="800" dirty="0"/>
          </a:p>
          <a:p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r>
              <a:rPr lang="ko-KR" altLang="ko-KR" sz="800" dirty="0"/>
              <a:t>[GNB 핵심 메뉴 고정]: Home, </a:t>
            </a:r>
            <a:r>
              <a:rPr lang="ko-KR" altLang="ko-KR" sz="800" dirty="0" err="1"/>
              <a:t>About</a:t>
            </a:r>
            <a:r>
              <a:rPr lang="ko-KR" altLang="ko-KR" sz="800" dirty="0"/>
              <a:t> Us, Works, </a:t>
            </a:r>
            <a:r>
              <a:rPr lang="ko-KR" altLang="ko-KR" sz="800" dirty="0" err="1"/>
              <a:t>Contact</a:t>
            </a:r>
            <a:r>
              <a:rPr lang="ko-KR" altLang="ko-KR" sz="800" dirty="0"/>
              <a:t> Us 4개 </a:t>
            </a:r>
            <a:r>
              <a:rPr lang="ko-KR" altLang="ko-KR" sz="800" dirty="0" err="1"/>
              <a:t>대메뉴</a:t>
            </a:r>
            <a:r>
              <a:rPr lang="ko-KR" altLang="ko-KR" sz="800" dirty="0"/>
              <a:t> 외 불필요한 서브 메뉴를 제거하여 넓은 여백을 확보하고 </a:t>
            </a:r>
            <a:r>
              <a:rPr lang="ko-KR" altLang="ko-KR" sz="800" dirty="0" err="1"/>
              <a:t>직관성</a:t>
            </a:r>
            <a:r>
              <a:rPr lang="ko-KR" altLang="ko-KR" sz="800" dirty="0"/>
              <a:t> 극대화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8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160520" y="13807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160520" y="20391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160520" y="2697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160520" y="33558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160520" y="401421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9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78532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3"/>
            <a:ext cx="4032653" cy="1371213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55306" y="2150163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2906285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561591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4706D5-CA6A-0D79-A1B3-E76322EC9420}"/>
              </a:ext>
            </a:extLst>
          </p:cNvPr>
          <p:cNvGrpSpPr/>
          <p:nvPr/>
        </p:nvGrpSpPr>
        <p:grpSpPr>
          <a:xfrm>
            <a:off x="1359387" y="4113183"/>
            <a:ext cx="2621224" cy="282285"/>
            <a:chOff x="1359387" y="4254326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4254326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고화질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배경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영상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연동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assets/mp4/futuristic_key.mp4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고화질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비디오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무한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루프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재생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다크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오버레이를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적용하여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메인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텍스트의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선명한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가독성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확보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직관적인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메인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카피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'CONNECTS TO EMPOWER YOUR SUCCESS'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슬로건으로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비즈니스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도약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제시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미래를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여는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디지털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키(Gateway)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모티브를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세련된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영상과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문구로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일치화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[GNB 및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화면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이동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상단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로고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+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햄버거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메뉴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배치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아래로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부드럽게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스크롤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유도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10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1000" b="1">
                <a:latin typeface="Malgun Gothic"/>
              </a:defRPr>
            </a:pPr>
            <a:r>
              <a:rPr sz="1000" b="1">
                <a:latin typeface="Malgun Gothic"/>
              </a:rPr>
              <a:t>AI 칩셋 &amp; 신경망 그래픽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700">
                <a:latin typeface="Malgun Gothic"/>
              </a:defRPr>
            </a:pPr>
            <a:r>
              <a:rPr sz="700">
                <a:latin typeface="Malgun Gothic"/>
              </a:rPr>
              <a:t>은은한 무드 배경 효과</a:t>
            </a:r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[AI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칩셋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&amp;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신경망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비주얼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심플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AI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칩셋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SVG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데이터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흐름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라인이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스크롤에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맞춰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은은하게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반응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가볍고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빠른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모던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2D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벡터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스마트한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기술력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표현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핵심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기술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역량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전달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AI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클라우드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빅데이터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아키텍처를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엔터프라이즈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환경에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최적화하여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구현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지능의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신경망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컨셉으로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대규모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IT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시스템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전문성을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직관적으로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전달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모바일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/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태블릿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최적화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어느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기기에서나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텍스트와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한눈에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들어오는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가독성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중심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디자인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1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94A3B8"/>
                </a:solidFill>
                <a:latin typeface="Malgun Gothic"/>
              </a:rPr>
              <a:t>비즈니스 파이프라인을 정밀 분석해 산업단위의 시스템 구축 및 운영 로드맵 설계</a:t>
            </a:r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00">
                <a:latin typeface="Malgun Gothic"/>
              </a:defRPr>
            </a:pPr>
            <a:r>
              <a:rPr sz="800">
                <a:latin typeface="Malgun Gothic"/>
              </a:rPr>
              <a:t>360° 레이더 스캐너</a:t>
            </a:r>
            <a:endParaRPr lang="en-US" sz="650" dirty="0"/>
          </a:p>
          <a:p>
            <a:pPr marL="0" indent="0" algn="ctr">
              <a:buNone/>
              <a:defRPr sz="800">
                <a:latin typeface="Malgun Gothic"/>
              </a:defRPr>
            </a:pPr>
            <a:r>
              <a:rPr sz="800">
                <a:latin typeface="Malgun Gothic"/>
              </a:rPr>
              <a:t>[맞춤형 DX 로드맵 그래픽]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정밀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레이더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스캔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모션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360도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회전하는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레이더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고객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비즈니스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환경을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분석하는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컨셉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시각화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초록빛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포인트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레이더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얇은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가이드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라인의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모던한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결합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정밀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맞춤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전략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로드맵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정형화된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패키지가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아닌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기업별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요구사항에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꼭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맞춘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단계별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시스템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운영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로드맵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설계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비즈니스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파이프라인을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분석해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산업단위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최적화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솔루션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제시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전문적인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다크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스타일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군더더기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미니멀한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라인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그래픽으로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신뢰감과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기술적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정밀함을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동시에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전달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2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S.03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00">
                <a:latin typeface="Malgun Gothic"/>
              </a:defRPr>
            </a:pPr>
            <a:r>
              <a:rPr sz="800">
                <a:latin typeface="Malgun Gothic"/>
              </a:rPr>
              <a:t>차세대 인터랙티브 2x3 수치 그리드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숫자로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입증하는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신뢰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(2x3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그리드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)]: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99.98%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가동률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15년+ SI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노하우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50+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대기업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파트너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등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핵심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수치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카운트업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효과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화면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스크롤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도달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시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수치가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0에서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목표치까지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부드럽게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올라가는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동적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연출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직관적인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정보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구조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답답한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박스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테두리를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없애고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모던한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헤어라인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구분선으로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6개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핵심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지표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정렬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시각적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피로도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없이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방대한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실적과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신뢰도를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한눈에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파악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가능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검증된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레퍼런스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강조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말로만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하는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기술이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아닌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실질적인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대규모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운영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실적으로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고객의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확실한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확보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3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4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0" y="1167508"/>
            <a:ext cx="3500000" cy="176971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에디토리얼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실적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인덱스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테이블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ABC마트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LX하우시스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AK플라자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신세계I&amp;C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등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프로젝트를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깔끔한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목록으로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제시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마우스를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올리면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각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프로젝트의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이미지와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정보가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부드럽게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나타남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475569"/>
              </a:solidFill>
              <a:latin typeface="맑은 고딕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실적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상세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페이지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연계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각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프로젝트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행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클릭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시 Works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상세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화면으로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자연스럽게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이동하여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심층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내용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확인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제조·유통·금융·통신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엔터프라이즈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고객사의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성공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사례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직관적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노출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475569"/>
              </a:solidFill>
              <a:latin typeface="맑은 고딕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세련된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엔터프라이즈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디자인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얇은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구분선과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컬러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포인트로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높은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시인성과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세련된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완성도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확보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100"/>
            </a:pP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7776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33776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45776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05776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명확한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유도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(CTA)]: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'READY TO EMPOWER YOUR FUTURE?'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강력한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메시지와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함께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프로젝트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버튼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강조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단순한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시스템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구축을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넘어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성공적인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디지털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(DX)을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시작하도록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적극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유도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하단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푸터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정보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안내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WINHUB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회사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소개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서브페이지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네비게이션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(About Us, Works, Contact Us)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본사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위치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공식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연락처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이메일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정보를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일목요연하게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배치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[5단계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스토리텔링의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완결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Act 1(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미래를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여는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키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비디오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)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부터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Act 5(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실질적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)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까지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막힘없는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여정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완성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386276"/>
            <a:ext cx="4920000" cy="1303724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502448" y="35150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642448" y="35150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5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C88433-1310-69F2-20CA-DDCE85C213EA}"/>
              </a:ext>
            </a:extLst>
          </p:cNvPr>
          <p:cNvGrpSpPr/>
          <p:nvPr/>
        </p:nvGrpSpPr>
        <p:grpSpPr>
          <a:xfrm>
            <a:off x="1284336" y="2563556"/>
            <a:ext cx="2621224" cy="282285"/>
            <a:chOff x="1359387" y="4254326"/>
            <a:chExt cx="2621224" cy="282285"/>
          </a:xfrm>
        </p:grpSpPr>
        <p:sp>
          <p:nvSpPr>
            <p:cNvPr id="9" name="Shape 36">
              <a:extLst>
                <a:ext uri="{FF2B5EF4-FFF2-40B4-BE49-F238E27FC236}">
                  <a16:creationId xmlns:a16="http://schemas.microsoft.com/office/drawing/2014/main" id="{E0F352A5-4721-3232-B6A4-DDA5937CCA1C}"/>
                </a:ext>
              </a:extLst>
            </p:cNvPr>
            <p:cNvSpPr/>
            <p:nvPr/>
          </p:nvSpPr>
          <p:spPr>
            <a:xfrm>
              <a:off x="2114171" y="4254326"/>
              <a:ext cx="1111656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 37">
              <a:extLst>
                <a:ext uri="{FF2B5EF4-FFF2-40B4-BE49-F238E27FC236}">
                  <a16:creationId xmlns:a16="http://schemas.microsoft.com/office/drawing/2014/main" id="{3195828B-827D-47D6-DA9D-083815603F5F}"/>
                </a:ext>
              </a:extLst>
            </p:cNvPr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CONNECT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시네마틱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영상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비주얼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연출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wire_circle_network.mp4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비디오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배경과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철학을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연결하여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세련된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몰입감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제공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고화질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비디오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위에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텍스트와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핵심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수치를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배치하여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첫인상에서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깊은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형성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기업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비전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카피라이팅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'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엔터프라이즈의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지속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가능한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성장을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리드하는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WINHUB의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역량과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철학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'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비즈니스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혁신을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이끄는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IT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솔루션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파트너로서의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위상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정립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엔터프라이즈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신뢰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지표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99.98%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시스템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가동률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50+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대기업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고객사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성공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레퍼런스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제시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>
              <a:defRPr sz="1100" b="1">
                <a:latin typeface="Malgun Gothic"/>
              </a:defRPr>
            </a:pPr>
            <a:r>
              <a:rPr sz="1100" b="1">
                <a:latin typeface="Malgun Gothic"/>
              </a:rPr>
              <a:t>서브페이지 - ABOUT US (기업 비전 &amp; 시네마틱 영상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6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768" y="164592"/>
            <a:ext cx="758952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15568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8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sz="750" dirty="0"/>
              <a:t>· </a:t>
            </a:r>
            <a:r>
              <a:rPr sz="750" dirty="0" err="1"/>
              <a:t>모던</a:t>
            </a:r>
            <a:r>
              <a:rPr sz="750" dirty="0"/>
              <a:t> 웹 </a:t>
            </a:r>
            <a:r>
              <a:rPr sz="750" dirty="0" err="1"/>
              <a:t>인터랙티브</a:t>
            </a:r>
            <a:r>
              <a:rPr sz="750" dirty="0"/>
              <a:t> UI/UX </a:t>
            </a:r>
            <a:r>
              <a:rPr sz="750" dirty="0" err="1"/>
              <a:t>디자인</a:t>
            </a:r>
            <a:r>
              <a:rPr sz="750" dirty="0"/>
              <a:t> </a:t>
            </a:r>
            <a:r>
              <a:rPr sz="750" dirty="0" err="1"/>
              <a:t>적용</a:t>
            </a:r>
            <a:endParaRPr lang="ko-KR" altLang="en-US" sz="750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완성창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8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en-US" altLang="ko-KR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Vercel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/Netlify CI/CD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246221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sz="800" dirty="0">
                <a:latin typeface="+mj-ea"/>
                <a:ea typeface="+mj-ea"/>
              </a:rPr>
              <a:t>· </a:t>
            </a:r>
            <a:r>
              <a:rPr sz="800" dirty="0" err="1">
                <a:latin typeface="+mj-ea"/>
                <a:ea typeface="+mj-ea"/>
              </a:rPr>
              <a:t>모던</a:t>
            </a:r>
            <a:r>
              <a:rPr sz="800" dirty="0">
                <a:latin typeface="+mj-ea"/>
                <a:ea typeface="+mj-ea"/>
              </a:rPr>
              <a:t> 웹 </a:t>
            </a:r>
            <a:r>
              <a:rPr sz="800" dirty="0" err="1">
                <a:latin typeface="+mj-ea"/>
                <a:ea typeface="+mj-ea"/>
              </a:rPr>
              <a:t>인터랙티브</a:t>
            </a:r>
            <a:r>
              <a:rPr sz="800" dirty="0">
                <a:latin typeface="+mj-ea"/>
                <a:ea typeface="+mj-ea"/>
              </a:rPr>
              <a:t> UI/UX </a:t>
            </a:r>
            <a:r>
              <a:rPr sz="800" dirty="0" err="1">
                <a:latin typeface="+mj-ea"/>
                <a:ea typeface="+mj-ea"/>
              </a:rPr>
              <a:t>디자인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적용</a:t>
            </a:r>
            <a:endParaRPr sz="800" dirty="0">
              <a:latin typeface="+mj-ea"/>
              <a:ea typeface="+mj-ea"/>
            </a:endParaRP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7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762CC860-A74D-286C-64E8-C4FE1EDA7585}"/>
              </a:ext>
            </a:extLst>
          </p:cNvPr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</a:t>
            </a:r>
            <a:r>
              <a:rPr sz="800" dirty="0" err="1">
                <a:latin typeface="+mj-ea"/>
                <a:ea typeface="+mj-ea"/>
              </a:rPr>
              <a:t>반응형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카드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그리드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</a:t>
            </a:r>
            <a:r>
              <a:rPr sz="800" dirty="0" err="1">
                <a:latin typeface="+mj-ea"/>
                <a:ea typeface="+mj-ea"/>
              </a:rPr>
              <a:t>리스트형에서</a:t>
            </a:r>
            <a:r>
              <a:rPr sz="800" dirty="0">
                <a:latin typeface="+mj-ea"/>
                <a:ea typeface="+mj-ea"/>
              </a:rPr>
              <a:t> 2~3열 </a:t>
            </a:r>
            <a:r>
              <a:rPr sz="800" dirty="0" err="1">
                <a:latin typeface="+mj-ea"/>
                <a:ea typeface="+mj-ea"/>
              </a:rPr>
              <a:t>반응형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비주얼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카드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그리드로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전면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개편</a:t>
            </a:r>
            <a:br>
              <a:rPr sz="800" dirty="0">
                <a:latin typeface="+mj-ea"/>
                <a:ea typeface="+mj-ea"/>
              </a:rPr>
            </a:br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</a:t>
            </a:r>
            <a:r>
              <a:rPr sz="800" dirty="0" err="1">
                <a:latin typeface="+mj-ea"/>
                <a:ea typeface="+mj-ea"/>
              </a:rPr>
              <a:t>실시간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카테고리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필터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ALL / WEB / APP / ERP / SOLUTION 5대 </a:t>
            </a:r>
            <a:r>
              <a:rPr sz="800" dirty="0" err="1">
                <a:latin typeface="+mj-ea"/>
                <a:ea typeface="+mj-ea"/>
              </a:rPr>
              <a:t>즉시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필터링</a:t>
            </a:r>
            <a:br>
              <a:rPr sz="800" dirty="0">
                <a:latin typeface="+mj-ea"/>
                <a:ea typeface="+mj-ea"/>
              </a:rPr>
            </a:br>
            <a:r>
              <a:rPr sz="800" dirty="0">
                <a:latin typeface="+mj-ea"/>
                <a:ea typeface="+mj-ea"/>
              </a:rPr>
              <a:t>  · GSAP Flip </a:t>
            </a:r>
            <a:r>
              <a:rPr sz="800" dirty="0" err="1">
                <a:latin typeface="+mj-ea"/>
                <a:ea typeface="+mj-ea"/>
              </a:rPr>
              <a:t>기반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부드러운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카드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재배치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애니메이션</a:t>
            </a:r>
            <a:br>
              <a:rPr sz="800" dirty="0">
                <a:latin typeface="+mj-ea"/>
                <a:ea typeface="+mj-ea"/>
              </a:rPr>
            </a:br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</a:t>
            </a:r>
            <a:r>
              <a:rPr sz="800" dirty="0" err="1">
                <a:latin typeface="+mj-ea"/>
                <a:ea typeface="+mj-ea"/>
              </a:rPr>
              <a:t>호버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인터랙션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</a:t>
            </a:r>
            <a:r>
              <a:rPr sz="800" dirty="0" err="1">
                <a:latin typeface="+mj-ea"/>
                <a:ea typeface="+mj-ea"/>
              </a:rPr>
              <a:t>마우스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오버</a:t>
            </a:r>
            <a:r>
              <a:rPr sz="800" dirty="0">
                <a:latin typeface="+mj-ea"/>
                <a:ea typeface="+mj-ea"/>
              </a:rPr>
              <a:t> 시 1.05배 </a:t>
            </a:r>
            <a:r>
              <a:rPr sz="800" dirty="0" err="1">
                <a:latin typeface="+mj-ea"/>
                <a:ea typeface="+mj-ea"/>
              </a:rPr>
              <a:t>확대</a:t>
            </a:r>
            <a:r>
              <a:rPr sz="800" dirty="0">
                <a:latin typeface="+mj-ea"/>
                <a:ea typeface="+mj-ea"/>
              </a:rPr>
              <a:t> 및 </a:t>
            </a:r>
            <a:r>
              <a:rPr sz="800" dirty="0" err="1">
                <a:latin typeface="+mj-ea"/>
                <a:ea typeface="+mj-ea"/>
              </a:rPr>
              <a:t>시안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네온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글로우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효과</a:t>
            </a:r>
            <a:br>
              <a:rPr sz="800" dirty="0">
                <a:latin typeface="+mj-ea"/>
                <a:ea typeface="+mj-ea"/>
              </a:rPr>
            </a:br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[Git CMS </a:t>
            </a:r>
            <a:r>
              <a:rPr sz="800" dirty="0" err="1">
                <a:latin typeface="+mj-ea"/>
                <a:ea typeface="+mj-ea"/>
              </a:rPr>
              <a:t>데이터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바인딩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content/works/*.md </a:t>
            </a:r>
            <a:r>
              <a:rPr sz="800" dirty="0" err="1">
                <a:latin typeface="+mj-ea"/>
                <a:ea typeface="+mj-ea"/>
              </a:rPr>
              <a:t>마크다운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비동기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파싱</a:t>
            </a:r>
            <a:r>
              <a:rPr sz="800" dirty="0">
                <a:latin typeface="+mj-ea"/>
                <a:ea typeface="+mj-ea"/>
              </a:rPr>
              <a:t> 및 </a:t>
            </a:r>
            <a:r>
              <a:rPr sz="800" dirty="0" err="1">
                <a:latin typeface="+mj-ea"/>
                <a:ea typeface="+mj-ea"/>
              </a:rPr>
              <a:t>렌더링</a:t>
            </a:r>
            <a:endParaRPr sz="800" dirty="0">
              <a:latin typeface="+mj-ea"/>
              <a:ea typeface="+mj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- 1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8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78ABE95C-910E-D22B-4BA8-6843589ACEE6}"/>
              </a:ext>
            </a:extLst>
          </p:cNvPr>
          <p:cNvSpPr/>
          <p:nvPr/>
        </p:nvSpPr>
        <p:spPr>
          <a:xfrm>
            <a:off x="4520000" y="865316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</a:t>
            </a:r>
            <a:r>
              <a:rPr sz="800" dirty="0" err="1">
                <a:latin typeface="+mj-ea"/>
                <a:ea typeface="+mj-ea"/>
              </a:rPr>
              <a:t>프로젝트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메타</a:t>
            </a:r>
            <a:r>
              <a:rPr sz="800" dirty="0">
                <a:latin typeface="+mj-ea"/>
                <a:ea typeface="+mj-ea"/>
              </a:rPr>
              <a:t> &amp; </a:t>
            </a:r>
            <a:r>
              <a:rPr sz="800" dirty="0" err="1">
                <a:latin typeface="+mj-ea"/>
                <a:ea typeface="+mj-ea"/>
              </a:rPr>
              <a:t>개요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</a:t>
            </a:r>
            <a:r>
              <a:rPr sz="800" dirty="0" err="1">
                <a:latin typeface="+mj-ea"/>
                <a:ea typeface="+mj-ea"/>
              </a:rPr>
              <a:t>클라이언트</a:t>
            </a:r>
            <a:r>
              <a:rPr sz="800" dirty="0">
                <a:latin typeface="+mj-ea"/>
                <a:ea typeface="+mj-ea"/>
              </a:rPr>
              <a:t>: LX </a:t>
            </a:r>
            <a:r>
              <a:rPr sz="800" dirty="0" err="1">
                <a:latin typeface="+mj-ea"/>
                <a:ea typeface="+mj-ea"/>
              </a:rPr>
              <a:t>완성창</a:t>
            </a:r>
            <a:r>
              <a:rPr sz="800" dirty="0">
                <a:latin typeface="+mj-ea"/>
                <a:ea typeface="+mj-ea"/>
              </a:rPr>
              <a:t> / </a:t>
            </a:r>
            <a:r>
              <a:rPr sz="800" dirty="0" err="1">
                <a:latin typeface="+mj-ea"/>
                <a:ea typeface="+mj-ea"/>
              </a:rPr>
              <a:t>서비스</a:t>
            </a:r>
            <a:r>
              <a:rPr sz="800" dirty="0">
                <a:latin typeface="+mj-ea"/>
                <a:ea typeface="+mj-ea"/>
              </a:rPr>
              <a:t>: APP·UI/UX·ERP</a:t>
            </a:r>
            <a:br>
              <a:rPr sz="800" dirty="0">
                <a:latin typeface="+mj-ea"/>
                <a:ea typeface="+mj-ea"/>
              </a:rPr>
            </a:br>
            <a:r>
              <a:rPr sz="800" dirty="0">
                <a:latin typeface="+mj-ea"/>
                <a:ea typeface="+mj-ea"/>
              </a:rPr>
              <a:t>  · </a:t>
            </a:r>
            <a:r>
              <a:rPr sz="800" dirty="0" err="1">
                <a:latin typeface="+mj-ea"/>
                <a:ea typeface="+mj-ea"/>
              </a:rPr>
              <a:t>통합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주문·배분·생산·운송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올인원</a:t>
            </a:r>
            <a:r>
              <a:rPr sz="800" dirty="0">
                <a:latin typeface="+mj-ea"/>
                <a:ea typeface="+mj-ea"/>
              </a:rPr>
              <a:t> ERP </a:t>
            </a:r>
            <a:r>
              <a:rPr sz="800" dirty="0" err="1">
                <a:latin typeface="+mj-ea"/>
                <a:ea typeface="+mj-ea"/>
              </a:rPr>
              <a:t>시스템</a:t>
            </a:r>
            <a:br>
              <a:rPr sz="800" dirty="0">
                <a:latin typeface="+mj-ea"/>
                <a:ea typeface="+mj-ea"/>
              </a:rPr>
            </a:br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[1200px </a:t>
            </a:r>
            <a:r>
              <a:rPr sz="800" dirty="0" err="1">
                <a:latin typeface="+mj-ea"/>
                <a:ea typeface="+mj-ea"/>
              </a:rPr>
              <a:t>와이드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쇼케이스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</a:t>
            </a:r>
            <a:r>
              <a:rPr sz="800" dirty="0" err="1">
                <a:latin typeface="+mj-ea"/>
                <a:ea typeface="+mj-ea"/>
              </a:rPr>
              <a:t>고해상도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전체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화면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프로젝트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이미지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스크롤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뷰어</a:t>
            </a:r>
            <a:br>
              <a:rPr sz="800" dirty="0">
                <a:latin typeface="+mj-ea"/>
                <a:ea typeface="+mj-ea"/>
              </a:rPr>
            </a:br>
            <a:endParaRPr sz="800" dirty="0">
              <a:latin typeface="+mj-ea"/>
              <a:ea typeface="+mj-ea"/>
            </a:endParaRPr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▶ [</a:t>
            </a:r>
            <a:r>
              <a:rPr sz="800" dirty="0" err="1">
                <a:latin typeface="+mj-ea"/>
                <a:ea typeface="+mj-ea"/>
              </a:rPr>
              <a:t>양방향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네비게이션</a:t>
            </a:r>
            <a:r>
              <a:rPr sz="800" dirty="0">
                <a:latin typeface="+mj-ea"/>
                <a:ea typeface="+mj-ea"/>
              </a:rPr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sz="800" dirty="0">
                <a:latin typeface="+mj-ea"/>
                <a:ea typeface="+mj-ea"/>
              </a:rPr>
              <a:t>  · PREV PROJECT ◀ | </a:t>
            </a:r>
            <a:r>
              <a:rPr sz="800" dirty="0" err="1">
                <a:latin typeface="+mj-ea"/>
                <a:ea typeface="+mj-ea"/>
              </a:rPr>
              <a:t>목록으로</a:t>
            </a:r>
            <a:r>
              <a:rPr sz="800" dirty="0">
                <a:latin typeface="+mj-ea"/>
                <a:ea typeface="+mj-ea"/>
              </a:rPr>
              <a:t> ▦ | ▶ NEXT PROJECT </a:t>
            </a:r>
            <a:r>
              <a:rPr sz="800" dirty="0" err="1">
                <a:latin typeface="+mj-ea"/>
                <a:ea typeface="+mj-ea"/>
              </a:rPr>
              <a:t>유기적</a:t>
            </a:r>
            <a:r>
              <a:rPr sz="800" dirty="0">
                <a:latin typeface="+mj-ea"/>
                <a:ea typeface="+mj-ea"/>
              </a:rPr>
              <a:t> </a:t>
            </a:r>
            <a:r>
              <a:rPr sz="800" dirty="0" err="1">
                <a:latin typeface="+mj-ea"/>
                <a:ea typeface="+mj-ea"/>
              </a:rPr>
              <a:t>이동</a:t>
            </a:r>
            <a:endParaRPr sz="800" dirty="0">
              <a:latin typeface="+mj-ea"/>
              <a:ea typeface="+mj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3989" y="213089"/>
            <a:ext cx="2556021" cy="133883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/>
            <a:r>
              <a:rPr sz="750" b="1" dirty="0" err="1">
                <a:solidFill>
                  <a:srgbClr val="080A10"/>
                </a:solidFill>
                <a:latin typeface="Malgun Gothic"/>
              </a:rPr>
              <a:t>서브페이지</a:t>
            </a:r>
            <a:r>
              <a:rPr sz="750" b="1" dirty="0">
                <a:solidFill>
                  <a:srgbClr val="080A10"/>
                </a:solidFill>
                <a:latin typeface="Malgun Gothic"/>
              </a:rPr>
              <a:t> - WORKS DETAIL (LX </a:t>
            </a:r>
            <a:r>
              <a:rPr sz="750" b="1" dirty="0" err="1">
                <a:solidFill>
                  <a:srgbClr val="080A10"/>
                </a:solidFill>
                <a:latin typeface="Malgun Gothic"/>
              </a:rPr>
              <a:t>완성창</a:t>
            </a:r>
            <a:r>
              <a:rPr sz="750" b="1" dirty="0">
                <a:solidFill>
                  <a:srgbClr val="080A10"/>
                </a:solidFill>
                <a:latin typeface="Malgun Gothic"/>
              </a:rPr>
              <a:t> ERP &amp; KT </a:t>
            </a:r>
            <a:r>
              <a:rPr sz="750" b="1" dirty="0" err="1">
                <a:solidFill>
                  <a:srgbClr val="080A10"/>
                </a:solidFill>
                <a:latin typeface="Malgun Gothic"/>
              </a:rPr>
              <a:t>상세</a:t>
            </a:r>
            <a:r>
              <a:rPr sz="750" b="1" dirty="0">
                <a:solidFill>
                  <a:srgbClr val="080A10"/>
                </a:solidFill>
                <a:latin typeface="Malgun Gothic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20924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 dirty="0" err="1">
                <a:solidFill>
                  <a:srgbClr val="64748B"/>
                </a:solidFill>
                <a:latin typeface="Malgun Gothic"/>
              </a:rPr>
              <a:t>서브</a:t>
            </a:r>
            <a:r>
              <a:rPr sz="700" b="0" dirty="0">
                <a:solidFill>
                  <a:srgbClr val="64748B"/>
                </a:solidFill>
                <a:latin typeface="Malgun Gothic"/>
              </a:rPr>
              <a:t> / </a:t>
            </a:r>
            <a:r>
              <a:rPr sz="700" b="0" dirty="0" err="1">
                <a:solidFill>
                  <a:srgbClr val="64748B"/>
                </a:solidFill>
                <a:latin typeface="Malgun Gothic"/>
              </a:rPr>
              <a:t>프로젝트상세</a:t>
            </a:r>
            <a:endParaRPr sz="70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63840" y="213089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19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시네마틱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영상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비주얼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연출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contact_join.mp4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비디오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배경으로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파트너십과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연결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(Connect)의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의미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극대화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영상과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어우러지는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모던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다크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무드로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작성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시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집중도와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신뢰감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향상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직관적인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온라인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폼]:</a:t>
            </a:r>
            <a:endParaRPr sz="800" dirty="0"/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기업명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담당자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정보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프로젝트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예산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일정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내용을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손쉽게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입력하는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간결한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폼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실시간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입력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검증으로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입력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오류를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방지하고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편리한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접수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경험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제공</a:t>
            </a:r>
            <a:endParaRPr sz="800" dirty="0"/>
          </a:p>
          <a:p>
            <a:pPr>
              <a:defRPr sz="400" b="0">
                <a:solidFill>
                  <a:srgbClr val="1E293B"/>
                </a:solidFill>
                <a:latin typeface="Malgun Gothic"/>
              </a:defRPr>
            </a:pPr>
            <a:endParaRPr sz="800" dirty="0"/>
          </a:p>
          <a:p>
            <a:pPr>
              <a:defRPr sz="950" b="1">
                <a:solidFill>
                  <a:srgbClr val="1E293B"/>
                </a:solidFill>
                <a:latin typeface="Malgun Gothic"/>
              </a:defRPr>
            </a:pPr>
            <a:r>
              <a:rPr sz="800" b="1" dirty="0">
                <a:solidFill>
                  <a:srgbClr val="1E293B"/>
                </a:solidFill>
                <a:latin typeface="Malgun Gothic"/>
              </a:rPr>
              <a:t>▶ [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오시는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길 및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공식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1" dirty="0" err="1">
                <a:solidFill>
                  <a:srgbClr val="1E293B"/>
                </a:solidFill>
                <a:latin typeface="Malgun Gothic"/>
              </a:rPr>
              <a:t>채널</a:t>
            </a:r>
            <a:r>
              <a:rPr sz="800" b="1" dirty="0">
                <a:solidFill>
                  <a:srgbClr val="1E293B"/>
                </a:solidFill>
                <a:latin typeface="Malgun Gothic"/>
              </a:rPr>
              <a:t>]:</a:t>
            </a:r>
          </a:p>
          <a:p>
            <a:pPr>
              <a:defRPr sz="850" b="0">
                <a:solidFill>
                  <a:srgbClr val="1E293B"/>
                </a:solidFill>
                <a:latin typeface="Malgun Gothic"/>
              </a:defRPr>
            </a:pPr>
            <a:r>
              <a:rPr sz="800" b="0" dirty="0">
                <a:solidFill>
                  <a:srgbClr val="1E293B"/>
                </a:solidFill>
                <a:latin typeface="Malgun Gothic"/>
              </a:rPr>
              <a:t>  ·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본사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주소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대표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전화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문의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공식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이메일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및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지도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안내를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한눈에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확인</a:t>
            </a:r>
            <a:r>
              <a:rPr sz="8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1E293B"/>
                </a:solidFill>
                <a:latin typeface="Malgun Gothic"/>
              </a:rPr>
              <a:t>가능</a:t>
            </a:r>
            <a:endParaRPr sz="8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22843" y="207571"/>
            <a:ext cx="2498313" cy="133883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>
              <a:defRPr sz="1100" b="1">
                <a:latin typeface="Malgun Gothic"/>
              </a:defRPr>
            </a:pPr>
            <a:r>
              <a:rPr sz="750" b="1" dirty="0" err="1">
                <a:latin typeface="Malgun Gothic"/>
              </a:rPr>
              <a:t>서브페이지</a:t>
            </a:r>
            <a:r>
              <a:rPr sz="750" b="1" dirty="0">
                <a:latin typeface="Malgun Gothic"/>
              </a:rPr>
              <a:t> - CONTACT US (</a:t>
            </a:r>
            <a:r>
              <a:rPr sz="750" b="1" dirty="0" err="1">
                <a:latin typeface="Malgun Gothic"/>
              </a:rPr>
              <a:t>비즈니스</a:t>
            </a:r>
            <a:r>
              <a:rPr sz="750" b="1" dirty="0">
                <a:latin typeface="Malgun Gothic"/>
              </a:rPr>
              <a:t> </a:t>
            </a:r>
            <a:r>
              <a:rPr sz="750" b="1" dirty="0" err="1">
                <a:latin typeface="Malgun Gothic"/>
              </a:rPr>
              <a:t>문의</a:t>
            </a:r>
            <a:r>
              <a:rPr sz="750" b="1" dirty="0">
                <a:latin typeface="Malgun Gothic"/>
              </a:rPr>
              <a:t> &amp; </a:t>
            </a:r>
            <a:r>
              <a:rPr sz="750" b="1" dirty="0" err="1">
                <a:latin typeface="Malgun Gothic"/>
              </a:rPr>
              <a:t>제안</a:t>
            </a:r>
            <a:r>
              <a:rPr sz="750" b="1" dirty="0">
                <a:latin typeface="Malgun Gothic"/>
              </a:rPr>
              <a:t> </a:t>
            </a:r>
            <a:r>
              <a:rPr sz="750" b="1" dirty="0" err="1">
                <a:latin typeface="Malgun Gothic"/>
              </a:rPr>
              <a:t>채널</a:t>
            </a:r>
            <a:r>
              <a:rPr sz="750" b="1" dirty="0">
                <a:latin typeface="Malgun Gothic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203724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207571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- 2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0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988523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 err="1">
                          <a:solidFill>
                            <a:srgbClr val="000000"/>
                          </a:solidFill>
                        </a:rPr>
                        <a:t>국문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</a:rPr>
                        <a:t>서브텍스트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(About)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TECHNOLOGY ARCHITECTURE &amp; VISION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엔터프라이즈의 지속 가능한 성장을 리드하는 WINHUB의 기술 역량과 기업 철학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#회사소개 #비전 #도메인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(Works)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PROVEN ENTERPRISE DELIVERABLES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dirty="0" err="1">
                          <a:latin typeface="Malgun Gothic"/>
                        </a:rPr>
                        <a:t>대형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제조·유통·금융·통신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엔터프라이즈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고객사의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성공적인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구축</a:t>
                      </a:r>
                      <a:r>
                        <a:rPr sz="800" dirty="0">
                          <a:latin typeface="Malgun Gothic"/>
                        </a:rPr>
                        <a:t> </a:t>
                      </a:r>
                      <a:r>
                        <a:rPr sz="800" dirty="0" err="1">
                          <a:latin typeface="Malgun Gothic"/>
                        </a:rPr>
                        <a:t>레퍼런스</a:t>
                      </a:r>
                      <a:endParaRPr sz="800" dirty="0">
                        <a:latin typeface="Malgun Gothic"/>
                      </a:endParaRP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dirty="0">
                          <a:latin typeface="Malgun Gothic"/>
                        </a:rPr>
                        <a:t>#포트폴리오 #프로젝트상세 #실적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- 2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1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1000" b="1">
                <a:latin typeface="Malgun Gothic"/>
              </a:defRPr>
            </a:pPr>
            <a:r>
              <a:rPr sz="800" b="1" dirty="0">
                <a:solidFill>
                  <a:srgbClr val="00B0F0"/>
                </a:solidFill>
                <a:latin typeface="Malgun Gothic"/>
              </a:rPr>
              <a:t>3. Modern SVG &amp; HTML5 Video Engine</a:t>
            </a:r>
            <a:endParaRPr lang="en-US" sz="800" dirty="0">
              <a:solidFill>
                <a:srgbClr val="00B0F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50">
                <a:latin typeface="Malgun Gothic"/>
              </a:defRPr>
            </a:pPr>
            <a:r>
              <a:rPr sz="850">
                <a:latin typeface="Malgun Gothic"/>
              </a:rPr>
              <a:t>고화질 비디오 배경 및 정밀 벡터 그래픽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  <a:defRPr sz="750">
                <a:latin typeface="Malgun Gothic"/>
              </a:defRPr>
            </a:pPr>
            <a:r>
              <a:rPr sz="750">
                <a:solidFill>
                  <a:schemeClr val="tx1">
                    <a:lumMod val="75000"/>
                    <a:lumOff val="25000"/>
                  </a:schemeClr>
                </a:solidFill>
                <a:latin typeface="Malgun Gothic"/>
              </a:rPr>
              <a:t>· 고화질 비디오 배경(futuristic_key.mp4)과 스크롤 연동 AI 칩셋/레이더 그래픽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  <a:defRPr sz="750">
                <a:latin typeface="Malgun Gothic"/>
              </a:defRPr>
            </a:pPr>
            <a:r>
              <a:rPr sz="750">
                <a:solidFill>
                  <a:schemeClr val="tx1">
                    <a:lumMod val="75000"/>
                    <a:lumOff val="25000"/>
                  </a:schemeClr>
                </a:solidFill>
                <a:latin typeface="Malgun Gothic"/>
              </a:rPr>
              <a:t>· 가볍고 빠른 모던 2D 벡터 모션으로 저사양 기기에서도 끊김 없는 부드러움 보장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- 2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2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sz="700">
                <a:latin typeface="Malgun Gothic"/>
              </a:rPr>
              <a:t>· Hero 고화질 비디오 배경 및 상단 헤더 연동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sz="700">
                <a:latin typeface="Malgun Gothic"/>
              </a:rPr>
              <a:t>· S.01~S.04 스크롤 연동 그래픽 및 모션 개발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sz="700">
                <a:latin typeface="Malgun Gothic"/>
              </a:rPr>
              <a:t>· 차세대 인터랙티브 스타일 2x3 무박스 수치 카운트업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endParaRPr lang="en-US" sz="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0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- 2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3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1. </a:t>
            </a:r>
            <a:r>
              <a:rPr lang="en-US" altLang="ko-KR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Decap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CMS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브랜치로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자동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en-US" altLang="ko-KR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js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/works-store.js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별도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백엔드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브랜치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푸시 즉시 클라우드 빌드 시작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WebP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글로벌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엣지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및 초고속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캐싱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시스템 구축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서울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리전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포함 전 세계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엣지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네트워크 통한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코어 웹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바이탈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크로스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브라우징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 dirty="0" err="1">
                <a:solidFill>
                  <a:srgbClr val="0F172A"/>
                </a:solidFill>
                <a:latin typeface="Malgun Gothic" panose="020B0503020000020004" pitchFamily="50" charset="-127"/>
              </a:rPr>
              <a:t>스위칭</a:t>
            </a:r>
            <a:r>
              <a:rPr lang="ko-KR" altLang="en-US" sz="850" dirty="0">
                <a:solidFill>
                  <a:srgbClr val="0F172A"/>
                </a:solidFill>
                <a:latin typeface="Malgun Gothic" panose="020B0503020000020004" pitchFamily="50" charset="-127"/>
              </a:rPr>
              <a:t>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 dirty="0">
                <a:solidFill>
                  <a:srgbClr val="94A3B8"/>
                </a:solidFill>
                <a:latin typeface="Malgun Gothic"/>
              </a:rPr>
              <a:t>- 2</a:t>
            </a:r>
            <a:r>
              <a:rPr lang="en-US" sz="800" dirty="0">
                <a:solidFill>
                  <a:srgbClr val="94A3B8"/>
                </a:solidFill>
                <a:latin typeface="Malgun Gothic"/>
              </a:rPr>
              <a:t>4</a:t>
            </a:r>
            <a:r>
              <a:rPr sz="800" dirty="0">
                <a:solidFill>
                  <a:srgbClr val="94A3B8"/>
                </a:solidFill>
                <a:latin typeface="Malgun Gothic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4758</Words>
  <Application>Microsoft Office PowerPoint</Application>
  <PresentationFormat>화면 슬라이드 쇼(16:9)</PresentationFormat>
  <Paragraphs>652</Paragraphs>
  <Slides>24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7</cp:revision>
  <dcterms:created xsi:type="dcterms:W3CDTF">2026-10-16T06:28:46Z</dcterms:created>
  <dcterms:modified xsi:type="dcterms:W3CDTF">2026-10-20T01:26:18Z</dcterms:modified>
</cp:coreProperties>
</file>