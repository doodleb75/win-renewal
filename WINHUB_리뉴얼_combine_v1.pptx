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BIN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914400"/>
            <a:ext cx="5303520" cy="29260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5097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ANALYSIS · 7-ACT STORYTELLING · VIDEO ASSET INTEGRATED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화면설계 및 기술전략 통합 기획서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딥다이브 분석 이식 · 7막 스토리보드 와이어프레임 · futuristic_key.mp4 비디오 에셋 통합본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7680960" cy="1097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TYPE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Storyboard + CoMinVi Architecture Integrated Spec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STANDARD (4대 메뉴)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344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· About Us · Works · Contact Us (엄격 고정)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VIDEO ASSET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c:\win-renewal\assets\mp4\futuristic_key.mp4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 &amp; 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6344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Combined Final · 2026. 10. 16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RENEWAL INTEGRATED SPECIFICATION · COMINVI &amp; EDOLUS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OF CONTENTS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기술 분석부터 7막 스토리보드, 비디오 에셋 연동 및 실행 계획까지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023360" cy="10515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개요 및 리뉴얼 추진 배경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정적 카탈로그 웹의 한계와 인터랙티브 SPA로의 전환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Edolus(3D WebGL) &amp; CoMinVi(엔지니어링 신뢰) 통합 모델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4023360" cy="10515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6928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딥다이브 분석 보고서 이식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영구 지속형 헤더 및 비동기 PJAX 화면 전환 라이프사이클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관성 버추얼 스크롤(Lenis) &amp; 뷰포트 핀 고정(Pinning &amp; Scrubbing)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공간 배치 혁신: '카드 박스 배제' vs '1px 건축적 헤어라인 그리드'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4023360" cy="10515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50876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정보구조(IA) &amp; GNB 4대 메뉴 체계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고정 구조: [ Home · About Us · Works · Contact Us ]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풀스크린 에디토리얼 커튼 드로어 메뉴 인터랙션 명세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17720" y="2377440"/>
            <a:ext cx="4023360" cy="10515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IV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6928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7막 스토리텔링 화면설계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Hero: futuristic_key.mp4 미래지향적 비디오 게이트웨이 연동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S.01~S.04: 지능 신경망 ──► 퀀텀 코어 수렴 핀 스크롤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S.05~S.07: CoMinVi 2x3 무박스 수치 그리드 &amp; 에디토리얼 인덱스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4023360" cy="10515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50876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서브페이지 상세 화면설계 및 적용방안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 (기업 비전 &amp; 연혁 타임라인)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Works List &amp; Detail (ABC마트 등 3단 심층 아키텍처)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Contact Us (온라인 견적 의뢰 &amp; 카카오맵 연동)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3520440"/>
            <a:ext cx="4023360" cy="10515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VI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6928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시스템, 기술 규격 및 로드맵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7막 통합 국/영문 심볼릭 카피라이팅 매트릭스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Three.js, GSAP 3.12, Video Player 기술 파이프라인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 구축 및 런칭 마일스톤 (Phase 1 ~ Phase 4)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RENEWAL INTEGRATED SPECIFICATION · COMINVI &amp; EDOLUS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패러다임의 전환: 단순 홍보 웹에서 '스토리텔링 SPA'로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SI/IT 기업 웹사이트의 한계를 극복하고 고객의 몰입을 이끄는 스토리텔링의 본질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71600"/>
            <a:ext cx="1371600" cy="228600"/>
          </a:xfrm>
          <a:prstGeom prst="roundRect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정적 웹사이트 (Static Catalog)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기능 나열 및 카탈로그식 접근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수많은 텍스트와 박스형 카드들이 무분별하게 나열됨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방문자는 5초 이내에 지루함을 느끼고 이탈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기업이 가진 기술적 깊이와 문제 해결 능력을 체감하기 어려움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1234440"/>
            <a:ext cx="2651760" cy="3429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1371600"/>
            <a:ext cx="1371600" cy="228600"/>
          </a:xfrm>
          <a:prstGeom prst="round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STORYTELLING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스토리텔링의 마법 (Narrative Immersion)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= 사용자가 직접 전개하는 탐험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다운이 단순 화면 넘김이 아닌 '스토리의 다음 챕터'를 여는 트리거로 작동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'문제 제기 $\rightarrow$ 기술 아키텍처 $\rightarrow$ 정밀 솔루션 $\rightarrow$ 신뢰 증명 $\rightarrow$ 통합 시너지'로 이어지는 극적 긴장감 형성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사용자가 회사의 기술 여정에 동참하는 경험 선사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35040" y="1234440"/>
            <a:ext cx="2651760" cy="3429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371600"/>
            <a:ext cx="137160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차세대 SPA (Interactive Hub)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Edolus의 시네마틱 + CoMinVi의 신뢰 수치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1792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futuristic_key.mp4 비디오와 Three.js가 시각적 압도감 제공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99.98% 가동률, 50+ 대기업 레퍼런스 등 구체적 수치로 설득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강력한 B2B 프로젝트 제안 문의 전환(Conversion) 창출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RENEWAL INTEGRATED SPECIFICATION · COMINVI &amp; EDOLUS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BENCHMARK MATRIX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 vs CoMinVi vs WINHUB 통합 모델 비교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시네마틱 3D 몰입감과 건축적 엔지니어링 신뢰 수치의 완벽한 결합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290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2286000"/>
                <a:gridCol w="2560320"/>
              </a:tblGrid>
              <a:tr h="4898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비교 항목</a:t>
                      </a:r>
                      <a:endParaRPr lang="en-US" sz="8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Edolus.com (시네마틱 모델)</a:t>
                      </a:r>
                      <a:endParaRPr lang="en-US" sz="8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CoMinVi.com.mx (건축 신뢰 모델)</a:t>
                      </a:r>
                      <a:endParaRPr lang="en-US" sz="8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</a:rPr>
                        <a:t>WINHUB 차세대 통합 모델 (적용안)</a:t>
                      </a:r>
                      <a:endParaRPr lang="en-US" sz="8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디자인 철학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우주/행성 스케일의 압도적 시네마틱 3D 연출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무박스(Zero-Box) 건축적 헤어라인 그리드 &amp; 여백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미래지향적 비디오 + 1px 헤어라인 그리드 융합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스크롤 인터랙션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화면 핀 고정(Pin) 후 3D 카메라 Dolly 줌 스크럽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관성 버추얼 스크롤(Lenis) &amp; 텍스트 라인 마스크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GSAP ScrollTrigger 400vh 핀 고정 + 7막 타임라인 체이닝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레이아웃 체계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대형 중앙 집중형 타이포그래피 (Monolithic Display)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좌측 비주얼 + 우측 2x3 헤어라인 수치 분할(Split)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좌측 스토리 내러티브 + 우측 3D/비주얼 50:50 분할 핀 스테이지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수치 및 실적 증명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정성적 철학 위주의 시적 카피라이팅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100만m, 20M톤 등 거대한 통계 수치 그리드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99.98% 가동률, 15+년 등 CoMinVi 2x3 무박스 수치 카운트업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실적(Works) 표현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단일 솔루션 쇼케이스 중심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헤어라인 기반의 에디토리얼 인덱스 테이블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카드 박스를 배제한 1행 1레코드 정밀 인덱스 테이블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GNB 구조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최소 심볼 버튼 중심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풀스크린 커튼 오버레이 드로어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GNB 4대 메뉴 [Home · About Us · Works · Contact Us] 고정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RENEWAL INTEGRATED SPECIFICATION · COMINVI &amp; EDOLUS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ANALYSIS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유기적인 페이지 이동 및 네비게이팅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깜빡임 없는 무중단 화면 전환(Seamless Continuity)과 풀스크린 커튼 드로어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10515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44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325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영구 지속형 헤더 (Persistent Fixed Header)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1600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position: fixed로 최상단에 영구 앵커링되어 안정적 탐색권 보장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시작 시 backdrop-filter: blur(16px) 및 반투명 다크 배경(0.85) 활성화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본문 콘텐츠와의 시각적 간섭을 원천 차단하며 로고/상태/메뉴 3단 구조 유지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WINHUB GNB 4대 메뉴 [Home · About Us · Works · Contact Us] 직관적 노출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10515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487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468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풀스크린 커튼 드로어 (Curtain Overlay Drawer)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2743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좁은 드롭다운을 탈피하여 화면 전체(100vw x 100vh)를 덮는 웅장한 오버레이 전개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메뉴 텍스트: 아래에서 위로 밀려 올라오는 스태거(Stagger) 마스크 리빌(Clip-path)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대형 볼드 디스플레이 폰트(Grotesque Sans-Serif)를 적용하여 압도적 브랜드 각인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ESC 키 감지 및 외부 클릭 시 0.4초 만에 부드럽게 닫히는 키보드 접근성 완비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10515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630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11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비동기 PJAX / View Transitions 라우팅 라이프사이클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3886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1단계: 사용자 링크 클릭 시 e.preventDefault()로 브라우저 하드 리로드 차단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2단계: 기존 페이지 Exit 애니메이션 (텍스트 Fade Out + 커튼 와이프)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3단계: fetch()로 신규 HTML 파싱 (Three.js 캔버스, 헤더 상태는 언마운트 없이 유지)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4단계: 내부 main#content 영역만 1:1 모핑 교체 후 ScrollTop = 0 리셋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5단계: 신규 페이지 ScrollTrigger 인스턴스 재생성 및 진입 애니메이션 실행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RENEWAL INTEGRATED SPECIFICATION · COMINVI &amp; EDOLUS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ANALYSIS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스토리가 있는 스크롤 애니메이션 메커니즘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스크롤(Lenis LERP)과 300~500vh 뷰포트 핀 고정(Pinning &amp; Scrubbing)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 (Inertial Smooth Scroll)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휠의 딱딱한 계단 현상을 제거하는 선형 보간(LERP)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= Current + (Target - Current) * DampingFactor (0.1)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일반 마우스 휠의 100px 급격한 끊김을 지우고, 마우스를 멈추어도 부드러운 마찰력으로 감속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영화 필름을 손으로 조작하는 듯한 묵직한 아날로그 조작감 제공 (Lenis 60FPS 최적화)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46120" y="1234440"/>
            <a:ext cx="2651760" cy="3429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뷰포트 핀 고정 &amp; 타임라인 스크럽 (Pinning &amp; Scrubbing)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진행률(0.0 ~ 1.0)과 1:1 동기화되는 4단계 인터랙션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2900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Timeline (pin: true, scrub: 1, end: '+=400%')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342900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화면이 아래로 밀려나지 않고 뷰포트에 완전히 잠긴 채, 휠 스크롤에 따라 텍스트가 순차 교체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오브젝트 회전각, 조명 색상, SVG 신경망 와이어가 타임라인 체이닝으로 완벽 결합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35040" y="1234440"/>
            <a:ext cx="2651760" cy="3429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라인별 클립 마스크 리빌 (Clip-path Line Reveal)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Opacity 페이드를 넘어선 고급스러운 슬릿 마스크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clip-path: inset(0 0 100% 0) ──► inset(0 0 0% 0)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21792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문장의 각 행(Line)을 가상 슬릿 아래에서 위로 밀어 올리며 드라마틱한 등장 연출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SplitType 라이브러리를 통해 한글/영문 텍스트를 행 단위 DOM으로 정밀 분할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RENEWAL INTEGRATED SPECIFICATION · COMINVI &amp; EDOLUS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ANALYSIS 03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프론트엔드 풀스택 기술 아키텍처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런타임과 고성능 모션 그래픽 파이프라인의 조화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290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2926080"/>
                <a:gridCol w="2011680"/>
              </a:tblGrid>
              <a:tr h="4898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아키텍처 레이어</a:t>
                      </a:r>
                      <a:endParaRPr lang="en-US" sz="8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채택 기술 및 라이브러리</a:t>
                      </a:r>
                      <a:endParaRPr lang="en-US" sz="8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핵심 역할 및 적용 메커니즘</a:t>
                      </a:r>
                      <a:endParaRPr lang="en-US" sz="8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</a:rPr>
                        <a:t>WINHUB 프로젝트 매핑</a:t>
                      </a:r>
                      <a:endParaRPr lang="en-US" sz="8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Platform &amp; Runtime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Webflow Static Export / ES6+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정적 HTML/CSS 번들링 및 CDN 엣지 고속 서빙, 불필요한 무거운 프레임워크 배제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Vanilla HTML5/ES Modules 표준 100% 준수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Smooth Scroll Engine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Lenis.js (Inertial Lerp)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requestAnimationFrame 기반 선형 보간(Lerp) 연산으로 마우스 휠 관성 제어 (60FPS)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Lenis 1.0.42 + ScrollTrigger 동기화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Motion Orchestration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GSAP 3.12 + ScrollTrigger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뷰포트 pin: true, scrub: 1 적용으로 스크롤 속도와 씬 전환 타임라인 1:1 동기화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Act 1~5 핀 고정 &amp; 실시간 진행바 연동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Typography Engine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SplitType / CSS Line Mask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텍스트 문장을 행(Line)/단어 단위 DOM으로 자동 분할하고 clip-path로 마스킹 등장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국/영문 헤드라인 행 단위 리빌 모션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Graphics &amp; Canvas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Three.js (WebGL 2.0) + Inline SVG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저용량 3D 오브젝트, 360도 궤도 링, animateMotion 실시간 광원 입자 순환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futuristic_key 비디오 + 3D 양자 코어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Styling Architecture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Pure Vanilla CSS + Fluid Clamp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1px Hairline Grid, 박스 모델 배제, clamp() 수학 공식 기반 유동 타이포그래피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CoMinVi 2x3 헤어라인 분할 그리드 구현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RENEWAL INTEGRATED SPECIFICATION · COMINVI &amp; EDOLUS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ANALYSIS 04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혁신: '카드 박스 배제' vs '1px 건축적 헤어라인 그리드'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틀에 박힌 사각 박스를 탈피하고 1px의 건축선과 여백으로 구현하는 미니멀리즘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3931920" cy="3429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71600"/>
            <a:ext cx="2011680" cy="228600"/>
          </a:xfrm>
          <a:prstGeom prst="round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39903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기존의 틀에 박힌 박스형 카드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템플릿 웹사이트의 시각적 한계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0116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둥근 모서리(Border-radius)와 어두운 배경색이 들어간 사각 박스 남발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박스마다 그림자(Box-shadow)가 들어가 화면이 답답하고 좁아 보임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 쇼핑몰이나 앱 UI처럼 보이며, 엔터프라이즈의 중후함이 사라짐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콘텐츠를 획일적인 카드 안에 억지로 가두어 스토리텔링의 흐름이 단절됨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023360" cy="34290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371600"/>
            <a:ext cx="237744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3990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CoMinVi 건축적 헤어라인 그리드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1px 도면선과 거대 여백(Negative Space)의 미학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완전한 무박스(Zero-Box): 박스 배경색을 없애고 1px 헤어라인만으로 정보 구획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거대한 스케일의 숫자 타이포그래피: 뷰포트 너비의 3~4%에 달하는 대형 수치(99.98%)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비대칭 50/50 분할: 좌측 비주얼 필라 + 우측 2x3 헤어라인 매트릭스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에디토리얼 진술문: 그리드 하단 좌측 액센트 보더를 두른 권위 있는 선언문 배치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RENEWAL INTEGRATED SPECIFICATION · COMINVI &amp; EDOLUS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INFORMATION ARCHITECTURE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4대 고정 메뉴 체계 [Home · About Us · Works · Contact Us]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혼선을 배제하고 사용자 동선을 극대화한 간결하고 명확한 4대 네비게이션 구조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1965960" cy="3429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/index.html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7막 스토리텔링 인터랙티브 허브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1: Hero 비디오 게이트웨이 (futuristic_key.mp4)</a:t>
            </a: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2: S.01 Tech Innovation (지능의 신경망)</a:t>
            </a: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3: S.02 Custom Strategy (정밀 맞춤 스캔)</a:t>
            </a: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4: S.03 Proven Execution (무결점 품질 쉴드)</a:t>
            </a: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5: S.04 Integrated Synergy (퀀텀 코어 수렴)</a:t>
            </a: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6: S.05 Enterprise Impact (2x3 수치 그리드)</a:t>
            </a: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7: S.06 Works Index &amp; S.07 Outro CTA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542032" y="1234440"/>
            <a:ext cx="1965960" cy="3429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79192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21" name="Text 19"/>
          <p:cNvSpPr/>
          <p:nvPr/>
        </p:nvSpPr>
        <p:spPr>
          <a:xfrm>
            <a:off x="2679192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182112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9192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/page/about.html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679192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비전, 핵심 가치 및 연혁 타임라인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Text 24"/>
          <p:cNvSpPr/>
          <p:nvPr/>
        </p:nvSpPr>
        <p:spPr>
          <a:xfrm>
            <a:off x="2679192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Company Overview (CEO 인사말 &amp; 철학)</a:t>
            </a: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4대 핵심 역량 (신뢰, 기술, 정밀, 시너지)</a:t>
            </a: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연혁 타임라인 (축적된 엔터프라이즈 레퍼런스)</a:t>
            </a: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글로벌 파트너십 및 기술 인증 내역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626864" y="1234440"/>
            <a:ext cx="1965960" cy="3429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64024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29" name="Text 27"/>
          <p:cNvSpPr/>
          <p:nvPr/>
        </p:nvSpPr>
        <p:spPr>
          <a:xfrm>
            <a:off x="4764024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66944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64024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/page/works.html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64024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프로젝트 쇼케이스 &amp; 심층 아키텍처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4" name="Text 32"/>
          <p:cNvSpPr/>
          <p:nvPr/>
        </p:nvSpPr>
        <p:spPr>
          <a:xfrm>
            <a:off x="4764024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프로젝트 인덱스 테이블 (CoMinVi 스타일)</a:t>
            </a: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카테고리 필터 (POS / ERP / Cloud SI)</a:t>
            </a: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프로젝트 상세 뷰 (Overview, Challenge, Solution)</a:t>
            </a: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기술 스펙 테이블 및 정량적 성과 공개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6711696" y="1234440"/>
            <a:ext cx="1965960" cy="3429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8856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37" name="Text 35"/>
          <p:cNvSpPr/>
          <p:nvPr/>
        </p:nvSpPr>
        <p:spPr>
          <a:xfrm>
            <a:off x="6848856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51776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48856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/page/contact.html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8856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프로젝트 견적 의뢰 및 본사 오시는 길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2" name="Text 40"/>
          <p:cNvSpPr/>
          <p:nvPr/>
        </p:nvSpPr>
        <p:spPr>
          <a:xfrm>
            <a:off x="6848856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다이렉트 프로젝트 견적 문의 폼 (POS/ERP/SI)</a:t>
            </a: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카카오맵 API 연동 (일산 SK M-City 본사 위치)</a:t>
            </a: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상시 직통 채널 (대표전화, 공식 이메일 안내)</a:t>
            </a: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개인정보 보호 및 보안 암호화 전송 체계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RENEWAL INTEGRATED SPECIFICATION · COMINVI &amp; EDOLUS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NAVIGATION SPECIFICATION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풀스크린 에디토리얼 커튼 드로어 메뉴 인터랙션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드롭다운을 넘어선 대형 볼드 타이포그래피와 스태거(Stagger) 마스크 리빌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389120" cy="3429000"/>
          </a:xfrm>
          <a:prstGeom prst="roundRect">
            <a:avLst/>
          </a:prstGeom>
          <a:solidFill>
            <a:srgbClr val="080A1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371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 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0848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7-Act Storytelling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731520" y="230428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679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Vision &amp; Core Values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731520" y="289864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2735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Solutions &amp; Architecture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731520" y="349300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867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&amp; Kakao Map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731520" y="408736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Shape 28"/>
          <p:cNvSpPr/>
          <p:nvPr/>
        </p:nvSpPr>
        <p:spPr>
          <a:xfrm>
            <a:off x="5120640" y="1234440"/>
            <a:ext cx="3566160" cy="3429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커튼 드로어 동작 및 퍼블리싱 명세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17373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[진입 모션]: 메뉴 버튼 클릭 시 0.4초 만에 백드롭 블러(blur: 24px)와 함께 100vw 전체로 암전 커튼 전개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[스태거 마스크]: 01 Home부터 04 Contact Us까지 0.08초 간격으로 텍스트가 아래에서 위로 밀려 올라옴 (Clip-path Reveal)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Home, About Us, Works, Contact Us 4개 메뉴 외 불필요한 서브 메뉴 제거로 직관성 극대화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[호버 마이크로 인터랙션]: 마우스 오버 시 행 전체가 우측으로 15px 부드럽게 슬라이드되며 Cyan 네온 발광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[키보드 접근성]: ESC 키 감지 시 즉시 닫기 트리거 실행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RENEWAL INTEGRATED SPECIFICATION · COMINVI &amp; EDOLUS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STORYBOARD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7막 스토리텔링 마스터 플랜 &amp; 타임라인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다운이 곧 스토리의 다음 챕터를 여는 7단계 디지털 신경망 여정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42062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307592"/>
            <a:ext cx="777240" cy="274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34416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Cinematic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63240" y="1344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영역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51960" y="1344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비디오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806440" y="13441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미래지향적 게이트웨이: 비디오 배경 루프 위에서 미래를 여는 열쇠 모티브 전개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457200" y="1728216"/>
            <a:ext cx="822960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180136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83794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508760" y="18379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063240" y="18379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Tech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251960" y="18379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 SVG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806440" y="18379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지능의 신경망: AI/클라우드 칩셋이 분해되며 첫 번째 시안 광선 스트림 점등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457200" y="2221992"/>
            <a:ext cx="8229600" cy="42062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295144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233172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3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508760" y="23317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63240" y="23317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Strategy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251960" y="23317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5806440" y="23317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맞춤: 360도 레이더 스캔을 통해 고객사 고유의 비즈니스 도메인 정밀 타겟팅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457200" y="2715768"/>
            <a:ext cx="822960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2788920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28254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4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508760" y="2825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Proof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063240" y="28254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S.03 Execution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251960" y="2825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Hex Shield Seal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5806440" y="28254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무결점 증명: 육각 쉴드 매트릭스 결합, 100% 품질 보증과 세 번째 앰버 스트림 완성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457200" y="3209544"/>
            <a:ext cx="8229600" cy="42062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" y="3282696"/>
            <a:ext cx="77724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33192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5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508760" y="33192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Convergence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063240" y="3319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S.04 Synergy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251960" y="33192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Quantum Core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5806440" y="33192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퀀텀 수렴: 3대 스트림이 퀀텀 코어로 동시에 쏟아지며 빛의 폭발 모션 연출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457200" y="3703320"/>
            <a:ext cx="822960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" y="3776472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38130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6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50876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 &amp; Proof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063240" y="38130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S.05 Impact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25196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2x3 Grid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5806440" y="38130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숫자의 증명: 99.98% 가동률, 15+년 등 무박스 헤어라인 수치 그리드 카운트업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457200" y="4197096"/>
            <a:ext cx="8229600" cy="42062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4360" y="427024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" y="43068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7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50876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&amp; Outro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063240" y="4306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S.06 / S.07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25196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 Table + CTA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5806440" y="4306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&amp; 제안: 에디토리얼 실적 인덱스 테이블을 지나 'READY TO EMPOWER?' 제안으로 마침표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Hero 섹션 (미래지향적 비디오 게이트웨이)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Act 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에셋 / 스펙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futuristic_key.mp4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GNB 4대 메뉴 [Home · About Us · Works · Contact Us] 준수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943600" y="490118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COMBINED SPEC v1.0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1207008"/>
            <a:ext cx="4572000" cy="219456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" y="1271016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127101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1271016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1243584"/>
            <a:ext cx="365760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1243584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502920" y="144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" y="144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148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55448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33172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10896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8620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97680" y="149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685800" y="1837944"/>
            <a:ext cx="4114800" cy="2688336"/>
          </a:xfrm>
          <a:prstGeom prst="rect">
            <a:avLst/>
          </a:prstGeom>
          <a:solidFill>
            <a:srgbClr val="0B132B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68680" y="1975104"/>
            <a:ext cx="3657600" cy="274320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68680" y="2011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BACKGROUND VIDEO: c:\win-renewal\assets\mp4\futuristic_key.mp4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2011680" y="2386584"/>
            <a:ext cx="1463040" cy="1463040"/>
          </a:xfrm>
          <a:prstGeom prst="ellipse">
            <a:avLst/>
          </a:prstGeom>
          <a:solidFill>
            <a:srgbClr val="1E293B">
              <a:alpha val="50000"/>
            </a:srgbClr>
          </a:solidFill>
          <a:ln w="19050">
            <a:solidFill>
              <a:srgbClr val="0EA5E9"/>
            </a:solidFill>
            <a:prstDash val="dash"/>
          </a:ln>
        </p:spPr>
      </p:sp>
      <p:sp>
        <p:nvSpPr>
          <p:cNvPr id="35" name="Shape 32"/>
          <p:cNvSpPr/>
          <p:nvPr/>
        </p:nvSpPr>
        <p:spPr>
          <a:xfrm>
            <a:off x="2606040" y="2569464"/>
            <a:ext cx="274320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3"/>
          <p:cNvSpPr/>
          <p:nvPr/>
        </p:nvSpPr>
        <p:spPr>
          <a:xfrm>
            <a:off x="1097280" y="29352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CYBER DIGITAL GATEWAY KEY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[Futuristic MP4 Video Loop &amp; Particle Canvas]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868680" y="362102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CONNECTS TO EMPOWER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SUCCESS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68680" y="421538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여는 디지털 키(Digital Gateway) — 엔터프라이즈의 다음 차원을 여는 기술적 연결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1554480" y="4160520"/>
            <a:ext cx="2377440" cy="256032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554480" y="41879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SCROLL TO INITIATE SYSTEM ↓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[비디오 에셋 연동]: c:\win-renewal\assets\mp4\futuristic_key.mp4 배경 적용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HTML5 &lt;video autoplay muted loop playsinline&gt; 태그로 60FPS 무중단 재생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비디오 상단에 65% 다크 그라디언트 오버레이를 배치하여 볼드 타이포그래피 시인성 극대화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[미래지향적 무드 카피라이팅]: CONNECTS TO EMPOWER YOUR SUCCESS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미래를 여는 '디지털 키(Digital Gateway)' 모티브로 기업의 기술적 도약 형상화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Home, About Us, Works, Contact Us 4개 메뉴 바인딩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[인터랙션 트리거]: 'SCROLL TO INITIATE SYSTEM' 클릭 시 S.01로 스무스 스크롤 이동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S.01 Tech Innovation (지능의 신경망)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Act 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에셋 / 스펙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Kernel SVG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GNB 4대 메뉴 [Home · About Us · Works · Contact Us] 준수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943600" y="490118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COMBINED SPEC v1.0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1207008"/>
            <a:ext cx="4572000" cy="219456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" y="1271016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127101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1271016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1243584"/>
            <a:ext cx="365760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1243584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502920" y="144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" y="144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148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55448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33172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10896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8620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97680" y="149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777240" y="1975104"/>
            <a:ext cx="1371600" cy="20116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" y="19933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· TECH INNOVATION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777240" y="224942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ORCHESTRATING ENTERPRISE INTELLIGENCE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77240" y="26609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클라우드 · 빅데이터 아키텍처를 엔터프라이즈 환경에 최적화하여 구현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874520" y="3026664"/>
            <a:ext cx="1645920" cy="1097280"/>
          </a:xfrm>
          <a:prstGeom prst="roundRect">
            <a:avLst/>
          </a:prstGeom>
          <a:solidFill>
            <a:srgbClr val="0E121C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240280" y="3300984"/>
            <a:ext cx="914400" cy="5486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2240280" y="3438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697480" y="4123944"/>
            <a:ext cx="0" cy="457200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1600200" y="458114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Stream Wire to Synergy Core ↓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[CoMinVi &amp; Edolus 핀 스크롤]: 100vh 화면 핀 고정 후 AI 칩셋 회로 분해 모션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[SVG 신경망 파이프라인]: Spine Wire를 따라 시안 광원 입자(Travel Dot) 실시간 순환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[심볼릭 카피]: ORCHESTRATING ENTERPRISE INTELLIGENCE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[태그]: #AI솔루션 #엔터프라이즈클라우드 #빅데이터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S.02 Custom Strategy (정밀 맞춤)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Act 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에셋 / 스펙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360° Radar Scan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GNB 4대 메뉴 [Home · About Us · Works · Contact Us] 준수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943600" y="490118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COMBINED SPEC v1.0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1207008"/>
            <a:ext cx="4572000" cy="219456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" y="1271016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127101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1271016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1243584"/>
            <a:ext cx="365760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1243584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502920" y="144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" y="144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148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55448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33172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10896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8620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97680" y="149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777240" y="1975104"/>
            <a:ext cx="1371600" cy="20116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" y="19933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· CUSTOM STRATEGY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777240" y="22494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AT SCALE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77240" y="25694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비즈니스 환경을 360도 스캔해 컨설팅부터 시스템 구축 및 운영 로드맵 설계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965960" y="2935224"/>
            <a:ext cx="1463040" cy="1463040"/>
          </a:xfrm>
          <a:prstGeom prst="ellipse">
            <a:avLst/>
          </a:prstGeom>
          <a:solidFill>
            <a:srgbClr val="0E121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31720" y="3300984"/>
            <a:ext cx="731520" cy="73152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2697480" y="3118104"/>
            <a:ext cx="548640" cy="54864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783080" y="44897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SCANNER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[Tailored DX Roadmap]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[레이더 스캔 모션]: CSS transform rotate 360도 레이더 스윕 빔 및 타겟 블립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[민트 에너지 스트림]: 두 번째 그린-민트 와이어가 점등되며 시너지 코어로 연결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[심볼릭 카피]: PRECISION AT SCALE (규모를 실현하는 정밀성)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[태그]: #비즈니스분석 #맞춤컨설팅 #최적로드맵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S.03 Proven Execution (무결점 증명)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Act 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에셋 / 스펙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Hex Shield Seal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GNB 4대 메뉴 [Home · About Us · Works · Contact Us] 준수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943600" y="490118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COMBINED SPEC v1.0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1207008"/>
            <a:ext cx="4572000" cy="219456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" y="1271016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127101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1271016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1243584"/>
            <a:ext cx="365760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1243584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502920" y="144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" y="144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148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55448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33172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10896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8620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97680" y="149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777240" y="1975104"/>
            <a:ext cx="1463040" cy="20116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" y="19933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S.03 · PROVEN EXECUTION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777240" y="22494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 MOMENTUM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77240" y="25694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다년간 축적된 대형 SI 프로젝트 노하우와 검증된 품질 관리로 무결점 납기 보증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2057400" y="3026664"/>
            <a:ext cx="1280160" cy="1371600"/>
          </a:xfrm>
          <a:prstGeom prst="hexagon">
            <a:avLst/>
          </a:prstGeom>
          <a:solidFill>
            <a:srgbClr val="78350F">
              <a:alpha val="5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057400" y="348386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QUALITY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[육각 쉴드 매트릭스]: 조각난 쉴드가 하나로 조립되며 앰버 골드 체크마크 발광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[무결점 납기 보증]: 품질 관리 매트릭스(QA/QC) 시각화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[심볼릭 카피]: VERIFIED MOMENTUM (검증된 성공의 궤적)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[스트림 충전]: 시안, 민트, 앰버 3대 광선이 모두 완충되어 코어 합류 준비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S.04 Integrated Synergy (퀀텀 코어 수렴)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Act 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에셋 / 스펙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Quantum Core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GNB 4대 메뉴 [Home · About Us · Works · Contact Us] 준수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943600" y="490118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COMBINED SPEC v1.0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1207008"/>
            <a:ext cx="4572000" cy="219456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" y="1271016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127101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1271016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1243584"/>
            <a:ext cx="365760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1243584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502920" y="144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" y="144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148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55448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33172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10896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8620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97680" y="149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777240" y="1883664"/>
            <a:ext cx="1645920" cy="20116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" y="19019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S.04 · INTEGRATED SYNERGY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777240" y="21396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CONVERGED CORE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77240" y="24505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리더십 · 고객 맞춤 전략 · 검증된 수행력이 유기적으로 결합한 압도적 시너지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234440" y="2798064"/>
            <a:ext cx="1371600" cy="91440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697480" y="2706624"/>
            <a:ext cx="0" cy="100584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H="1">
            <a:off x="2788920" y="2798064"/>
            <a:ext cx="1371600" cy="9144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057400" y="3621024"/>
            <a:ext cx="1280160" cy="1097280"/>
          </a:xfrm>
          <a:prstGeom prst="ellipse">
            <a:avLst/>
          </a:prstGeom>
          <a:solidFill>
            <a:srgbClr val="1E1B4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423160" y="389534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1600200" y="47640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QUANTUM REACTOR CORE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[Pulse Wave Explosion]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[3중 스트림 동시 수렴]: 3대 광선이 퀀텀 코어로 동시에 쏟아지며 빛의 폭발 연출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[플래시 펄스 인터랙션]: 세 광선이 중앙에 닿는 순간 GSAP 플래시 후 안정화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[심볼릭 카피]: THE CONVERGED CORE (수렴하는 하나의 에너지)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[감성적 효과]: 단순 솔루션 공급사를 넘어선 브랜드 완성도의 극적 체감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S.05 Enterprise Impact (수치 임팩트)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Act 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에셋 / 스펙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CoMinVi 2x3 Grid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GNB 4대 메뉴 [Home · About Us · Works · Contact Us] 준수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943600" y="490118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COMBINED SPEC v1.0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1207008"/>
            <a:ext cx="4572000" cy="219456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" y="1271016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127101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1271016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1243584"/>
            <a:ext cx="365760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1243584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502920" y="144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" y="144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148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55448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33172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10896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8620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97680" y="149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777240" y="1883664"/>
            <a:ext cx="1463040" cy="20116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" y="190195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S.05 · ENTERPRISE IMPACT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777240" y="21579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NUMBERS THAT PROVE LEADERSHIP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77240" y="2569464"/>
            <a:ext cx="1463040" cy="2194560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68680" y="3346704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CAPABILITY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PILLAR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[Visual]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2423160" y="2569464"/>
            <a:ext cx="11430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Text 34"/>
          <p:cNvSpPr/>
          <p:nvPr/>
        </p:nvSpPr>
        <p:spPr>
          <a:xfrm>
            <a:off x="2423160" y="264261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99.98%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423160" y="295351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3657600" y="2569464"/>
            <a:ext cx="11430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Text 37"/>
          <p:cNvSpPr/>
          <p:nvPr/>
        </p:nvSpPr>
        <p:spPr>
          <a:xfrm>
            <a:off x="3657600" y="264261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15+ YRS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657600" y="295351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EXP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423160" y="3300984"/>
            <a:ext cx="11430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" name="Text 40"/>
          <p:cNvSpPr/>
          <p:nvPr/>
        </p:nvSpPr>
        <p:spPr>
          <a:xfrm>
            <a:off x="2423160" y="337413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50+ TOPS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423160" y="36850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CLIENTS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3657600" y="3300984"/>
            <a:ext cx="11430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" name="Text 43"/>
          <p:cNvSpPr/>
          <p:nvPr/>
        </p:nvSpPr>
        <p:spPr>
          <a:xfrm>
            <a:off x="3657600" y="337413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100+ SYS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657600" y="36850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DEPLOYED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2423160" y="4032504"/>
            <a:ext cx="11430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9" name="Text 46"/>
          <p:cNvSpPr/>
          <p:nvPr/>
        </p:nvSpPr>
        <p:spPr>
          <a:xfrm>
            <a:off x="2423160" y="410565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24/7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423160" y="441655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3657600" y="4032504"/>
            <a:ext cx="11430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2" name="Text 49"/>
          <p:cNvSpPr/>
          <p:nvPr/>
        </p:nvSpPr>
        <p:spPr>
          <a:xfrm>
            <a:off x="3657600" y="410565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657600" y="441655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ON-TIME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[CoMinVi 모델 전격 차용]: 사각 박스를 완전 배제하고 1px 헤어라인 분할 매트릭스 채택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[동적 카운트업]: 스크롤 진입 시 0에서 99.98%, 15+, 50+, 100+까지 부드러운 수치 애니메이션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[설득력 극대화]: ABC마트, LX, AK, 신세계 등 실질적 성과 수치 제시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[하단 에디토리얼 선언문]: 좌측 2px 액센트 라인과 함께 엄격한 품질 약속 표기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S.06 Works Showcase (에디토리얼 인덱스)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Act 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에셋 / 스펙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Index Table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GNB 4대 메뉴 [Home · About Us · Works · Contact Us] 준수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943600" y="490118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COMBINED SPEC v1.0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1207008"/>
            <a:ext cx="4572000" cy="219456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" y="1271016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127101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1271016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1243584"/>
            <a:ext cx="365760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1243584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502920" y="144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" y="144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148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55448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33172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10896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8620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97680" y="149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777240" y="19293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SHOWCASE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77240" y="22037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ENTERPRISE SOLUTIONS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777240" y="252374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31"/>
          <p:cNvSpPr/>
          <p:nvPr/>
        </p:nvSpPr>
        <p:spPr>
          <a:xfrm>
            <a:off x="777240" y="259689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1097280" y="259689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MART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2057400" y="25968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ABC마트 차세대 POS 및 SCO 통합 구축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251960" y="259689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777240" y="307238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6"/>
          <p:cNvSpPr/>
          <p:nvPr/>
        </p:nvSpPr>
        <p:spPr>
          <a:xfrm>
            <a:off x="777240" y="314553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1097280" y="314553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HAUSYS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2057400" y="314553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LX하우시스 전사 투자관리 시스템 ERP 연동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251960" y="314553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77240" y="362102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" name="Text 41"/>
          <p:cNvSpPr/>
          <p:nvPr/>
        </p:nvSpPr>
        <p:spPr>
          <a:xfrm>
            <a:off x="777240" y="369417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1097280" y="36941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 PLAZA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2057400" y="369417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AK플라자 신재무회계 및 스마트 결제 플랫폼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4251960" y="369417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777240" y="416966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9" name="Text 46"/>
          <p:cNvSpPr/>
          <p:nvPr/>
        </p:nvSpPr>
        <p:spPr>
          <a:xfrm>
            <a:off x="777240" y="4242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1097280" y="424281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SHINSEGAE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2057400" y="424281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신세계아이앤씨 EV 전기차 충전 인프라 I/F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251960" y="4242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777240" y="471830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4" name="Shape 51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[카드 박스 배제]: 갤러리식 카드를 없애고 유럽 엔지니어링 사이트 감성의 1px 인덱스 테이블 구현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[비동기 데이터 바인딩]: projects.json 파일에서 최신 실적을 비동기 Fetch하여 자동 바인딩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[호버 인터랙션]: 행 호버 시 하단 라인이 백색으로 점등되며 우측 화살표가 대각선으로 미세 이동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[전체보기 연동]: 'Go To WorkList' 클릭 시 /page/works.html로 무중단 화면 전환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S.07 Outro CTA (미래지향적 제안)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Act 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에셋 / 스펙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 Bleed CTA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GNB 4대 메뉴 [Home · About Us · Works · Contact Us] 준수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943600" y="490118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COMBINED SPEC v1.0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1207008"/>
            <a:ext cx="4572000" cy="219456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" y="1271016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127101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1271016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1243584"/>
            <a:ext cx="365760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1243584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502920" y="144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" y="144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148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55448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33172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10896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8620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97680" y="149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777240" y="1975104"/>
            <a:ext cx="3840480" cy="2103120"/>
          </a:xfrm>
          <a:prstGeom prst="rect">
            <a:avLst/>
          </a:prstGeom>
          <a:solidFill>
            <a:srgbClr val="0E121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0120" y="215798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S.07 · READY TO CONNECT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960120" y="2386584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TO EMPOWER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FUTURE?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60120" y="30723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시스템 구축을 넘어, 성공적인 디지털 전환을 지금 시작하십시오.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960120" y="3392424"/>
            <a:ext cx="2194560" cy="292608"/>
          </a:xfrm>
          <a:prstGeom prst="roundRect">
            <a:avLst/>
          </a:prstGeom>
          <a:solidFill>
            <a:srgbClr val="0EA5E9"/>
          </a:solidFill>
          <a:ln/>
        </p:spPr>
      </p:sp>
      <p:sp>
        <p:nvSpPr>
          <p:cNvPr id="36" name="Text 33"/>
          <p:cNvSpPr/>
          <p:nvPr/>
        </p:nvSpPr>
        <p:spPr>
          <a:xfrm>
            <a:off x="960120" y="342900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제안 문의하기 →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777240" y="4261104"/>
            <a:ext cx="3840480" cy="594360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38" name="Text 35"/>
          <p:cNvSpPr/>
          <p:nvPr/>
        </p:nvSpPr>
        <p:spPr>
          <a:xfrm>
            <a:off x="868680" y="430682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Inc. · 대표이사 신진우 · 사업자등록번호 128-86-63300</a:t>
            </a:r>
            <a:endParaRPr lang="en-US" sz="6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본사: 경기도 고양시 일산동구 백마로 195 SK M-City 9005호</a:t>
            </a:r>
            <a:endParaRPr lang="en-US" sz="620" dirty="0"/>
          </a:p>
        </p:txBody>
      </p:sp>
      <p:sp>
        <p:nvSpPr>
          <p:cNvPr id="39" name="Shape 36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[전환 중심 CTA]: '프로젝트 제안 문의하기' 클릭 시 퀵 인콰이어리 모달 오버레이 가동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상단 네비게이션 및 푸터 전 영역에 Home, About Us, Works, Contact Us 일관 적용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[엔터프라이즈 신뢰성]: 회사 공식 사업자 정보, 본사 위치, 대표 연락처 투명 공개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WIN-UI-S01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서브페이지 - ABOUT US (기업 비전 &amp; 핵심 역량)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/ 회사소개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에셋 / 스펙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Vision &amp; Timeline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GNB 4대 메뉴 [Home · About Us · Works · Contact Us] 준수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943600" y="490118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COMBINED SPEC v1.0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1207008"/>
            <a:ext cx="4572000" cy="219456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" y="1271016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127101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1271016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1243584"/>
            <a:ext cx="365760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1243584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502920" y="144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" y="144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148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55448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33172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10896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8620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97680" y="149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777240" y="19293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WINHUB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77240" y="217627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연결하는 기술력, 엔터프라이즈의 성공을 이끄는 파트너십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777240" y="2432304"/>
            <a:ext cx="3840480" cy="1005840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14400" y="2523744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GREETINGS &amp; PHILOSOPHY</a:t>
            </a:r>
            <a:endParaRPr lang="en-US" sz="7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"단순한 시스템 구축을 넘어 비즈니스의 성공적인 미래를 함께 설계합니다."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777240" y="3575304"/>
            <a:ext cx="914400" cy="594360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77240" y="3758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(Trust)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1764792" y="3575304"/>
            <a:ext cx="914400" cy="594360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764792" y="3758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(Tech)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2752344" y="3575304"/>
            <a:ext cx="914400" cy="594360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752344" y="3758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(Precision)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3739896" y="3575304"/>
            <a:ext cx="914400" cy="594360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739896" y="3758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시너지 (Synergy)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777240" y="4306824"/>
            <a:ext cx="3840480" cy="457200"/>
          </a:xfrm>
          <a:prstGeom prst="rect">
            <a:avLst/>
          </a:prstGeom>
          <a:solidFill>
            <a:srgbClr val="0E121C"/>
          </a:solidFill>
          <a:ln/>
        </p:spPr>
      </p:sp>
      <p:sp>
        <p:nvSpPr>
          <p:cNvPr id="44" name="Text 41"/>
          <p:cNvSpPr/>
          <p:nvPr/>
        </p:nvSpPr>
        <p:spPr>
          <a:xfrm>
            <a:off x="868680" y="43982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TIMELINE: 2010 창립 ──► 2018 대형 SI 확장 ──► 2026 차세대 SPA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Home, About Us, Works, Contact Us 메뉴 체계에서 'About Us' 활성화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[신뢰성 인터랙션]: CEO 인사말 및 4대 핵심 가치 아이콘에 섬세한 마우스 인터랙션 부여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[연혁 타임라인]: 스크롤에 따라 연도별 대형 SI 프로젝트 수주 실적이 순차 점등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[글로벌 파트너십]: 삼성, LG, 신세계 등과의 기술 협력 레퍼런스 증명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WIN-UI-S02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서브페이지 - WORKS (구축 실적 인덱스 쇼케이스)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/ 포트폴리오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에셋 / 스펙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projects.json Dynamic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GNB 4대 메뉴 [Home · About Us · Works · Contact Us] 준수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943600" y="490118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COMBINED SPEC v1.0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1207008"/>
            <a:ext cx="4572000" cy="219456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" y="1271016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127101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1271016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1243584"/>
            <a:ext cx="365760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1243584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502920" y="144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" y="144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148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55448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33172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10896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8620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97680" y="149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777240" y="19293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SHOWCASE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77240" y="2231136"/>
            <a:ext cx="932688" cy="201168"/>
          </a:xfrm>
          <a:prstGeom prst="roundRect">
            <a:avLst/>
          </a:prstGeom>
          <a:solidFill>
            <a:srgbClr val="0EA5E9"/>
          </a:solidFill>
          <a:ln/>
        </p:spPr>
      </p:sp>
      <p:sp>
        <p:nvSpPr>
          <p:cNvPr id="33" name="Text 30"/>
          <p:cNvSpPr/>
          <p:nvPr/>
        </p:nvSpPr>
        <p:spPr>
          <a:xfrm>
            <a:off x="777240" y="2249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(18)</a:t>
            </a:r>
            <a:endParaRPr lang="en-US" sz="600" dirty="0"/>
          </a:p>
        </p:txBody>
      </p:sp>
      <p:sp>
        <p:nvSpPr>
          <p:cNvPr id="34" name="Shape 31"/>
          <p:cNvSpPr/>
          <p:nvPr/>
        </p:nvSpPr>
        <p:spPr>
          <a:xfrm>
            <a:off x="1764792" y="2231136"/>
            <a:ext cx="932688" cy="201168"/>
          </a:xfrm>
          <a:prstGeom prst="roundRect">
            <a:avLst/>
          </a:prstGeom>
          <a:solidFill>
            <a:srgbClr val="0E121C"/>
          </a:solidFill>
          <a:ln/>
        </p:spPr>
      </p:sp>
      <p:sp>
        <p:nvSpPr>
          <p:cNvPr id="35" name="Text 32"/>
          <p:cNvSpPr/>
          <p:nvPr/>
        </p:nvSpPr>
        <p:spPr>
          <a:xfrm>
            <a:off x="1764792" y="2249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SYSTEM (8)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2752344" y="2231136"/>
            <a:ext cx="932688" cy="201168"/>
          </a:xfrm>
          <a:prstGeom prst="roundRect">
            <a:avLst/>
          </a:prstGeom>
          <a:solidFill>
            <a:srgbClr val="0E121C"/>
          </a:solidFill>
          <a:ln/>
        </p:spPr>
      </p:sp>
      <p:sp>
        <p:nvSpPr>
          <p:cNvPr id="37" name="Text 34"/>
          <p:cNvSpPr/>
          <p:nvPr/>
        </p:nvSpPr>
        <p:spPr>
          <a:xfrm>
            <a:off x="2752344" y="2249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INTEGRATION (6)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3739896" y="2231136"/>
            <a:ext cx="932688" cy="201168"/>
          </a:xfrm>
          <a:prstGeom prst="roundRect">
            <a:avLst/>
          </a:prstGeom>
          <a:solidFill>
            <a:srgbClr val="0E121C"/>
          </a:solidFill>
          <a:ln/>
        </p:spPr>
      </p:sp>
      <p:sp>
        <p:nvSpPr>
          <p:cNvPr id="39" name="Text 36"/>
          <p:cNvSpPr/>
          <p:nvPr/>
        </p:nvSpPr>
        <p:spPr>
          <a:xfrm>
            <a:off x="3739896" y="2249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SI (4)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777240" y="256946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" name="Text 38"/>
          <p:cNvSpPr/>
          <p:nvPr/>
        </p:nvSpPr>
        <p:spPr>
          <a:xfrm>
            <a:off x="777240" y="26426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MART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1737360" y="264261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POS &amp; SCO 셀프계산대 구축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703320" y="26426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UI/UX</a:t>
            </a:r>
            <a:endParaRPr lang="en-US" sz="650" dirty="0"/>
          </a:p>
        </p:txBody>
      </p:sp>
      <p:sp>
        <p:nvSpPr>
          <p:cNvPr id="44" name="Shape 41"/>
          <p:cNvSpPr/>
          <p:nvPr/>
        </p:nvSpPr>
        <p:spPr>
          <a:xfrm>
            <a:off x="777240" y="311810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5" name="Text 42"/>
          <p:cNvSpPr/>
          <p:nvPr/>
        </p:nvSpPr>
        <p:spPr>
          <a:xfrm>
            <a:off x="777240" y="31912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HAUSYS</a:t>
            </a:r>
            <a:endParaRPr lang="en-US" sz="680" dirty="0"/>
          </a:p>
        </p:txBody>
      </p:sp>
      <p:sp>
        <p:nvSpPr>
          <p:cNvPr id="46" name="Text 43"/>
          <p:cNvSpPr/>
          <p:nvPr/>
        </p:nvSpPr>
        <p:spPr>
          <a:xfrm>
            <a:off x="1737360" y="319125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투자관리 시스템 구축 및 ERP 연동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3703320" y="31912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· SI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777240" y="366674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9" name="Text 46"/>
          <p:cNvSpPr/>
          <p:nvPr/>
        </p:nvSpPr>
        <p:spPr>
          <a:xfrm>
            <a:off x="777240" y="37398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 PLAZA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1737360" y="373989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신재무회계 및 스마트 간편결제 개발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3703320" y="37398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 · Fin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777240" y="421538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3" name="Text 50"/>
          <p:cNvSpPr/>
          <p:nvPr/>
        </p:nvSpPr>
        <p:spPr>
          <a:xfrm>
            <a:off x="777240" y="428853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SHINSEGAE</a:t>
            </a:r>
            <a:endParaRPr lang="en-US" sz="680" dirty="0"/>
          </a:p>
        </p:txBody>
      </p:sp>
      <p:sp>
        <p:nvSpPr>
          <p:cNvPr id="54" name="Text 51"/>
          <p:cNvSpPr/>
          <p:nvPr/>
        </p:nvSpPr>
        <p:spPr>
          <a:xfrm>
            <a:off x="1737360" y="42885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전기차 충전 솔루션 API &amp; I/F 연동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3703320" y="428853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· API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777240" y="480974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7" name="Shape 54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상단 GNB 바에서 'Works' 메뉴 활성화 상태 유지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[동적 데이터 Fetching]: projects.json 파일과 실시간 연동되어 프로젝트 추가/수정 시 즉각 반영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[카테고리 필터링]: POS, ERP, Cloud SI 탭 클릭 시 리로드 없이 즉각 필터링 전환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[상세 페이지 연계]: 각 행 클릭 시 /page/works_details/works-detail.html로 자연스럽게 이동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WIN-UI-S03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서브페이지 - WORKS DETAIL (ABC마트 심층 아키텍처)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/ 프로젝트상세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에셋 / 스펙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Case Study 3-Stage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GNB 4대 메뉴 [Home · About Us · Works · Contact Us] 준수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943600" y="490118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COMBINED SPEC v1.0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1207008"/>
            <a:ext cx="4572000" cy="219456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" y="1271016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127101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1271016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1243584"/>
            <a:ext cx="365760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1243584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502920" y="144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" y="144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148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55448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33172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10896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8620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97680" y="149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777240" y="188366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BACK TO WORKS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777240" y="21122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 차세대 POS 시스템 구축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77240" y="2432304"/>
            <a:ext cx="3840480" cy="1188720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60120" y="284378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UI Screen Showcase (Desktop / SCO / Mobile POS)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[High-Resolution Mockup Screen]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777240" y="3758184"/>
            <a:ext cx="1234440" cy="594360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8680" y="382219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868680" y="403250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103120" y="3758184"/>
            <a:ext cx="1234440" cy="594360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194560" y="382219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PERIOD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2194560" y="403250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2024.03 완료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3429000" y="3758184"/>
            <a:ext cx="1234440" cy="594360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520440" y="382219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3520440" y="403250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UI/UX · SI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777240" y="44897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분석: Overview(개요) ──► Challenge(과제) ──► Solution(해결책)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[3대 분석 구조화]: Overview(개요), Challenge(과제), Solution(해결책)의 체계적 서술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[기술 스펙 테이블]: Front-end, Back-end, 결제 I/F, DB 아키텍처 명시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[정량적 성과 제시]: 매장 결제 대기 시간 단축률, 시스템 안정성 수치 공개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[네비게이션]: 이전/다음 프로젝트 프리뷰 링크 및 목록 복귀 버튼 제공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WIN-UI-S04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서브페이지 - CONTACT US (프로젝트 의뢰 &amp; 지도)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/ 문의하기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0A1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에셋 / 스펙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EA5E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Inquiry Form &amp; Map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GNB 4대 메뉴 [Home · About Us · Works · Contact Us] 준수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943600" y="490118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COMBINED SPEC v1.0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1207008"/>
            <a:ext cx="4572000" cy="219456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" y="1271016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127101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1271016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1243584"/>
            <a:ext cx="365760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1243584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502920" y="144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" y="144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148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55448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33172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10896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86200" y="149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97680" y="149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777240" y="19293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LET'S WORK TOGETHER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77240" y="2249424"/>
            <a:ext cx="1920240" cy="2377440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68680" y="235915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FORM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868680" y="2596896"/>
            <a:ext cx="1737360" cy="256032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14400" y="264261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성함 / 회사명</a:t>
            </a:r>
            <a:endParaRPr lang="en-US" sz="620" dirty="0"/>
          </a:p>
        </p:txBody>
      </p:sp>
      <p:sp>
        <p:nvSpPr>
          <p:cNvPr id="36" name="Shape 33"/>
          <p:cNvSpPr/>
          <p:nvPr/>
        </p:nvSpPr>
        <p:spPr>
          <a:xfrm>
            <a:off x="868680" y="2980944"/>
            <a:ext cx="1737360" cy="256032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4400" y="3026664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/ 이메일</a:t>
            </a:r>
            <a:endParaRPr lang="en-US" sz="620" dirty="0"/>
          </a:p>
        </p:txBody>
      </p:sp>
      <p:sp>
        <p:nvSpPr>
          <p:cNvPr id="38" name="Shape 35"/>
          <p:cNvSpPr/>
          <p:nvPr/>
        </p:nvSpPr>
        <p:spPr>
          <a:xfrm>
            <a:off x="868680" y="3364992"/>
            <a:ext cx="1737360" cy="256032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14400" y="341071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유형 (POS/ERP/SI)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868680" y="3749040"/>
            <a:ext cx="1737360" cy="256032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14400" y="379476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및 예상 일정</a:t>
            </a:r>
            <a:endParaRPr lang="en-US" sz="620" dirty="0"/>
          </a:p>
        </p:txBody>
      </p:sp>
      <p:sp>
        <p:nvSpPr>
          <p:cNvPr id="42" name="Shape 39"/>
          <p:cNvSpPr/>
          <p:nvPr/>
        </p:nvSpPr>
        <p:spPr>
          <a:xfrm>
            <a:off x="2834640" y="2249424"/>
            <a:ext cx="196596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657600" y="2889504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4" name="Text 41"/>
          <p:cNvSpPr/>
          <p:nvPr/>
        </p:nvSpPr>
        <p:spPr>
          <a:xfrm>
            <a:off x="2926080" y="3346704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 Map API Container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[WINHUB Corporate HQ]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경기도 고양시 일산동구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[다이렉트 프로젝트 견적 폼]: 예산, 일정, SI 유형 입력 유효성 검증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[카카오맵 API 연동]: 본사 위치 마커 렌더링 및 '길찾기' 모바일 네비게이션 연동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[상시 채널 오픈]: 이메일(winhub@winhub.co.kr), 대표전화(031-998-1815) 직통 연결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Home, About Us, Works, Contact Us 체계 완비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RENEWAL INTEGRATED SPECIFICATION · COMINVI &amp; EDOLUS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COPYWRITING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국/영문 심볼릭 카피라이팅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 비디오 무드와 CoMinVi 기술적 명확성을 결합한 완성형 카피 명세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table">
            <a:tbl>
              <a:tblPr/>
              <a:tblGrid>
                <a:gridCol w="1097280"/>
                <a:gridCol w="2468880"/>
                <a:gridCol w="3383280"/>
                <a:gridCol w="1280160"/>
              </a:tblGrid>
              <a:tr h="4171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섹션 / Act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영문 메인 헤드라인 (Headline)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국문 내러티브 서브텍스트 (Subtext)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핵심 상징 키워드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1 (Hero)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CONNECTS TO EMPOWER YOUR SUCCESS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미래를 여는 디지털 키(Gateway)로 고객 비즈니스의 성공적 도약을 견인합니다.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#futuristic_key #연결 #도약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2 (S.01)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ORCHESTRATING ENTERPRISE INTELLIGENCE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AI · 클라우드 · 빅데이터 아키텍처를 엔터프라이즈 환경에 최적화하여 구현합니다.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#신경망 #AI코어 #클라우드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3 (S.02)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PRECISION AT SCALE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고객 비즈니스 환경을 정밀 분석해 컨설팅부터 시스템 구축 및 운영 로드맵을 설계합니다.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#레이더스캔 #정밀분석 #맞춤전략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4 (S.03)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VERIFIED MOMENTUM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다년간 축적된 대형 SI 프로젝트 노하우와 검증된 방법론으로 무결점 납기를 보증합니다.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#육각쉴드 #품질보증 #무결점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5 (S.04)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THE CONVERGED CORE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기술 리더십 · 고객 맞춤 전략 · 검증된 수행력이 결합하여 압도적 시너지를 완성합니다.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#퀀텀코어 #에너지수렴 #시너지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6 (S.05)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NUMBERS THAT PROVE LEADERSHIP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99.98% 시스템 가동률, 15+년 엔터프라이즈 SI 노하우, 50+ 대기업 파트너 레퍼런스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#실적수치 #가동률 #엔터프라이즈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7 (Outro)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READY TO EMPOWER YOUR FUTURE?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단순한 시스템 구축을 넘어, 비즈니스의 성공적인 디지털 전환을 지금 시작하십시오.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#프로젝트제안 #상담문의 #전환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RENEWAL INTEGRATED SPECIFICATION · COMINVI &amp; EDOLUS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TECHNICAL ARCHITECTURE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SPA 구현 기술 스택 및 파이프라인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부드러운 60FPS 렌더링과 저사양 기기 최적화를 동시에 만족하는 아키텍처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4416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3807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Video Background Engine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08960" y="136245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배경 비디오 최적화 파이프라인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0" y="1618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HTML5 &lt;video autoplay muted loop playsinline&gt; 태그 및 65% 어두운 그라디언트 오버레이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MP4 H.264 하드웨어 디코딩 가속을 통해 CPU 점유율을 5% 미만으로 억제하며 60FPS 재생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21284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249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GSAP 3.12 + ScrollTrigger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8960" y="223113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스크롤 타임라인 오케스트레이션 (Pinning)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08960" y="2487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섹션마다 pin: true, scrub: 1 적용으로 스크롤 속도와 씬 모션을 1:1 동기화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텍스트 및 SVG 스트림이 독립적인 타임라인에 맞추어 순차적으로 등장하는 타임라인 체이닝 구현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08152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181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Three.js r164 (WebGL 2.0)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08960" y="309981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공간 연출 및 실시간 궤도 회전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08960" y="3355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퀀텀 캡슐 및 3중 궤도 링의 실시간 마우스 시선 추적 및 스크롤 연동 회전 연산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LERP 선형 보간 알고리즘으로 끊김 없는 부드러움과 몰입형 입체감 보장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95020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9867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Single Page Architecture (SPA)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08960" y="396849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새로고침 없는 유기적 사용자 경험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08960" y="4224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메뉴(Home, About Us, Works, Contact Us) 이동 시에도 전체 화면이 깜빡이지 않고 DOM 모핑 전환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백드롭 블러 풀스크린 커튼 드로어로 모바일과 데스크톱 모두에서 일관된 프리미엄 UX 제공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RENEWAL INTEGRATED SPECIFICATION · COMINVI &amp; EDOLUS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 ROADMAP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 SPA 구축 및 배포 4단계 마일스톤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확정부터 비디오/인터랙션 퍼블리싱, 최적화 및 런칭까지 4단계 실행 계획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965960" cy="3337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(1~2주차)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비디오 에셋 &amp; 기획 컨펌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 통합 기획서 및 GNB 4대 메뉴 최종 컨펌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futuristic_key.mp4 인코딩 및 WebGL 경량화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영문/국문 카피라이팅 및 SVG 심볼 에셋 확정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542032" y="1280160"/>
            <a:ext cx="1965960" cy="3337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79192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19" name="Text 17"/>
          <p:cNvSpPr/>
          <p:nvPr/>
        </p:nvSpPr>
        <p:spPr>
          <a:xfrm>
            <a:off x="2679192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(3~4주차)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79192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핀 스크롤 퍼블리싱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Text 20"/>
          <p:cNvSpPr/>
          <p:nvPr/>
        </p:nvSpPr>
        <p:spPr>
          <a:xfrm>
            <a:off x="2679192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 비디오 배경 및 Three.js 카메라 연동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 핀 스크롤 및 에너지 스트림 개발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CoMinVi 스타일 2x3 무박스 수치 카운트업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626864" y="1280160"/>
            <a:ext cx="1965960" cy="3337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64024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25" name="Text 23"/>
          <p:cNvSpPr/>
          <p:nvPr/>
        </p:nvSpPr>
        <p:spPr>
          <a:xfrm>
            <a:off x="4764024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(5주차)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64024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연동 &amp; 서브 구축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8" name="Text 26"/>
          <p:cNvSpPr/>
          <p:nvPr/>
        </p:nvSpPr>
        <p:spPr>
          <a:xfrm>
            <a:off x="4764024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projects.json 포트폴리오 비동기 바인딩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Us, Works Detail, Contact Us 연동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60FPS 성능 튜닝 및 웹 접근성 메타태그 적용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711696" y="1280160"/>
            <a:ext cx="1965960" cy="3337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48856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</p:sp>
      <p:sp>
        <p:nvSpPr>
          <p:cNvPr id="31" name="Text 29"/>
          <p:cNvSpPr/>
          <p:nvPr/>
        </p:nvSpPr>
        <p:spPr>
          <a:xfrm>
            <a:off x="6848856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(6주차)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48856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검수 &amp; 라이브 런칭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4" name="Text 32"/>
          <p:cNvSpPr/>
          <p:nvPr/>
        </p:nvSpPr>
        <p:spPr>
          <a:xfrm>
            <a:off x="6848856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GitHub Pages CI/CD 파이프라인 자동 배포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공식 도메인(winhub.co.kr) 연결 및 SSL 보안 인증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Google Analytics 및 전환 추적 픽셀 세팅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WINHUB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WINHUB 웹사이트 리뉴얼 화면설계 및 기술전략 통합 기획서</dc:title>
  <dc:subject>CoMinVi 벤치마킹 분석 + 와이어프레임 + futuristic_key.mp4 비디오 에셋 통합본</dc:subject>
  <dc:creator>WINHUB Strategy &amp; Planning Group</dc:creator>
  <cp:lastModifiedBy>WINHUB Strategy &amp; Planning Group</cp:lastModifiedBy>
  <cp:revision>1</cp:revision>
  <dcterms:created xsi:type="dcterms:W3CDTF">2026-10-16T06:28:46Z</dcterms:created>
  <dcterms:modified xsi:type="dcterms:W3CDTF">2026-10-16T06:28:46Z</dcterms:modified>
</cp:coreProperties>
</file>