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9599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일반 보고서 (DEFAUL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스토리보드 명세서 (COMBINE_MASTER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ster_Metadata_Table_Form">
            <a:extLst>
              <a:ext uri="{FF2B5EF4-FFF2-40B4-BE49-F238E27FC236}">
                <a16:creationId xmlns:a16="http://schemas.microsoft.com/office/drawing/2014/main" id="{01784BFB-4333-21EE-B73D-17D48E005D9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49837653"/>
              </p:ext>
            </p:extLst>
          </p:nvPr>
        </p:nvGraphicFramePr>
        <p:xfrm>
          <a:off x="80000" y="80000"/>
          <a:ext cx="8984000" cy="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00">
                  <a:extLst>
                    <a:ext uri="{9D8B030D-6E8A-4147-A177-3AD203B41FA5}">
                      <a16:colId xmlns:a16="http://schemas.microsoft.com/office/drawing/2014/main" val="2856676376"/>
                    </a:ext>
                  </a:extLst>
                </a:gridCol>
                <a:gridCol w="940000">
                  <a:extLst>
                    <a:ext uri="{9D8B030D-6E8A-4147-A177-3AD203B41FA5}">
                      <a16:colId xmlns:a16="http://schemas.microsoft.com/office/drawing/2014/main" val="3312149745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3030400730"/>
                    </a:ext>
                  </a:extLst>
                </a:gridCol>
                <a:gridCol w="3164000">
                  <a:extLst>
                    <a:ext uri="{9D8B030D-6E8A-4147-A177-3AD203B41FA5}">
                      <a16:colId xmlns:a16="http://schemas.microsoft.com/office/drawing/2014/main" val="42124994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62677838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3147126462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2317132796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1578021541"/>
                    </a:ext>
                  </a:extLst>
                </a:gridCol>
              </a:tblGrid>
              <a:tr h="2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ID</a:t>
                      </a:r>
                      <a:endParaRPr lang="ko-KR" altLang="en-US" sz="850" b="1">
                        <a:solidFill>
                          <a:srgbClr val="080A1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</a:t>
                      </a:r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명</a:t>
                      </a:r>
                    </a:p>
                  </a:txBody>
                  <a:tcPr marL="25400" marR="25400" marT="12700" marB="1270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화면 구분</a:t>
                      </a:r>
                    </a:p>
                  </a:txBody>
                  <a:tcPr marL="25400" marR="25400" marT="12700" marB="1270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주요 에셋 </a:t>
                      </a:r>
                      <a:r>
                        <a:rPr lang="en-US" altLang="ko-KR" sz="7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7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스펙</a:t>
                      </a:r>
                    </a:p>
                  </a:txBody>
                  <a:tcPr marL="25400" marR="25400" marT="12700" marB="1270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31671"/>
                  </a:ext>
                </a:extLst>
              </a:tr>
            </a:tbl>
          </a:graphicData>
        </a:graphic>
      </p:graphicFrame>
      <p:sp>
        <p:nvSpPr>
          <p:cNvPr id="3" name="Master_WF_Background">
            <a:extLst>
              <a:ext uri="{FF2B5EF4-FFF2-40B4-BE49-F238E27FC236}">
                <a16:creationId xmlns:a16="http://schemas.microsoft.com/office/drawing/2014/main" id="{76EBFDC4-DF5A-9747-5B97-2FE445296800}"/>
              </a:ext>
            </a:extLst>
          </p:cNvPr>
          <p:cNvSpPr/>
          <p:nvPr userDrawn="1"/>
        </p:nvSpPr>
        <p:spPr>
          <a:xfrm>
            <a:off x="80000" y="360000"/>
            <a:ext cx="5100000" cy="45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Master_WF_Header">
            <a:extLst>
              <a:ext uri="{FF2B5EF4-FFF2-40B4-BE49-F238E27FC236}">
                <a16:creationId xmlns:a16="http://schemas.microsoft.com/office/drawing/2014/main" id="{BAAC4D47-B055-8C01-D9B9-73228EDCC2B2}"/>
              </a:ext>
            </a:extLst>
          </p:cNvPr>
          <p:cNvSpPr/>
          <p:nvPr userDrawn="1"/>
        </p:nvSpPr>
        <p:spPr>
          <a:xfrm>
            <a:off x="80000" y="360000"/>
            <a:ext cx="5100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UI 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화면 설계 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와이어프레임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)</a:t>
            </a:r>
            <a:endParaRPr lang="ko-KR" altLang="en-US" sz="9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Master_Spec_Background">
            <a:extLst>
              <a:ext uri="{FF2B5EF4-FFF2-40B4-BE49-F238E27FC236}">
                <a16:creationId xmlns:a16="http://schemas.microsoft.com/office/drawing/2014/main" id="{8B3C4E02-3CFD-73A9-F920-B316E0284AF9}"/>
              </a:ext>
            </a:extLst>
          </p:cNvPr>
          <p:cNvSpPr/>
          <p:nvPr userDrawn="1"/>
        </p:nvSpPr>
        <p:spPr>
          <a:xfrm>
            <a:off x="5280000" y="360000"/>
            <a:ext cx="3704000" cy="452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Master_Spec_Header">
            <a:extLst>
              <a:ext uri="{FF2B5EF4-FFF2-40B4-BE49-F238E27FC236}">
                <a16:creationId xmlns:a16="http://schemas.microsoft.com/office/drawing/2014/main" id="{1B849EDF-276D-057A-34BA-335B69C9FA8B}"/>
              </a:ext>
            </a:extLst>
          </p:cNvPr>
          <p:cNvSpPr/>
          <p:nvPr userDrawn="1"/>
        </p:nvSpPr>
        <p:spPr>
          <a:xfrm>
            <a:off x="5280000" y="360000"/>
            <a:ext cx="3704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상세 기능 스펙 및 개발 적용 방안</a:t>
            </a:r>
          </a:p>
        </p:txBody>
      </p:sp>
      <p:sp>
        <p:nvSpPr>
          <p:cNvPr id="7" name="Master_Footer_Line">
            <a:extLst>
              <a:ext uri="{FF2B5EF4-FFF2-40B4-BE49-F238E27FC236}">
                <a16:creationId xmlns:a16="http://schemas.microsoft.com/office/drawing/2014/main" id="{58AA192B-AA91-9376-79E0-505D09EC9CF4}"/>
              </a:ext>
            </a:extLst>
          </p:cNvPr>
          <p:cNvSpPr/>
          <p:nvPr userDrawn="1"/>
        </p:nvSpPr>
        <p:spPr>
          <a:xfrm>
            <a:off x="80000" y="4890000"/>
            <a:ext cx="8983999" cy="12700"/>
          </a:xfrm>
          <a:prstGeom prst="rect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Master_Footer_Copyright">
            <a:extLst>
              <a:ext uri="{FF2B5EF4-FFF2-40B4-BE49-F238E27FC236}">
                <a16:creationId xmlns:a16="http://schemas.microsoft.com/office/drawing/2014/main" id="{5E090789-A6BF-E326-EC10-4907EE2D760B}"/>
              </a:ext>
            </a:extLst>
          </p:cNvPr>
          <p:cNvSpPr txBox="1"/>
          <p:nvPr userDrawn="1"/>
        </p:nvSpPr>
        <p:spPr>
          <a:xfrm>
            <a:off x="80000" y="4915000"/>
            <a:ext cx="6477000" cy="15388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700">
                <a:solidFill>
                  <a:srgbClr val="64748B"/>
                </a:solidFill>
                <a:latin typeface="Malgun Gothic" panose="020B0503020000020004" pitchFamily="50" charset="-127"/>
              </a:rPr>
              <a:t>© 2026 WINHUB Inc. All Rights Reserved. | </a:t>
            </a:r>
            <a:r>
              <a:rPr lang="ko-KR" altLang="en-US" sz="700">
                <a:solidFill>
                  <a:srgbClr val="64748B"/>
                </a:solidFill>
                <a:latin typeface="Malgun Gothic" panose="020B0503020000020004" pitchFamily="50" charset="-127"/>
              </a:rPr>
              <a:t>경기도 고양시 일산동구 백마로 </a:t>
            </a:r>
            <a:r>
              <a:rPr lang="en-US" altLang="ko-KR" sz="700">
                <a:solidFill>
                  <a:srgbClr val="64748B"/>
                </a:solidFill>
                <a:latin typeface="Malgun Gothic" panose="020B0503020000020004" pitchFamily="50" charset="-127"/>
              </a:rPr>
              <a:t>195 SK M-City </a:t>
            </a:r>
            <a:r>
              <a:rPr lang="ko-KR" altLang="en-US" sz="700">
                <a:solidFill>
                  <a:srgbClr val="64748B"/>
                </a:solidFill>
                <a:latin typeface="Malgun Gothic" panose="020B0503020000020004" pitchFamily="50" charset="-127"/>
              </a:rPr>
              <a:t>섹션 </a:t>
            </a:r>
            <a:r>
              <a:rPr lang="en-US" altLang="ko-KR" sz="700">
                <a:solidFill>
                  <a:srgbClr val="64748B"/>
                </a:solidFill>
                <a:latin typeface="Malgun Gothic" panose="020B0503020000020004" pitchFamily="50" charset="-127"/>
              </a:rPr>
              <a:t>9005</a:t>
            </a:r>
            <a:r>
              <a:rPr lang="ko-KR" altLang="en-US" sz="700">
                <a:solidFill>
                  <a:srgbClr val="64748B"/>
                </a:solidFill>
                <a:latin typeface="Malgun Gothic" panose="020B0503020000020004" pitchFamily="50" charset="-127"/>
              </a:rPr>
              <a:t>호 </a:t>
            </a:r>
            <a:r>
              <a:rPr lang="en-US" altLang="ko-KR" sz="700">
                <a:solidFill>
                  <a:srgbClr val="64748B"/>
                </a:solidFill>
                <a:latin typeface="Malgun Gothic" panose="020B0503020000020004" pitchFamily="50" charset="-127"/>
              </a:rPr>
              <a:t>| </a:t>
            </a:r>
            <a:r>
              <a:rPr lang="ko-KR" altLang="en-US" sz="700">
                <a:solidFill>
                  <a:srgbClr val="64748B"/>
                </a:solidFill>
                <a:latin typeface="Malgun Gothic" panose="020B0503020000020004" pitchFamily="50" charset="-127"/>
              </a:rPr>
              <a:t>문의</a:t>
            </a:r>
            <a:r>
              <a:rPr lang="en-US" altLang="ko-KR" sz="700">
                <a:solidFill>
                  <a:srgbClr val="64748B"/>
                </a:solidFill>
                <a:latin typeface="Malgun Gothic" panose="020B0503020000020004" pitchFamily="50" charset="-127"/>
              </a:rPr>
              <a:t>: contact@winhub.co.kr, 031-908-7711</a:t>
            </a:r>
            <a:endParaRPr lang="ko-KR" altLang="en-US" sz="700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Master_Footer_Confidential">
            <a:extLst>
              <a:ext uri="{FF2B5EF4-FFF2-40B4-BE49-F238E27FC236}">
                <a16:creationId xmlns:a16="http://schemas.microsoft.com/office/drawing/2014/main" id="{DA63327B-2C1C-5FA5-E5C4-01225965F590}"/>
              </a:ext>
            </a:extLst>
          </p:cNvPr>
          <p:cNvSpPr txBox="1"/>
          <p:nvPr userDrawn="1"/>
        </p:nvSpPr>
        <p:spPr>
          <a:xfrm>
            <a:off x="6620500" y="4915000"/>
            <a:ext cx="2413000" cy="153888"/>
          </a:xfrm>
          <a:prstGeom prst="rect">
            <a:avLst/>
          </a:prstGeom>
          <a:noFill/>
        </p:spPr>
        <p:txBody>
          <a:bodyPr vert="horz" tIns="0" rIns="0" rtlCol="0">
            <a:spAutoFit/>
          </a:bodyPr>
          <a:lstStyle/>
          <a:p>
            <a:pPr algn="r"/>
            <a:r>
              <a:rPr lang="ko-KR" altLang="en-US" sz="700" b="1">
                <a:solidFill>
                  <a:srgbClr val="0EA5E9"/>
                </a:solidFill>
                <a:latin typeface="Malgun Gothic" panose="020B0503020000020004" pitchFamily="50" charset="-127"/>
              </a:rPr>
              <a:t>보안 등급</a:t>
            </a:r>
            <a:r>
              <a:rPr lang="en-US" altLang="ko-KR" sz="700" b="1">
                <a:solidFill>
                  <a:srgbClr val="0EA5E9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700" b="1">
                <a:solidFill>
                  <a:srgbClr val="0EA5E9"/>
                </a:solidFill>
                <a:latin typeface="Malgun Gothic" panose="020B0503020000020004" pitchFamily="50" charset="-127"/>
              </a:rPr>
              <a:t>사내 대외비 </a:t>
            </a:r>
            <a:r>
              <a:rPr lang="en-US" altLang="ko-KR" sz="700" b="1">
                <a:solidFill>
                  <a:srgbClr val="0EA5E9"/>
                </a:solidFill>
                <a:latin typeface="Malgun Gothic" panose="020B0503020000020004" pitchFamily="50" charset="-127"/>
              </a:rPr>
              <a:t>(CONFIDENTIAL v2.0)</a:t>
            </a:r>
            <a:endParaRPr lang="ko-KR" altLang="en-US" sz="700" b="1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5303520" cy="292608"/>
          </a:xfrm>
          <a:prstGeom prst="roundRect">
            <a:avLst>
              <a:gd name="adj" fmla="val 5000"/>
            </a:avLst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95097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ANALYSIS · 7-ACT STORYTELLING · VIDEO ASSET INTEGRATED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화면설계 및 기술전략 통합 기획서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딥다이브 분석 이식 · 7막 스토리보드 와이어프레임 · futuristic_key.mp4 비디오 에셋 통합본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7680960" cy="10973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TYPE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Storyboard + CoMinVi Architecture Integrated Spec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STANDARD (4대 메뉴)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344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· About Us · Works · Contact Us (엄격 고정)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VIDEO ASSET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c:\win-renewal\assets\mp4\futuristic_key.mp4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&amp;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344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Combined Final · 2026. 10.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800"/>
            </a:pPr>
            <a:r>
              <a:t>WINHUB RENEWAL INTEGRATED SPECIFICATION · CoMinVi 벤치마크 기반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 sz="850"/>
            </a:pPr>
            <a:r>
              <a:t>기획서 구성 및 목차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기술 분석부터 7막 스토리보드, 비디오 에셋 연동 및 실행 계획까지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개요 및 리뉴얼 추진 배경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정적 카탈로그 웹의 한계와 인터랙티브 SPA로의 전환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t>· 글로벌 트렌드(3D WebGL) &amp; CoMinVi(엔지니어링 신뢰) 통합 모델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5488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5488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6928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딥다이브 분석 보고서 이식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영구 지속형 헤더 및 비동기 PJAX 화면 전환 라이프사이클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관성 버추얼 스크롤(Lenis) &amp; 뷰포트 핀 고정(Pinning &amp; Scrubbing)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공간 배치 혁신: '카드 박스 배제' vs '1px 건축적 헤어라인 그리드'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9436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876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정보구조(IA) &amp; GNB 4대 메뉴 체계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고정 구조: [ Home · About Us · Works · Contact Us ]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풀스크린 에디토리얼 커튼 드로어 메뉴 인터랙션 명세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75488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5488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IV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7막 스토리텔링 화면설계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Hero: futuristic_key.mp4 미래지향적 비디오 게이트웨이 연동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S.01~S.04: 지능 신경망 ──► 퀀텀 코어 수렴 핀 스크롤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S.05~S.07: CoMinVi 2x3 무박스 수치 그리드 &amp; 에디토리얼 인덱스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9436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9436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50876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서브페이지 상세 화면설계 및 적용방안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 (기업 비전 &amp; 연혁 타임라인)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Works List &amp; Detail (ABC마트 등 3단 심층 아키텍처)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Contact Us (온라인 견적 의뢰 &amp; 카카오맵 연동)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5488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5488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시스템, 기술 규격 및 로드맵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7막 통합 국/영문 심볼릭 카피라이팅 매트릭스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Three.js, GSAP 3.12, Video Player 기술 파이프라인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 구축 및 런칭 마일스톤 (Phase 1 ~ Phase 4)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800"/>
            </a:pPr>
            <a:r>
              <a:t>WINHUB RENEWAL INTEGRATED SPECIFICATION · CoMinVi 벤치마크 기반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 sz="850"/>
            </a:pPr>
            <a:r>
              <a:t>핵심 기획 요약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패러다임의 전환: 단순 홍보 웹에서 '스토리텔링 SPA'로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SI/IT 기업 웹사이트의 한계를 극복하고 고객의 몰입을 이끄는 스토리텔링의 본질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정적 웹사이트 (Static Catalog)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기능 나열 및 카탈로그식 접근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수많은 텍스트와 박스형 카드들이 무분별하게 나열됨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방문자는 5초 이내에 지루함을 느끼고 이탈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기업이 가진 기술적 깊이와 문제 해결 능력을 체감하기 어려움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42900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2900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STORYTELLING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스토리텔링의 마법 (Narrative Immersion)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= 사용자가 직접 전개하는 탐험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다운이 단순 화면 넘김이 아닌 '스토리의 다음 챕터'를 여는 트리거로 작동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'문제 제기 $\rightarrow$ 기술 아키텍처 $\rightarrow$ 정밀 솔루션 $\rightarrow$ 신뢰 증명 $\rightarrow$ 통합 시너지'로 이어지는 극적 긴장감 형성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사용자가 회사의 기술 여정에 동참하는 경험 선사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  <a:defRPr sz="1100" b="1">
                <a:latin typeface="Malgun Gothic"/>
              </a:defRPr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차세대 SPA (Interactive Hub)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850">
                <a:latin typeface="Malgun Gothic"/>
              </a:defRPr>
            </a:pPr>
            <a:r>
              <a:t>시네마틱 3D 비주얼 + 엔터프라이즈 신뢰 지표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1792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futuristic_key.mp4 비디오와 Three.js가 시각적 압도감 제공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99.98% 가동률, 50+ 대기업 레퍼런스 등 구체적 수치로 설득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강력한 B2B 프로젝트 제안 문의 전환(Conversion) 창출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800"/>
            </a:pPr>
            <a:r>
              <a:t>WINHUB RENEWAL INTEGRATED SPECIFICATION · CoMinVi 벤치마크 기반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 sz="850"/>
            </a:pPr>
            <a:r>
              <a:t>벤치마크 및 전략 포지셔닝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기존 웹 vs CoMinVi 글로벌 트렌드 vs WINHUB 리뉴얼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시네마틱 3D 몰입감과 건축적 엔지니어링 신뢰 수치의 완벽한 결합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290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비교 항목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Edolus.com (시네마틱 모델)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CoMinVi.com.mx (건축 신뢰 모델)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WINHUB 차세대 통합 모델 (적용안)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디자인 철학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우주/행성 스케일의 압도적 시네마틱 3D 연출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무박스(Zero-Box) 건축적 헤어라인 그리드 &amp; 여백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미래지향적 비디오 + 1px 헤어라인 그리드 융합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스크롤 인터랙션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화면 핀 고정(Pin) 후 3D 카메라 Dolly 줌 스크럽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관성 버추얼 스크롤(Lenis) &amp; 텍스트 라인 마스크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GSAP ScrollTrigger 400vh 핀 고정 + 7막 타임라인 체이닝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레이아웃 체계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대형 중앙 집중형 타이포그래피 (Monolithic Display)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좌측 비주얼 + 우측 2x3 헤어라인 수치 분할(Split)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좌측 스토리 내러티브 + 우측 3D/비주얼 50:50 분할 핀 스테이지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수치 및 실적 증명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정성적 철학 위주의 시적 카피라이팅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100만m, 20M톤 등 거대한 통계 수치 그리드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99.98% 가동률, 15+년 등 CoMinVi 2x3 무박스 수치 카운트업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실적(Works) 표현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단일 솔루션 쇼케이스 중심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헤어라인 기반의 에디토리얼 인덱스 테이블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카드 박스를 배제한 1행 1레코드 정밀 인덱스 테이블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GNB 구조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최소 심볼 버튼 중심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풀스크린 커튼 오버레이 드로어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GNB 4대 메뉴 [Home · About Us · Works · Contact Us] 고정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800"/>
            </a:pPr>
            <a:r>
              <a:t>WINHUB RENEWAL INTEGRATED SPECIFICATION · CoMinVi 벤치마크 기반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 sz="850"/>
            </a:pPr>
            <a:r>
              <a:t>CoMinVi 벤치마크 분석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유기적인 페이지 이동 및 네비게이팅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없는 무중단 화면 전환(Seamless Continuity)과 풀스크린 커튼 드로어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325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영구 지속형 헤더 (Persistent Fixed Header)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1600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position: fixed로 최상단에 영구 앵커링되어 안정적 탐색권 보장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시작 시 backdrop-filter: blur(16px) 및 반투명 다크 배경(0.85) 활성화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본문 콘텐츠와의 시각적 간섭을 원천 차단하며 로고/상태/메뉴 3단 구조 유지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WINHUB GNB 4대 메뉴 [Home · About Us · Works · Contact Us] 직관적 노출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2487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2468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풀스크린 커튼 드로어 (Curtain Overlay Drawer)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좁은 드롭다운을 탈피하여 화면 전체(100vw x 100vh)를 덮는 웅장한 오버레이 전개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메뉴 텍스트: 아래에서 위로 밀려 올라오는 스태거(Stagger) 마스크 리빌(Clip-path)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대형 볼드 디스플레이 폰트(Grotesque Sans-Serif)를 적용하여 압도적 브랜드 각인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ESC 키 감지 및 외부 클릭 시 0.4초 만에 부드럽게 닫히는 키보드 접근성 완비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비동기 PJAX / View Transitions 라우팅 라이프사이클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1단계: 사용자 링크 클릭 시 e.preventDefault()로 브라우저 하드 리로드 차단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2단계: 기존 페이지 Exit 애니메이션 (텍스트 Fade Out + 커튼 와이프)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3단계: fetch()로 신규 HTML 파싱 (Three.js 캔버스, 헤더 상태는 언마운트 없이 유지)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4단계: 내부 main#content 영역만 1:1 모핑 교체 후 ScrollTop = 0 리셋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5단계: 신규 페이지 ScrollTrigger 인스턴스 재생성 및 진입 애니메이션 실행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800"/>
            </a:pPr>
            <a:r>
              <a:t>WINHUB RENEWAL INTEGRATED SPECIFICATION · CoMinVi 벤치마크 기반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 sz="850"/>
            </a:pPr>
            <a:r>
              <a:t>CoMinVi 벤치마크 분석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스토리가 있는 스크롤 애니메이션 메커니즘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스크롤(Lenis LERP)과 300~500vh 뷰포트 핀 고정(Pinning &amp; Scrubbing)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 (Inertial Smooth Scroll)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휠의 딱딱한 계단 현상을 제거하는 선형 보간(LERP)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= Current + (Target - Current) * DampingFactor (0.1)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일반 마우스 휠의 100px 급격한 끊김을 지우고, 마우스를 멈추어도 부드러운 마찰력으로 감속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영화 필름을 손으로 조작하는 듯한 묵직한 아날로그 조작감 제공 (Lenis 60FPS 최적화)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42900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42900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뷰포트 핀 고정 &amp; 타임라인 스크럽 (Pinning &amp; Scrubbing)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진행률(0.0 ~ 1.0)과 1:1 동기화되는 4단계 인터랙션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2900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Timeline (pin: true, scrub: 1, end: '+=400%')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42900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화면이 아래로 밀려나지 않고 뷰포트에 완전히 잠긴 채, 휠 스크롤에 따라 텍스트가 순차 교체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오브젝트 회전각, 조명 색상, SVG 신경망 와이어가 타임라인 체이닝으로 완벽 결합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1792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라인별 클립 마스크 리빌 (Clip-path Line Reveal)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Opacity 페이드를 넘어선 고급스러운 슬릿 마스크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26364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clip-path: inset(0 0 100% 0) ──► inset(0 0 0% 0)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21792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문장의 각 행(Line)을 가상 슬릿 아래에서 위로 밀어 올리며 드라마틱한 등장 연출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SplitType 라이브러리를 통해 한글/영문 텍스트를 행 단위 DOM으로 정밀 분할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800"/>
            </a:pPr>
            <a:r>
              <a:t>WINHUB RENEWAL INTEGRATED SPECIFICATION · CoMinVi 벤치마크 기반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 sz="850"/>
            </a:pPr>
            <a:r>
              <a:t>CoMinVi 벤치마크 분석 03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프론트엔드 풀스택 기술 아키텍처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런타임과 고성능 모션 그래픽 파이프라인의 조화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29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아키텍처 레이어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채택 기술 및 라이브러리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핵심 역할 및 적용 메커니즘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WINHUB 프로젝트 매핑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Platform &amp; Runtime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Webflow Static Export / ES6+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정적 HTML/CSS 번들링 및 CDN 엣지 고속 서빙, 불필요한 무거운 프레임워크 배제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Vanilla HTML5/ES Modules 표준 100% 준수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Smooth Scroll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Lenis.js (Inertial Lerp)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requestAnimationFrame 기반 선형 보간(Lerp) 연산으로 마우스 휠 관성 제어 (60FPS)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Lenis 1.0.42 + ScrollTrigger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Motion Orchestration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GSAP 3.12 + ScrollTrigger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뷰포트 pin: true, scrub: 1 적용으로 스크롤 속도와 씬 전환 타임라인 1:1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Act 1~5 핀 고정 &amp; 실시간 진행바 연동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Typography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SplitType / CSS Line Mask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텍스트 문장을 행(Line)/단어 단위 DOM으로 자동 분할하고 clip-path로 마스킹 등장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국/영문 헤드라인 행 단위 리빌 모션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Graphics &amp; Canvas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Three.js (WebGL 2.0) + Inline SVG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저용량 3D 오브젝트, 360도 궤도 링, animateMotion 실시간 광원 입자 순환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futuristic_key 비디오 + 3D 양자 코어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Styling Architecture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Pure Vanilla CSS + Fluid Clamp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1px Hairline Grid, 박스 모델 배제, clamp() 수학 공식 기반 유동 타이포그래피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CoMinVi 2x3 헤어라인 분할 그리드 구현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800"/>
            </a:pPr>
            <a:r>
              <a:t>WINHUB RENEWAL INTEGRATED SPECIFICATION · CoMinVi 벤치마크 기반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 sz="850"/>
            </a:pPr>
            <a:r>
              <a:t>CoMinVi 벤치마크 분석 04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혁신: '카드 박스 배제' vs '1px 건축적 헤어라인 그리드'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틀에 박힌 사각 박스를 탈피하고 1px의 건축선과 여백으로 구현하는 미니멀리즘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3931920" cy="3429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2011680" cy="228600"/>
          </a:xfrm>
          <a:prstGeom prst="round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기존의 틀에 박힌 박스형 카드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템플릿 웹사이트의 시각적 한계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둥근 모서리(Border-radius)와 어두운 배경색이 들어간 사각 박스 남발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박스마다 그림자(Box-shadow)가 들어가 화면이 답답하고 좁아 보임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 쇼핑몰이나 앱 UI처럼 보이며, 엔터프라이즈의 중후함이 사라짐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콘텐츠를 획일적인 카드 안에 억지로 가두어 스토리텔링의 흐름이 단절됨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23360" cy="3429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2377440" cy="228600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46320" y="13990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CoMinVi 건축적 헤어라인 그리드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1px 도면선과 거대 여백(Negative Space)의 미학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완전한 무박스(Zero-Box): 박스 배경색을 없애고 1px 헤어라인만으로 정보 구획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거대한 스케일의 숫자 타이포그래피: 뷰포트 너비의 3~4%에 달하는 대형 수치(99.98%)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비대칭 50/50 분할: 좌측 비주얼 필라 + 우측 2x3 헤어라인 매트릭스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에디토리얼 진술문: 그리드 하단 좌측 액센트 보더를 두른 권위 있는 선언문 배치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800"/>
            </a:pPr>
            <a:r>
              <a:t>WINHUB RENEWAL INTEGRATED SPECIFICATION · CoMinVi 벤치마크 기반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 sz="850"/>
            </a:pPr>
            <a:r>
              <a:t>정보 구조 설계 (IA)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4대 고정 메뉴 체계 [Home · About Us · Works · Contact Us]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혼선을 배제하고 사용자 동선을 극대화한 간결하고 명확한 4대 네비게이션 구조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/index.html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7막 스토리텔링 인터랙티브 허브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1: Hero 비디오 게이트웨이 (futuristic_key.mp4)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2: S.01 Tech Innovation (지능의 신경망)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3: S.02 Custom Strategy (정밀 맞춤 스캔)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4: S.03 Proven Execution (무결점 품질 쉴드)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5: S.04 Integrated Synergy (퀀텀 코어 수렴)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6: S.05 Enterprise Impact (2x3 수치 그리드)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7: S.06 Works Index &amp; S.07 Outro CTA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542032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679192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679192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82112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9192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/page/about.html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679192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비전, 핵심 가치 및 연혁 타임라인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679192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Company Overview (CEO 인사말 &amp; 철학)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4대 핵심 역량 (신뢰, 기술, 정밀, 시너지)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연혁 타임라인 (축적된 엔터프라이즈 레퍼런스)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글로벌 파트너십 및 기술 인증 내역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626864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64024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64024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66944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4024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/page/works.html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64024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프로젝트 쇼케이스 &amp; 심층 아키텍처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64024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프로젝트 인덱스 테이블 (CoMinVi 스타일)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카테고리 필터 (POS / ERP / Cloud 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프로젝트 상세 뷰 (Overview, Challenge, Solution)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기술 스펙 테이블 및 정량적 성과 공개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6711696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848856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48856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51776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48856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/page/contact.html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8856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프로젝트 견적 의뢰 및 본사 오시는 길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848856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다이렉트 프로젝트 견적 문의 폼 (POS/ERP/SI)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카카오맵 API 연동 (일산 SK M-City 본사 위치)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상시 직통 채널 (대표전화, 공식 이메일 안내)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개인정보 보호 및 보안 암호화 전송 체계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800"/>
            </a:pPr>
            <a:r>
              <a:t>WINHUB RENEWAL INTEGRATED SPECIFICATION · CoMinVi 벤치마크 기반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 sz="850"/>
            </a:pPr>
            <a:r>
              <a:t>네비게이션 상세 스펙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풀스크린 에디토리얼 커튼 드로어 메뉴 인터랙션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드롭다운을 넘어선 대형 볼드 타이포그래피와 스태거(Stagger) 마스크 리빌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389120" cy="3429000"/>
          </a:xfrm>
          <a:prstGeom prst="roundRect">
            <a:avLst>
              <a:gd name="adj" fmla="val 4000"/>
            </a:avLst>
          </a:prstGeom>
          <a:solidFill>
            <a:srgbClr val="080A1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7-Act Storytelling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731520" y="230428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679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Vision &amp; Core Values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1520" y="289864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273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Solutions &amp; Architecture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67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&amp; Kakao Map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31520" y="408736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120640" y="1234440"/>
            <a:ext cx="35661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커튼 드로어 동작 및 퍼블리싱 명세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17373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[진입 모션]: 메뉴 버튼 클릭 시 0.4초 만에 백드롭 블러(blur: 24px)와 함께 100vw 전체로 암전 커튼 전개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[스태거 마스크]: 01 Home부터 04 Contact Us까지 0.08초 간격으로 텍스트가 아래에서 위로 밀려 올라옴 (Clip-path Reveal)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4개 메뉴 외 불필요한 서브 메뉴 제거로 직관성 극대화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[호버 마이크로 인터랙션]: 마우스 오버 시 행 전체가 우측으로 15px 부드럽게 슬라이드되며 Cyan 네온 발광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[키보드 접근성]: ESC 키 감지 시 즉시 닫기 트리거 실행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800"/>
            </a:pPr>
            <a:r>
              <a:t>WINHUB RENEWAL INTEGRATED SPECIFICATION · CoMinVi 벤치마크 기반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 sz="850"/>
            </a:pPr>
            <a:r>
              <a:t>메인 스토리보드 플랜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7막 스토리텔링 마스터 플랜 &amp; 타임라인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다운이 곧 스토리의 다음 챕터를 여는 7단계 디지털 신경망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07592"/>
            <a:ext cx="777240" cy="2743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4416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Cinematic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63240" y="1344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영역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51960" y="1344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비디오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806440" y="13441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미래지향적 게이트웨이: 비디오 배경 루프 위에서 미래를 여는 열쇠 모티브 전개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457200" y="172821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94360" y="180136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18379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08760" y="18379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63240" y="18379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Tech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51960" y="18379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 SVG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806440" y="18379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지능의 신경망: AI/클라우드 칩셋이 분해되며 첫 번째 시안 광선 스트림 점등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457200" y="2221992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4360" y="2295144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94360" y="23317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3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508760" y="2331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63240" y="2331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Strategy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51960" y="2331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5806440" y="23317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맞춤: 360도 레이더 스캔을 통해 고객사 고유의 비즈니스 도메인 정밀 타겟팅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57200" y="2715768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94360" y="2788920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94360" y="28254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4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0876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Proof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063240" y="28254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Execution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5196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Hex Shield Seal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5806440" y="28254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무결점 증명: 육각 쉴드 매트릭스 결합, 100% 품질 보증과 세 번째 앰버 스트림 완성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457200" y="3209544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94360" y="3282696"/>
            <a:ext cx="7772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94360" y="33192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5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508760" y="3319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Convergence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063240" y="3319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Synergy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251960" y="3319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Quantum Core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5806440" y="33192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퀀텀 수렴: 3대 스트림이 퀀텀 코어로 동시에 쏟아지며 빛의 폭발 모션 연출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457200" y="370332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94360" y="3776472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94360" y="38130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50876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 &amp; Proof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063240" y="38130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Impact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25196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2x3 Grid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5806440" y="38130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숫자의 증명: 99.98% 가동률, 15+년 등 무박스 헤어라인 수치 그리드 카운트업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457200" y="419709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594360" y="427024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594360" y="43068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7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50876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&amp; Outro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063240" y="4306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S.06 / S.07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25196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 Table + CTA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5806440" y="4306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&amp; 제안: 에디토리얼 실적 인덱스 테이블을 지나 'READY TO EMPOWER?' 제안으로 마침표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80000" y="560000"/>
            <a:ext cx="5020000" cy="3606204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80000" y="560000"/>
            <a:ext cx="5020000" cy="286857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233673" y="600979"/>
            <a:ext cx="922040" cy="20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258163" y="611224"/>
            <a:ext cx="819591" cy="184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128979" y="611224"/>
            <a:ext cx="819591" cy="184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2999795" y="611224"/>
            <a:ext cx="819591" cy="184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70612" y="611224"/>
            <a:ext cx="819591" cy="184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331632" y="611224"/>
            <a:ext cx="665918" cy="184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2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284897" y="1000530"/>
            <a:ext cx="4610204" cy="3012000"/>
          </a:xfrm>
          <a:prstGeom prst="rect">
            <a:avLst/>
          </a:prstGeom>
          <a:solidFill>
            <a:srgbClr val="0B132B"/>
          </a:solidFill>
          <a:ln w="1524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489795" y="1154204"/>
            <a:ext cx="4097959" cy="307346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89795" y="1195183"/>
            <a:ext cx="4097959" cy="225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BACKGROUND VIDEO: c:\win-renewal\assets\mp4\futuristic_key.mp4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1770408" y="1615224"/>
            <a:ext cx="1639183" cy="1639183"/>
          </a:xfrm>
          <a:prstGeom prst="ellipse">
            <a:avLst/>
          </a:prstGeom>
          <a:solidFill>
            <a:srgbClr val="1E293B">
              <a:alpha val="50000"/>
            </a:srgbClr>
          </a:solidFill>
          <a:ln w="19050">
            <a:solidFill>
              <a:srgbClr val="0EA5E9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436326" y="1820122"/>
            <a:ext cx="307346" cy="1024489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745918" y="2229918"/>
            <a:ext cx="3688163" cy="3585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CYBER DIGITAL GATEWAY KEY</a:t>
            </a:r>
            <a:endParaRPr lang="en-US" sz="650" dirty="0"/>
          </a:p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[Futuristic MP4 Video Loop &amp; Particle Canvas]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489795" y="2998285"/>
            <a:ext cx="4097959" cy="665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SUCCESS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489795" y="3664204"/>
            <a:ext cx="4097959" cy="20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여는 디지털 키(Digital Gateway) — 엔터프라이즈의 다음 차원을 여는 기술적 연결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1258163" y="3602734"/>
            <a:ext cx="2663673" cy="286857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1258163" y="3633469"/>
            <a:ext cx="2663673" cy="225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4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SCROLL TO INITIATE SYSTEM ↓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5360000" y="560000"/>
            <a:ext cx="3544000" cy="24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80000" y="580000"/>
            <a:ext cx="3504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840000"/>
            <a:ext cx="3544000" cy="3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[비디오 에셋 연동]: c:\win-renewal\assets\mp4\futuristic_key.mp4 배경 적용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HTML5 &lt;video autoplay muted loop playsinline&gt; 태그로 60FPS 무중단 재생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비디오 상단에 65% 다크 그라디언트 오버레이를 배치하여 볼드 타이포그래피 시인성 극대화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[미래지향적 무드 카피라이팅]: CONNECTS TO EMPOWER YOUR SUCCESS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미래를 여는 '디지털 키(Digital Gateway)' 모티브로 기업의 기술적 도약 형상화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4개 메뉴 바인딩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[인터랙션 트리거]: 'SCROLL TO INITIATE SYSTEM' 클릭 시 S.01로 스무스 스크롤 이동</a:t>
            </a:r>
            <a:endParaRPr lang="en-US" sz="800" dirty="0"/>
          </a:p>
        </p:txBody>
      </p:sp>
      <p:sp>
        <p:nvSpPr>
          <p:cNvPr id="44" name="TextBox 43"/>
          <p:cNvSpPr txBox="1"/>
          <p:nvPr/>
        </p:nvSpPr>
        <p:spPr>
          <a:xfrm>
            <a:off x="700000" y="95000"/>
            <a:ext cx="94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60000" y="95000"/>
            <a:ext cx="3164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l"/>
            <a:r>
              <a:rPr sz="800" b="1">
                <a:solidFill>
                  <a:srgbClr val="080A10"/>
                </a:solidFill>
                <a:latin typeface="Malgun Gothic"/>
              </a:rPr>
              <a:t>메인 화면 - Hero 섹션 (미래지향적 비디오 게이트웨이)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000" y="95000"/>
            <a:ext cx="78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64000" y="95000"/>
            <a:ext cx="110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futuristic_key.mp4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431720" y="69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431720" y="69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880" y="73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48328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26052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03776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1500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26480" y="74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706040" y="1225104"/>
            <a:ext cx="1371600" cy="20116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6040" y="12433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· TECH INNOVATION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706040" y="14994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ORCHESTRATING ENTERPRISE INTELLIGENCE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06040" y="19109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클라우드 · 빅데이터 아키텍처를 엔터프라이즈 환경에 최적화하여 구현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803320" y="2276664"/>
            <a:ext cx="1645920" cy="1097280"/>
          </a:xfrm>
          <a:prstGeom prst="roundRect">
            <a:avLst/>
          </a:prstGeom>
          <a:solidFill>
            <a:srgbClr val="0E121C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169080" y="2550984"/>
            <a:ext cx="914400" cy="5486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2169080" y="268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626280" y="3373944"/>
            <a:ext cx="0" cy="457200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1529000" y="383114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Stream Wire to Synergy Core ↓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5360000" y="560000"/>
            <a:ext cx="3544000" cy="24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80000" y="580000"/>
            <a:ext cx="3504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360000" y="840000"/>
            <a:ext cx="3544000" cy="3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t>▶ [CoMinVi 벤치마크 핀 스크롤]: 100vh 화면 핀 고정 후 AI 칩셋 회로 분해 모션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[SVG 신경망 파이프라인]: Spine Wire를 따라 시안 광원 입자(Travel Dot) 실시간 순환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ORCHESTRATING ENTERPRISE INTELLIGENCE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[태그]: #AI솔루션 #엔터프라이즈클라우드 #빅데이터</a:t>
            </a:r>
            <a:endParaRPr lang="en-US" sz="800" dirty="0"/>
          </a:p>
        </p:txBody>
      </p:sp>
      <p:sp>
        <p:nvSpPr>
          <p:cNvPr id="43" name="TextBox 42"/>
          <p:cNvSpPr txBox="1"/>
          <p:nvPr/>
        </p:nvSpPr>
        <p:spPr>
          <a:xfrm>
            <a:off x="700000" y="95000"/>
            <a:ext cx="94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60000" y="95000"/>
            <a:ext cx="3164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l"/>
            <a:r>
              <a:rPr sz="800" b="1">
                <a:solidFill>
                  <a:srgbClr val="080A10"/>
                </a:solidFill>
                <a:latin typeface="Malgun Gothic"/>
              </a:rPr>
              <a:t>메인 화면 - S.01 Tech Innovation (지능의 신경망)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000" y="95000"/>
            <a:ext cx="78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64000" y="95000"/>
            <a:ext cx="110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AI Kernel SVG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431720" y="69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431720" y="69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880" y="73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48328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26052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03776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1500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26480" y="74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706040" y="1225104"/>
            <a:ext cx="1371600" cy="20116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6040" y="12433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· CUSTOM STRATEGY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706040" y="14994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AT SCALE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06040" y="18194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비즈니스 환경을 360도 스캔해 컨설팅부터 시스템 구축 및 운영 로드맵 설계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894760" y="2185224"/>
            <a:ext cx="1463040" cy="1463040"/>
          </a:xfrm>
          <a:prstGeom prst="ellipse">
            <a:avLst/>
          </a:prstGeom>
          <a:solidFill>
            <a:srgbClr val="0E121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260520" y="2550984"/>
            <a:ext cx="731520" cy="73152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2626280" y="2368104"/>
            <a:ext cx="548640" cy="54864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711880" y="37397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SCANNER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[Tailored DX Roadmap]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5360000" y="560000"/>
            <a:ext cx="3544000" cy="24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380000" y="580000"/>
            <a:ext cx="3504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840000"/>
            <a:ext cx="3544000" cy="3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[레이더 스캔 모션]: CSS transform rotate 360도 레이더 스윕 빔 및 타겟 블립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[민트 에너지 스트림]: 두 번째 그린-민트 와이어가 점등되며 시너지 코어로 연결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PRECISION AT SCALE (규모를 실현하는 정밀성)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[태그]: #비즈니스분석 #맞춤컨설팅 #최적로드맵</a:t>
            </a:r>
            <a:endParaRPr lang="en-US" sz="800" dirty="0"/>
          </a:p>
        </p:txBody>
      </p:sp>
      <p:sp>
        <p:nvSpPr>
          <p:cNvPr id="42" name="TextBox 41"/>
          <p:cNvSpPr txBox="1"/>
          <p:nvPr/>
        </p:nvSpPr>
        <p:spPr>
          <a:xfrm>
            <a:off x="700000" y="95000"/>
            <a:ext cx="94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60000" y="95000"/>
            <a:ext cx="3164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l"/>
            <a:r>
              <a:rPr sz="800" b="1">
                <a:solidFill>
                  <a:srgbClr val="080A10"/>
                </a:solidFill>
                <a:latin typeface="Malgun Gothic"/>
              </a:rPr>
              <a:t>메인 화면 - S.02 Custom Strategy (정밀 맞춤)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000" y="95000"/>
            <a:ext cx="78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4000" y="95000"/>
            <a:ext cx="110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360° Radar Scan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431720" y="69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431720" y="69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880" y="73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48328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26052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03776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1500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26480" y="74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706040" y="1225104"/>
            <a:ext cx="1463040" cy="20116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6040" y="12433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· PROVEN EXECUTION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706040" y="14994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 MOMENTUM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06040" y="18194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다년간 축적된 대형 SI 프로젝트 노하우와 검증된 품질 관리로 무결점 납기 보증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986200" y="2276664"/>
            <a:ext cx="1280160" cy="1371600"/>
          </a:xfrm>
          <a:prstGeom prst="hexagon">
            <a:avLst/>
          </a:prstGeom>
          <a:solidFill>
            <a:srgbClr val="78350F">
              <a:alpha val="5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986200" y="273386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QUALITY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360000" y="560000"/>
            <a:ext cx="3544000" cy="24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380000" y="580000"/>
            <a:ext cx="3504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360000" y="840000"/>
            <a:ext cx="3544000" cy="3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[육각 쉴드 매트릭스]: 조각난 쉴드가 하나로 조립되며 앰버 골드 체크마크 발광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[무결점 납기 보증]: 품질 관리 매트릭스(QA/QC) 시각화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VERIFIED MOMENTUM (검증된 성공의 궤적)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[스트림 충전]: 시안, 민트, 앰버 3대 광선이 모두 완충되어 코어 합류 준비</a:t>
            </a:r>
            <a:endParaRPr lang="en-US" sz="800" dirty="0"/>
          </a:p>
        </p:txBody>
      </p:sp>
      <p:sp>
        <p:nvSpPr>
          <p:cNvPr id="40" name="TextBox 39"/>
          <p:cNvSpPr txBox="1"/>
          <p:nvPr/>
        </p:nvSpPr>
        <p:spPr>
          <a:xfrm>
            <a:off x="700000" y="95000"/>
            <a:ext cx="94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60000" y="95000"/>
            <a:ext cx="3164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l"/>
            <a:r>
              <a:rPr sz="800" b="1">
                <a:solidFill>
                  <a:srgbClr val="080A10"/>
                </a:solidFill>
                <a:latin typeface="Malgun Gothic"/>
              </a:rPr>
              <a:t>메인 화면 - S.03 Proven Execution (무결점 증명)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000" y="95000"/>
            <a:ext cx="78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64000" y="95000"/>
            <a:ext cx="110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Hex Shield Seal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431720" y="69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431720" y="69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880" y="73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48328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26052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03776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1500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26480" y="74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706040" y="1133664"/>
            <a:ext cx="1645920" cy="20116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6040" y="11519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· INTEGRATED SYNERGY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706040" y="13896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CONVERGED CORE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06040" y="17005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리더십 · 고객 맞춤 전략 · 검증된 수행력이 유기적으로 결합한 압도적 시너지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163240" y="2048064"/>
            <a:ext cx="1371600" cy="91440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626280" y="1956624"/>
            <a:ext cx="0" cy="100584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H="1">
            <a:off x="2717720" y="2048064"/>
            <a:ext cx="1371600" cy="9144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986200" y="2871024"/>
            <a:ext cx="1280160" cy="1097280"/>
          </a:xfrm>
          <a:prstGeom prst="ellipse">
            <a:avLst/>
          </a:prstGeom>
          <a:solidFill>
            <a:srgbClr val="1E1B4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51960" y="314534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1529000" y="40140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QUANTUM REACTOR CORE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[Pulse Wave Explosion]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5360000" y="560000"/>
            <a:ext cx="3544000" cy="24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80000" y="580000"/>
            <a:ext cx="3504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840000"/>
            <a:ext cx="3544000" cy="3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[3중 스트림 동시 수렴]: 3대 광선이 퀀텀 코어로 동시에 쏟아지며 빛의 폭발 연출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[플래시 펄스 인터랙션]: 세 광선이 중앙에 닿는 순간 GSAP 플래시 후 안정화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THE CONVERGED CORE (수렴하는 하나의 에너지)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[감성적 효과]: 단순 솔루션 공급사를 넘어선 브랜드 완성도의 극적 체감</a:t>
            </a:r>
            <a:endParaRPr lang="en-US" sz="800" dirty="0"/>
          </a:p>
        </p:txBody>
      </p:sp>
      <p:sp>
        <p:nvSpPr>
          <p:cNvPr id="44" name="TextBox 43"/>
          <p:cNvSpPr txBox="1"/>
          <p:nvPr/>
        </p:nvSpPr>
        <p:spPr>
          <a:xfrm>
            <a:off x="700000" y="95000"/>
            <a:ext cx="94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60000" y="95000"/>
            <a:ext cx="3164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l"/>
            <a:r>
              <a:rPr sz="800" b="1">
                <a:solidFill>
                  <a:srgbClr val="080A10"/>
                </a:solidFill>
                <a:latin typeface="Malgun Gothic"/>
              </a:rPr>
              <a:t>메인 화면 - S.04 Integrated Synergy (퀀텀 코어 수렴)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000" y="95000"/>
            <a:ext cx="78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64000" y="95000"/>
            <a:ext cx="110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Quantum Core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431720" y="69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431720" y="69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880" y="73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48328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26052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03776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1500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26480" y="74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706040" y="1133664"/>
            <a:ext cx="1463040" cy="20116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6040" y="115195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· ENTERPRISE IMPACT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706040" y="14079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NUMBERS THAT PROVE LEADERSHIP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06040" y="1819464"/>
            <a:ext cx="1463040" cy="2194560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7480" y="2596704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CAPABILITY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PILLAR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[Visual]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2351960" y="1819464"/>
            <a:ext cx="11430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Text 34"/>
          <p:cNvSpPr/>
          <p:nvPr/>
        </p:nvSpPr>
        <p:spPr>
          <a:xfrm>
            <a:off x="2351960" y="189261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99.98%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351960" y="220351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3586400" y="1819464"/>
            <a:ext cx="11430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Text 37"/>
          <p:cNvSpPr/>
          <p:nvPr/>
        </p:nvSpPr>
        <p:spPr>
          <a:xfrm>
            <a:off x="3586400" y="189261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15+ YRS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586400" y="220351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EXP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351960" y="2550984"/>
            <a:ext cx="11430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" name="Text 40"/>
          <p:cNvSpPr/>
          <p:nvPr/>
        </p:nvSpPr>
        <p:spPr>
          <a:xfrm>
            <a:off x="2351960" y="262413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 TOPS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351960" y="29350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3586400" y="2550984"/>
            <a:ext cx="11430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43"/>
          <p:cNvSpPr/>
          <p:nvPr/>
        </p:nvSpPr>
        <p:spPr>
          <a:xfrm>
            <a:off x="3586400" y="262413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100+ SYS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586400" y="293503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DEPLOYED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2351960" y="3282504"/>
            <a:ext cx="11430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" name="Text 46"/>
          <p:cNvSpPr/>
          <p:nvPr/>
        </p:nvSpPr>
        <p:spPr>
          <a:xfrm>
            <a:off x="2351960" y="335565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351960" y="36665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3586400" y="3282504"/>
            <a:ext cx="11430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2" name="Text 49"/>
          <p:cNvSpPr/>
          <p:nvPr/>
        </p:nvSpPr>
        <p:spPr>
          <a:xfrm>
            <a:off x="3586400" y="335565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586400" y="36665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ON-TIME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5360000" y="560000"/>
            <a:ext cx="3544000" cy="24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380000" y="580000"/>
            <a:ext cx="3504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360000" y="840000"/>
            <a:ext cx="3544000" cy="3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[CoMinVi 모델 전격 차용]: 사각 박스를 완전 배제하고 1px 헤어라인 분할 매트릭스 채택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[동적 카운트업]: 스크롤 진입 시 0에서 99.98%, 15+, 50+, 100+까지 부드러운 수치 애니메이션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[설득력 극대화]: ABC마트, LX, AK, 신세계 등 실질적 성과 수치 제시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[하단 에디토리얼 선언문]: 좌측 2px 액센트 라인과 함께 엄격한 품질 약속 표기</a:t>
            </a:r>
            <a:endParaRPr lang="en-US" sz="800" dirty="0"/>
          </a:p>
        </p:txBody>
      </p:sp>
      <p:sp>
        <p:nvSpPr>
          <p:cNvPr id="57" name="TextBox 56"/>
          <p:cNvSpPr txBox="1"/>
          <p:nvPr/>
        </p:nvSpPr>
        <p:spPr>
          <a:xfrm>
            <a:off x="700000" y="95000"/>
            <a:ext cx="94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60000" y="95000"/>
            <a:ext cx="3164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l"/>
            <a:r>
              <a:rPr sz="800" b="1">
                <a:solidFill>
                  <a:srgbClr val="080A10"/>
                </a:solidFill>
                <a:latin typeface="Malgun Gothic"/>
              </a:rPr>
              <a:t>메인 화면 - S.05 Enterprise Impact (수치 임팩트)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000" y="95000"/>
            <a:ext cx="78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64000" y="95000"/>
            <a:ext cx="110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CoMinVi 2x3 Grid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431720" y="69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431720" y="69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880" y="73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48328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26052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03776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1500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26480" y="74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06040" y="1179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06040" y="14537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ENTERPRISE SOLUTIONS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06040" y="177374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31"/>
          <p:cNvSpPr/>
          <p:nvPr/>
        </p:nvSpPr>
        <p:spPr>
          <a:xfrm>
            <a:off x="706040" y="184689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1026080" y="184689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986200" y="18468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ABC마트 차세대 POS 및 SCO 통합 구축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180760" y="184689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706040" y="232238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6"/>
          <p:cNvSpPr/>
          <p:nvPr/>
        </p:nvSpPr>
        <p:spPr>
          <a:xfrm>
            <a:off x="706040" y="23955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1026080" y="239553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986200" y="239553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LX하우시스 전사 투자관리 시스템 ERP 연동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180760" y="23955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06040" y="287102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" name="Text 41"/>
          <p:cNvSpPr/>
          <p:nvPr/>
        </p:nvSpPr>
        <p:spPr>
          <a:xfrm>
            <a:off x="706040" y="294417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1026080" y="29441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986200" y="294417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AK플라자 신재무회계 및 스마트 결제 플랫폼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180760" y="294417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706040" y="341966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" name="Text 46"/>
          <p:cNvSpPr/>
          <p:nvPr/>
        </p:nvSpPr>
        <p:spPr>
          <a:xfrm>
            <a:off x="706040" y="3492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1026080" y="349281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986200" y="349281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신세계아이앤씨 EV 전기차 충전 인프라 I/F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180760" y="3492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706040" y="396830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4" name="Shape 51"/>
          <p:cNvSpPr/>
          <p:nvPr/>
        </p:nvSpPr>
        <p:spPr>
          <a:xfrm>
            <a:off x="5360000" y="560000"/>
            <a:ext cx="3544000" cy="24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380000" y="580000"/>
            <a:ext cx="3504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360000" y="840000"/>
            <a:ext cx="3544000" cy="3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[카드 박스 배제]: 갤러리식 카드를 없애고 유럽 엔지니어링 사이트 감성의 1px 인덱스 테이블 구현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[비동기 데이터 바인딩]: projects.json 파일에서 최신 실적을 비동기 Fetch하여 자동 바인딩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[호버 인터랙션]: 행 호버 시 하단 라인이 백색으로 점등되며 우측 화살표가 대각선으로 미세 이동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[전체보기 연동]: 'Go To WorkList' 클릭 시 /page/works.html로 무중단 화면 전환</a:t>
            </a:r>
            <a:endParaRPr lang="en-US" sz="800" dirty="0"/>
          </a:p>
        </p:txBody>
      </p:sp>
      <p:sp>
        <p:nvSpPr>
          <p:cNvPr id="57" name="TextBox 56"/>
          <p:cNvSpPr txBox="1"/>
          <p:nvPr/>
        </p:nvSpPr>
        <p:spPr>
          <a:xfrm>
            <a:off x="700000" y="95000"/>
            <a:ext cx="94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60000" y="95000"/>
            <a:ext cx="3164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l"/>
            <a:r>
              <a:rPr sz="800" b="1">
                <a:solidFill>
                  <a:srgbClr val="080A10"/>
                </a:solidFill>
                <a:latin typeface="Malgun Gothic"/>
              </a:rPr>
              <a:t>메인 화면 - S.06 Works Showcase (에디토리얼 인덱스)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000" y="95000"/>
            <a:ext cx="78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64000" y="95000"/>
            <a:ext cx="110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Index Table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431720" y="69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431720" y="69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880" y="73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48328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26052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03776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1500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26480" y="74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706040" y="1225104"/>
            <a:ext cx="3840480" cy="2103120"/>
          </a:xfrm>
          <a:prstGeom prst="rect">
            <a:avLst/>
          </a:prstGeom>
          <a:solidFill>
            <a:srgbClr val="0E121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8920" y="140798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S.07 · READY TO CONNECT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88920" y="163658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FUTURE?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88920" y="23223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시스템 구축을 넘어, 성공적인 디지털 전환을 지금 시작하십시오.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88920" y="2642424"/>
            <a:ext cx="2194560" cy="292608"/>
          </a:xfrm>
          <a:prstGeom prst="roundRect">
            <a:avLst/>
          </a:prstGeom>
          <a:solidFill>
            <a:srgbClr val="0EA5E9"/>
          </a:solidFill>
          <a:ln/>
        </p:spPr>
      </p:sp>
      <p:sp>
        <p:nvSpPr>
          <p:cNvPr id="36" name="Text 33"/>
          <p:cNvSpPr/>
          <p:nvPr/>
        </p:nvSpPr>
        <p:spPr>
          <a:xfrm>
            <a:off x="888920" y="267900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제안 문의하기 →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706040" y="3511104"/>
            <a:ext cx="3840480" cy="594360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8" name="Text 35"/>
          <p:cNvSpPr/>
          <p:nvPr/>
        </p:nvSpPr>
        <p:spPr>
          <a:xfrm>
            <a:off x="797480" y="35568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Inc. · 대표이사 신진우 · 사업자등록번호 128-86-63300</a:t>
            </a:r>
            <a:endParaRPr lang="en-US" sz="6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본사: 경기도 고양시 일산동구 백마로 195 SK M-City 9005호</a:t>
            </a:r>
            <a:endParaRPr lang="en-US" sz="620" dirty="0"/>
          </a:p>
        </p:txBody>
      </p:sp>
      <p:sp>
        <p:nvSpPr>
          <p:cNvPr id="39" name="Shape 36"/>
          <p:cNvSpPr/>
          <p:nvPr/>
        </p:nvSpPr>
        <p:spPr>
          <a:xfrm>
            <a:off x="5360000" y="560000"/>
            <a:ext cx="3544000" cy="24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380000" y="580000"/>
            <a:ext cx="3504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840000"/>
            <a:ext cx="3544000" cy="3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[전환 중심 CTA]: '프로젝트 제안 문의하기' 클릭 시 퀵 인콰이어리 모달 오버레이 가동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상단 네비게이션 및 푸터 전 영역에 Home, About Us, Works, Contact Us 일관 적용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  <a:defRPr sz="800">
                <a:latin typeface="Malgun Gothic"/>
              </a:defRPr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[엔터프라이즈 신뢰성]: 회사 공식 사업자 정보, 본사 위치, 대표 연락처 투명 공개</a:t>
            </a:r>
            <a:endParaRPr lang="en-US" sz="800" dirty="0"/>
          </a:p>
        </p:txBody>
      </p:sp>
      <p:sp>
        <p:nvSpPr>
          <p:cNvPr id="42" name="TextBox 41"/>
          <p:cNvSpPr txBox="1"/>
          <p:nvPr/>
        </p:nvSpPr>
        <p:spPr>
          <a:xfrm>
            <a:off x="700000" y="95000"/>
            <a:ext cx="94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60000" y="95000"/>
            <a:ext cx="3164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l"/>
            <a:r>
              <a:rPr sz="800" b="1">
                <a:solidFill>
                  <a:srgbClr val="080A10"/>
                </a:solidFill>
                <a:latin typeface="Malgun Gothic"/>
              </a:rPr>
              <a:t>메인 화면 - S.07 Outro CTA (미래지향적 제안)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000" y="95000"/>
            <a:ext cx="78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4000" y="95000"/>
            <a:ext cx="110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Full Bleed CTA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431720" y="69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431720" y="69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880" y="73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48328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26052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03776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1500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26480" y="74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06040" y="11793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WINHUB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06040" y="142627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연결하는 기술력, 엔터프라이즈의 성공을 이끄는 파트너십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706040" y="1682304"/>
            <a:ext cx="3840480" cy="1005840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3200" y="177374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GREETINGS &amp; PHILOSOPHY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"단순한 시스템 구축을 넘어 비즈니스의 성공적인 미래를 함께 설계합니다."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706040" y="2825304"/>
            <a:ext cx="914400" cy="594360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06040" y="3008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(Trust)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1693592" y="2825304"/>
            <a:ext cx="914400" cy="594360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693592" y="3008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(Tech)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2681144" y="2825304"/>
            <a:ext cx="914400" cy="594360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681144" y="3008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(Precision)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3668696" y="2825304"/>
            <a:ext cx="914400" cy="594360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668696" y="3008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시너지 (Synergy)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706040" y="3556824"/>
            <a:ext cx="3840480" cy="457200"/>
          </a:xfrm>
          <a:prstGeom prst="rect">
            <a:avLst/>
          </a:prstGeom>
          <a:solidFill>
            <a:srgbClr val="0E121C"/>
          </a:solidFill>
          <a:ln/>
        </p:spPr>
      </p:sp>
      <p:sp>
        <p:nvSpPr>
          <p:cNvPr id="44" name="Text 41"/>
          <p:cNvSpPr/>
          <p:nvPr/>
        </p:nvSpPr>
        <p:spPr>
          <a:xfrm>
            <a:off x="797480" y="36482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TIMELINE: 2010 창립 ──► 2018 대형 SI 확장 ──► 2026 차세대 SPA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560000"/>
            <a:ext cx="3544000" cy="24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80000" y="580000"/>
            <a:ext cx="3504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840000"/>
            <a:ext cx="3544000" cy="3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  <a:p>
            <a:pPr>
              <a:defRPr sz="800" b="1">
                <a:latin typeface="Malgun Gothic"/>
              </a:defRPr>
            </a:pPr>
            <a:r>
              <a:t>▶ [3D 비주얼 연동]:</a:t>
            </a:r>
          </a:p>
          <a:p>
            <a:pPr>
              <a:defRPr sz="800" b="0">
                <a:latin typeface="Malgun Gothic"/>
              </a:defRPr>
            </a:pPr>
            <a:r>
              <a:t>  · index_flux.html의 Three.js 궤도 회전 및 3D Canvas 비주얼 탑재</a:t>
            </a:r>
            <a:br/>
            <a:endParaRPr/>
          </a:p>
          <a:p>
            <a:pPr>
              <a:defRPr sz="800" b="1">
                <a:latin typeface="Malgun Gothic"/>
              </a:defRPr>
            </a:pPr>
            <a:r>
              <a:t>▶ [브랜드 비전]:</a:t>
            </a:r>
          </a:p>
          <a:p>
            <a:pPr>
              <a:defRPr sz="800" b="0">
                <a:latin typeface="Malgun Gothic"/>
              </a:defRPr>
            </a:pPr>
            <a:r>
              <a:t>  · 'WINHUB는 고객의 성장을 이끄는 혁신 IT 솔루션 기술 파트너입니다'</a:t>
            </a:r>
            <a:br/>
            <a:endParaRPr/>
          </a:p>
          <a:p>
            <a:pPr>
              <a:defRPr sz="800" b="1">
                <a:latin typeface="Malgun Gothic"/>
              </a:defRPr>
            </a:pPr>
            <a:r>
              <a:t>▶ [엔터프라이즈 신뢰 지표]:</a:t>
            </a:r>
          </a:p>
          <a:p>
            <a:pPr>
              <a:defRPr sz="800" b="0">
                <a:latin typeface="Malgun Gothic"/>
              </a:defRPr>
            </a:pPr>
            <a:r>
              <a:t>  · 99.98% 시스템 가동률 및 무결점 서비스 운영</a:t>
            </a:r>
            <a:br/>
            <a:r>
              <a:t>  · 50+ 국내외 대기업 엔터프라이즈 프로젝트 성공 레퍼런스</a:t>
            </a:r>
            <a:br/>
            <a:r>
              <a:t>  · 60FPS 무중단 인터랙티브 SPA 사용자 경험 제공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000" y="95000"/>
            <a:ext cx="94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60000" y="95000"/>
            <a:ext cx="3164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l"/>
            <a:r>
              <a:rPr sz="800" b="1">
                <a:solidFill>
                  <a:srgbClr val="080A10"/>
                </a:solidFill>
                <a:latin typeface="Malgun Gothic"/>
              </a:rPr>
              <a:t>서브페이지 - ABOUT US (기업 비전 &amp; 3D 비주얼 히어로)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000" y="95000"/>
            <a:ext cx="78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64000" y="95000"/>
            <a:ext cx="110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Vision &amp; 3D Spline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431720" y="69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431720" y="69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880" y="73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48328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26052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03776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1500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26480" y="74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06040" y="11793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06040" y="1481136"/>
            <a:ext cx="932688" cy="201168"/>
          </a:xfrm>
          <a:prstGeom prst="roundRect">
            <a:avLst/>
          </a:prstGeom>
          <a:solidFill>
            <a:srgbClr val="0EA5E9"/>
          </a:solidFill>
          <a:ln/>
        </p:spPr>
      </p:sp>
      <p:sp>
        <p:nvSpPr>
          <p:cNvPr id="33" name="Text 30"/>
          <p:cNvSpPr/>
          <p:nvPr/>
        </p:nvSpPr>
        <p:spPr>
          <a:xfrm>
            <a:off x="706040" y="1499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(18)</a:t>
            </a:r>
            <a:endParaRPr lang="en-US" sz="600" dirty="0"/>
          </a:p>
        </p:txBody>
      </p:sp>
      <p:sp>
        <p:nvSpPr>
          <p:cNvPr id="34" name="Shape 31"/>
          <p:cNvSpPr/>
          <p:nvPr/>
        </p:nvSpPr>
        <p:spPr>
          <a:xfrm>
            <a:off x="1693592" y="1481136"/>
            <a:ext cx="932688" cy="201168"/>
          </a:xfrm>
          <a:prstGeom prst="roundRect">
            <a:avLst/>
          </a:prstGeom>
          <a:solidFill>
            <a:srgbClr val="0E121C"/>
          </a:solidFill>
          <a:ln/>
        </p:spPr>
      </p:sp>
      <p:sp>
        <p:nvSpPr>
          <p:cNvPr id="35" name="Text 32"/>
          <p:cNvSpPr/>
          <p:nvPr/>
        </p:nvSpPr>
        <p:spPr>
          <a:xfrm>
            <a:off x="1693592" y="1499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SYSTEM (8)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2681144" y="1481136"/>
            <a:ext cx="932688" cy="201168"/>
          </a:xfrm>
          <a:prstGeom prst="roundRect">
            <a:avLst/>
          </a:prstGeom>
          <a:solidFill>
            <a:srgbClr val="0E121C"/>
          </a:solidFill>
          <a:ln/>
        </p:spPr>
      </p:sp>
      <p:sp>
        <p:nvSpPr>
          <p:cNvPr id="37" name="Text 34"/>
          <p:cNvSpPr/>
          <p:nvPr/>
        </p:nvSpPr>
        <p:spPr>
          <a:xfrm>
            <a:off x="2681144" y="1499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INTEGRATION (6)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3668696" y="1481136"/>
            <a:ext cx="932688" cy="201168"/>
          </a:xfrm>
          <a:prstGeom prst="roundRect">
            <a:avLst/>
          </a:prstGeom>
          <a:solidFill>
            <a:srgbClr val="0E121C"/>
          </a:solidFill>
          <a:ln/>
        </p:spPr>
      </p:sp>
      <p:sp>
        <p:nvSpPr>
          <p:cNvPr id="39" name="Text 36"/>
          <p:cNvSpPr/>
          <p:nvPr/>
        </p:nvSpPr>
        <p:spPr>
          <a:xfrm>
            <a:off x="3668696" y="1499424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SI (4)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706040" y="181946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Text 38"/>
          <p:cNvSpPr/>
          <p:nvPr/>
        </p:nvSpPr>
        <p:spPr>
          <a:xfrm>
            <a:off x="706040" y="18926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1666160" y="189261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POS &amp; SCO 셀프계산대 구축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632120" y="18926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</a:t>
            </a:r>
            <a:endParaRPr lang="en-US" sz="650" dirty="0"/>
          </a:p>
        </p:txBody>
      </p:sp>
      <p:sp>
        <p:nvSpPr>
          <p:cNvPr id="44" name="Shape 41"/>
          <p:cNvSpPr/>
          <p:nvPr/>
        </p:nvSpPr>
        <p:spPr>
          <a:xfrm>
            <a:off x="706040" y="236810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" name="Text 42"/>
          <p:cNvSpPr/>
          <p:nvPr/>
        </p:nvSpPr>
        <p:spPr>
          <a:xfrm>
            <a:off x="706040" y="24412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680" dirty="0"/>
          </a:p>
        </p:txBody>
      </p:sp>
      <p:sp>
        <p:nvSpPr>
          <p:cNvPr id="46" name="Text 43"/>
          <p:cNvSpPr/>
          <p:nvPr/>
        </p:nvSpPr>
        <p:spPr>
          <a:xfrm>
            <a:off x="1666160" y="244125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투자관리 시스템 구축 및 ERP 연동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3632120" y="24412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· SI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706040" y="291674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" name="Text 46"/>
          <p:cNvSpPr/>
          <p:nvPr/>
        </p:nvSpPr>
        <p:spPr>
          <a:xfrm>
            <a:off x="706040" y="29898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1666160" y="298989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신재무회계 및 스마트 간편결제 개발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3632120" y="29898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 · Fin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706040" y="346538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3" name="Text 50"/>
          <p:cNvSpPr/>
          <p:nvPr/>
        </p:nvSpPr>
        <p:spPr>
          <a:xfrm>
            <a:off x="706040" y="353853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>
            <a:off x="1666160" y="35385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전기차 충전 솔루션 API &amp; I/F 연동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3632120" y="353853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· API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706040" y="4059744"/>
            <a:ext cx="384048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7" name="Shape 54"/>
          <p:cNvSpPr/>
          <p:nvPr/>
        </p:nvSpPr>
        <p:spPr>
          <a:xfrm>
            <a:off x="5360000" y="560000"/>
            <a:ext cx="3544000" cy="24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380000" y="580000"/>
            <a:ext cx="3504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5360000" y="840000"/>
            <a:ext cx="3544000" cy="3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  <a:p>
            <a:pPr>
              <a:defRPr sz="800" b="1">
                <a:latin typeface="Malgun Gothic"/>
              </a:defRPr>
            </a:pPr>
            <a:r>
              <a:t>▶ [반응형 비주얼 그리드]:</a:t>
            </a:r>
          </a:p>
          <a:p>
            <a:pPr>
              <a:defRPr sz="800" b="0">
                <a:latin typeface="Malgun Gothic"/>
              </a:defRPr>
            </a:pPr>
            <a:r>
              <a:t>  · 기존 단순 리스트에서 2~3열 반응형 비주얼 카드 그리드로 전면 개편</a:t>
            </a:r>
            <a:br/>
            <a:endParaRPr/>
          </a:p>
          <a:p>
            <a:pPr>
              <a:defRPr sz="800" b="1">
                <a:latin typeface="Malgun Gothic"/>
              </a:defRPr>
            </a:pPr>
            <a:r>
              <a:t>▶ [실시간 카테고리 필터]:</a:t>
            </a:r>
          </a:p>
          <a:p>
            <a:pPr>
              <a:defRPr sz="800" b="0">
                <a:latin typeface="Malgun Gothic"/>
              </a:defRPr>
            </a:pPr>
            <a:r>
              <a:t>  · ALL / WEB / APP / ERP / SOLUTION 5대 카테고리 즉시 필터링</a:t>
            </a:r>
            <a:br/>
            <a:r>
              <a:t>  · GSAP Flip 모션 기반 부드러운 카드 재배치 애니메이션</a:t>
            </a:r>
            <a:br/>
            <a:endParaRPr/>
          </a:p>
          <a:p>
            <a:pPr>
              <a:defRPr sz="800" b="1">
                <a:latin typeface="Malgun Gothic"/>
              </a:defRPr>
            </a:pPr>
            <a:r>
              <a:t>▶ [호버 인터랙션]:</a:t>
            </a:r>
          </a:p>
          <a:p>
            <a:pPr>
              <a:defRPr sz="800" b="0">
                <a:latin typeface="Malgun Gothic"/>
              </a:defRPr>
            </a:pPr>
            <a:r>
              <a:t>  · 마우스 호버 시 1.05배 확대, 시안 네온 글로우 오버레이 및 기술 태그 노출</a:t>
            </a:r>
            <a:br/>
            <a:endParaRPr/>
          </a:p>
          <a:p>
            <a:pPr>
              <a:defRPr sz="800" b="1">
                <a:latin typeface="Malgun Gothic"/>
              </a:defRPr>
            </a:pPr>
            <a:r>
              <a:t>▶ [Git CMS 데이터 바인딩]:</a:t>
            </a:r>
          </a:p>
          <a:p>
            <a:pPr>
              <a:defRPr sz="800" b="0">
                <a:latin typeface="Malgun Gothic"/>
              </a:defRPr>
            </a:pPr>
            <a:r>
              <a:t>  · content/works/ 마크다운 및 썸네일 비동기 파싱 및 렌더링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0000" y="95000"/>
            <a:ext cx="94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60000" y="95000"/>
            <a:ext cx="3164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l"/>
            <a:r>
              <a:rPr sz="800" b="1">
                <a:solidFill>
                  <a:srgbClr val="080A10"/>
                </a:solidFill>
                <a:latin typeface="Malgun Gothic"/>
              </a:rPr>
              <a:t>서브페이지 - WORKS (반응형 비주얼 그리드 &amp; 카테고리 필터)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44000" y="95000"/>
            <a:ext cx="78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포트폴리오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64000" y="95000"/>
            <a:ext cx="110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Grid &amp; Decap CMS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431720" y="69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431720" y="69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880" y="73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48328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26052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03776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1500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26480" y="74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06040" y="113366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BACK TO WORKS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06040" y="13622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 차세대 POS 시스템 구축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06040" y="1682304"/>
            <a:ext cx="3840480" cy="1188720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88920" y="209378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UI Screen Showcase (Desktop / SCO / Mobile POS)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[High-Resolution Mockup Screen]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706040" y="3008184"/>
            <a:ext cx="1234440" cy="594360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7480" y="307219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97480" y="328250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031920" y="3008184"/>
            <a:ext cx="1234440" cy="594360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123360" y="307219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2123360" y="328250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2024.03 완료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357800" y="3008184"/>
            <a:ext cx="1234440" cy="594360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49240" y="307219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3449240" y="328250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 · SI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706040" y="37397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분석: Overview(개요) ──► Challenge(과제) ──► Solution(해결책)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560000"/>
            <a:ext cx="3544000" cy="24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80000" y="580000"/>
            <a:ext cx="3504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840000"/>
            <a:ext cx="3544000" cy="3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  <a:p>
            <a:pPr>
              <a:defRPr sz="800" b="1">
                <a:latin typeface="Malgun Gothic"/>
              </a:defRPr>
            </a:pPr>
            <a:r>
              <a:t>▶ [works-detail.html 상세 구조]:</a:t>
            </a:r>
          </a:p>
          <a:p>
            <a:pPr>
              <a:defRPr sz="800" b="0">
                <a:latin typeface="Malgun Gothic"/>
              </a:defRPr>
            </a:pPr>
            <a:r>
              <a:t>  · 프로젝트 메타: Title, Client (LX), Service (APP·UI/UX·Publishing·ERP)</a:t>
            </a:r>
            <a:br/>
            <a:r>
              <a:t>  · Date: 2021.03 (LX 창호재/완성창 통합관리 시스템)</a:t>
            </a:r>
            <a:br/>
            <a:endParaRPr/>
          </a:p>
          <a:p>
            <a:pPr>
              <a:defRPr sz="800" b="1">
                <a:latin typeface="Malgun Gothic"/>
              </a:defRPr>
            </a:pPr>
            <a:r>
              <a:t>▶ [Overview 및 아키텍처]:</a:t>
            </a:r>
          </a:p>
          <a:p>
            <a:pPr>
              <a:defRPr sz="800" b="0">
                <a:latin typeface="Malgun Gothic"/>
              </a:defRPr>
            </a:pPr>
            <a:r>
              <a:t>  · 완성창 판매/운영 통합 주문·배분·생산·운송·마감 올인원 ERP 시스템</a:t>
            </a:r>
            <a:br/>
            <a:endParaRPr/>
          </a:p>
          <a:p>
            <a:pPr>
              <a:defRPr sz="800" b="1">
                <a:latin typeface="Malgun Gothic"/>
              </a:defRPr>
            </a:pPr>
            <a:r>
              <a:t>▶ [1200px 와이드 쇼케이스]:</a:t>
            </a:r>
          </a:p>
          <a:p>
            <a:pPr>
              <a:defRPr sz="800" b="0">
                <a:latin typeface="Malgun Gothic"/>
              </a:defRPr>
            </a:pPr>
            <a:r>
              <a:t>  · 고해상도 전체 화면 프로젝트 이미지 스크롤 뷰어 연동</a:t>
            </a:r>
            <a:br/>
            <a:endParaRPr/>
          </a:p>
          <a:p>
            <a:pPr>
              <a:defRPr sz="800" b="1">
                <a:latin typeface="Malgun Gothic"/>
              </a:defRPr>
            </a:pPr>
            <a:r>
              <a:t>▶ [양방향 프로젝트 네비게이션]:</a:t>
            </a:r>
          </a:p>
          <a:p>
            <a:pPr>
              <a:defRPr sz="800" b="0">
                <a:latin typeface="Malgun Gothic"/>
              </a:defRPr>
            </a:pPr>
            <a:r>
              <a:t>  · PREV PROJECT ◀ | 목록으로 ▦ | ▶ NEXT PROJECT 유기적 순환 이동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000" y="95000"/>
            <a:ext cx="94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60000" y="95000"/>
            <a:ext cx="3164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l"/>
            <a:r>
              <a:rPr sz="800" b="1">
                <a:solidFill>
                  <a:srgbClr val="080A10"/>
                </a:solidFill>
                <a:latin typeface="Malgun Gothic"/>
              </a:rPr>
              <a:t>서브페이지 - WORKS DETAIL (LX 완성창 ERP &amp; KT 상세)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000" y="95000"/>
            <a:ext cx="78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프로젝트상세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64000" y="95000"/>
            <a:ext cx="110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1200px Showcase &amp; Nav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431720" y="694752"/>
            <a:ext cx="4480560" cy="3218688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24" name="Shape 21"/>
          <p:cNvSpPr/>
          <p:nvPr/>
        </p:nvSpPr>
        <p:spPr>
          <a:xfrm>
            <a:off x="431720" y="694752"/>
            <a:ext cx="4480560" cy="256032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880" y="7313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48328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26052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03776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815000" y="7404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226480" y="7404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06040" y="11793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LET'S WORK TOGETHER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06040" y="1499424"/>
            <a:ext cx="1920240" cy="2377440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7480" y="160915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FORM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797480" y="1846896"/>
            <a:ext cx="1737360" cy="256032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3200" y="189261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성함 / 회사명</a:t>
            </a:r>
            <a:endParaRPr lang="en-US" sz="620" dirty="0"/>
          </a:p>
        </p:txBody>
      </p:sp>
      <p:sp>
        <p:nvSpPr>
          <p:cNvPr id="36" name="Shape 33"/>
          <p:cNvSpPr/>
          <p:nvPr/>
        </p:nvSpPr>
        <p:spPr>
          <a:xfrm>
            <a:off x="797480" y="2230944"/>
            <a:ext cx="1737360" cy="256032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43200" y="2276664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/ 이메일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797480" y="2614992"/>
            <a:ext cx="1737360" cy="256032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43200" y="266071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유형 (POS/ERP/SI)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797480" y="2999040"/>
            <a:ext cx="1737360" cy="256032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3200" y="304476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및 예상 일정</a:t>
            </a:r>
            <a:endParaRPr lang="en-US" sz="620" dirty="0"/>
          </a:p>
        </p:txBody>
      </p:sp>
      <p:sp>
        <p:nvSpPr>
          <p:cNvPr id="42" name="Shape 39"/>
          <p:cNvSpPr/>
          <p:nvPr/>
        </p:nvSpPr>
        <p:spPr>
          <a:xfrm>
            <a:off x="2763440" y="1499424"/>
            <a:ext cx="196596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586400" y="2139504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4" name="Text 41"/>
          <p:cNvSpPr/>
          <p:nvPr/>
        </p:nvSpPr>
        <p:spPr>
          <a:xfrm>
            <a:off x="2854880" y="259670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Map API Container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[WINHUB Corporate HQ]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경기도 고양시 일산동구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5360000" y="560000"/>
            <a:ext cx="3544000" cy="24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80000" y="580000"/>
            <a:ext cx="3504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840000"/>
            <a:ext cx="3544000" cy="3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  <a:p>
            <a:pPr>
              <a:defRPr sz="800" b="1">
                <a:latin typeface="Malgun Gothic"/>
              </a:defRPr>
            </a:pPr>
            <a:r>
              <a:t>▶ [스마트 프로젝트 견적 폼]:</a:t>
            </a:r>
          </a:p>
          <a:p>
            <a:pPr>
              <a:defRPr sz="800" b="0">
                <a:latin typeface="Malgun Gothic"/>
              </a:defRPr>
            </a:pPr>
            <a:r>
              <a:t>  · 서비스 선택(웹/앱/ERP/솔루션), 예산, 일정, 첨부파일 인터랙티브 입력</a:t>
            </a:r>
            <a:br/>
            <a:endParaRPr/>
          </a:p>
          <a:p>
            <a:pPr>
              <a:defRPr sz="800" b="1">
                <a:latin typeface="Malgun Gothic"/>
              </a:defRPr>
            </a:pPr>
            <a:r>
              <a:t>▶ [본사 위치 지도 연동]:</a:t>
            </a:r>
          </a:p>
          <a:p>
            <a:pPr>
              <a:defRPr sz="800" b="0">
                <a:latin typeface="Malgun Gothic"/>
              </a:defRPr>
            </a:pPr>
            <a:r>
              <a:t>  · 카카오맵/네이버지도 API 연동 및 오시는 길(마두역 4번출구) 안내</a:t>
            </a:r>
            <a:br/>
            <a:endParaRPr/>
          </a:p>
          <a:p>
            <a:pPr>
              <a:defRPr sz="800" b="1">
                <a:latin typeface="Malgun Gothic"/>
              </a:defRPr>
            </a:pPr>
            <a:r>
              <a:t>▶ [공식 연락처 직통 안내]:</a:t>
            </a:r>
          </a:p>
          <a:p>
            <a:pPr>
              <a:defRPr sz="800" b="0">
                <a:latin typeface="Malgun Gothic"/>
              </a:defRPr>
            </a:pPr>
            <a:r>
              <a:t>  · 대표 이메일: contact@winhub.co.kr | 대표 전화: 031-908-7711</a:t>
            </a:r>
            <a:br/>
            <a:r>
              <a:t>  · 주소: 경기도 고양시 일산동구 백마로 195 SK M-City 섹션 9005호</a:t>
            </a:r>
            <a:br/>
            <a:endParaRPr/>
          </a:p>
          <a:p>
            <a:pPr>
              <a:defRPr sz="800" b="1">
                <a:latin typeface="Malgun Gothic"/>
              </a:defRPr>
            </a:pPr>
            <a:r>
              <a:t>▶ [글로벌 푸터 시스템 탑재]:</a:t>
            </a:r>
          </a:p>
          <a:p>
            <a:pPr>
              <a:defRPr sz="800" b="0">
                <a:latin typeface="Malgun Gothic"/>
              </a:defRPr>
            </a:pPr>
            <a:r>
              <a:t>  · EXPLORE, LIBRARY, LEGAL, CONTACT 4개 컬럼 메뉴 및 SNS 바인딩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000" y="95000"/>
            <a:ext cx="94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60000" y="95000"/>
            <a:ext cx="3164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l"/>
            <a:r>
              <a:rPr sz="800" b="1">
                <a:solidFill>
                  <a:srgbClr val="080A10"/>
                </a:solidFill>
                <a:latin typeface="Malgun Gothic"/>
              </a:rPr>
              <a:t>서브페이지 - CONTACT US (스마트 견적 폼 &amp; 본사 오시는 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000" y="95000"/>
            <a:ext cx="78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문의하기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64000" y="95000"/>
            <a:ext cx="1100000" cy="23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Smart Form &amp; Map API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800"/>
            </a:pPr>
            <a:r>
              <a:t>WINHUB RENEWAL INTEGRATED SPECIFICATION · CoMinVi 벤치마크 기반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 sz="850"/>
            </a:pPr>
            <a:r>
              <a:t>카피라이팅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국/영문 심볼릭 카피라이팅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 비디오 무드와 CoMinVi 기술적 명확성을 결합한 완성형 카피 명세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섹션 / Act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영문 메인 헤드라인 (Headline)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국문 내러티브 서브텍스트 (Subtext)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핵심 상징 키워드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1 (Hero)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CONNECTS TO EMPOWER YOUR SUCCESS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미래를 여는 디지털 키(Gateway)로 고객 비즈니스의 성공적 도약을 견인합니다.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#futuristic_key #연결 #도약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2 (S.01)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ORCHESTRATING ENTERPRISE INTELLIGENCE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AI · 클라우드 · 빅데이터 아키텍처를 엔터프라이즈 환경에 최적화하여 구현합니다.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#신경망 #AI코어 #클라우드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3 (S.02)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PRECISION AT SCALE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고객 비즈니스 환경을 정밀 분석해 컨설팅부터 시스템 구축 및 운영 로드맵을 설계합니다.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#레이더스캔 #정밀분석 #맞춤전략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4 (S.03)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VERIFIED MOMENTUM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다년간 축적된 대형 SI 프로젝트 노하우와 검증된 방법론으로 무결점 납기를 보증합니다.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#육각쉴드 #품질보증 #무결점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5 (S.04)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THE CONVERGED CORE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기술 리더십 · 고객 맞춤 전략 · 검증된 수행력이 결합하여 압도적 시너지를 완성합니다.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#퀀텀코어 #에너지수렴 #시너지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6 (S.05)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NUMBERS THAT PROVE LEADERSHIP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99.98% 시스템 가동률, 15+년 엔터프라이즈 SI 노하우, 50+ 대기업 파트너 레퍼런스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#실적수치 #가동률 #엔터프라이즈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7 (Outro)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READY TO EMPOWER YOUR FUTURE?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단순한 시스템 구축을 넘어, 비즈니스의 성공적인 디지털 전환을 지금 시작하십시오.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#프로젝트제안 #상담문의 #전환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800"/>
            </a:pPr>
            <a:r>
              <a:t>WINHUB RENEWAL INTEGRATED SPECIFICATION · CoMinVi 벤치마크 기반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 sz="850"/>
            </a:pPr>
            <a:r>
              <a:t>기술 아키텍처 및 파이프라인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SPA 구현 기술 스택 및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60FPS 렌더링과 저사양 기기 최적화를 동시에 만족하는 아키텍처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807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Video Background Engine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0" y="13624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배경 비디오 최적화 파이프라인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HTML5 &lt;video autoplay muted loop playsinline&gt; 태그 및 65% 어두운 그라디언트 오버레이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MP4 H.264 하드웨어 디코딩 가속을 통해 CPU 점유율을 5% 미만으로 억제하며 60FPS 재생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221284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GSAP 3.12 + ScrollTrigger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0" y="22311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스크롤 타임라인 오케스트레이션 (Pinning)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섹션마다 pin: true, scrub: 1 적용으로 스크롤 속도와 씬 모션을 1:1 동기화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및 SVG 스트림이 독립적인 타임라인에 맞추어 순차적으로 등장하는 타임라인 체이닝 구현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308152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1181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Three.js r164 (WebGL 2.0)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08960" y="309981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 연출 및 실시간 궤도 회전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0896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퀀텀 캡슐 및 3중 궤도 링의 실시간 마우스 시선 추적 및 스크롤 연동 회전 연산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LERP 선형 보간 알고리즘으로 끊김 없는 부드러움과 몰입형 입체감 보장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40080" y="395020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Single Page Architecture (SPA)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0" y="396849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새로고침 없는 유기적 사용자 경험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0896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메뉴(Home, About Us, Works, Contact Us) 이동 시에도 전체 화면이 깜빡이지 않고 DOM 모핑 전환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백드롭 블러 풀스크린 커튼 드로어로 모바일과 데스크톱 모두에서 일관된 프리미엄 UX 제공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800"/>
            </a:pPr>
            <a:r>
              <a:rPr lang="en-US" altLang="ko-KR" sz="800"/>
              <a:t>WINHUB </a:t>
            </a:r>
            <a:r>
              <a:rPr lang="ko-KR" altLang="en-US" sz="800"/>
              <a:t>웹사이트 리뉴얼 통합 기획서 </a:t>
            </a:r>
            <a:r>
              <a:rPr lang="en-US" altLang="ko-KR" sz="800"/>
              <a:t>(CoMinVi </a:t>
            </a:r>
            <a:r>
              <a:rPr lang="ko-KR" altLang="en-US" sz="800"/>
              <a:t>기반</a:t>
            </a:r>
            <a:r>
              <a:rPr lang="en-US" altLang="ko-KR" sz="800"/>
              <a:t>)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 sz="850"/>
            </a:pPr>
            <a:r>
              <a:rPr lang="ko-KR" altLang="en-US" sz="850"/>
              <a:t>구축 및 배포 로드맵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스프레드시트 연동 </a:t>
            </a:r>
            <a:r>
              <a:rPr lang="en-US" altLang="ko-KR" sz="8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8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실행 일정 및 배포 마일스톤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확정부터 비디오/인터랙션 퍼블리싱, 최적화 및 런칭까지 4단계 실행 계획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CoMinVi Architecture &amp; Video Asset Combined Spec v1.0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0" y="4901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GNB: [ Home · About Us · Works · Contact Us ]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(10/14~10/20)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 에셋 &amp; 기획 컨펌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 통합 기획서 및 GNB 4대 메뉴 최종 컨펌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futuristic_key.mp4 인코딩 및 WebGL 경량화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영문/국문 카피라이팅 및 SVG 심볼 에셋 확정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542032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679192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79192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(10/21~10/27)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7919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핀 스크롤 퍼블리싱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679192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 비디오 배경 및 Three.js 카메라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 핀 스크롤 및 에너지 스트림 개발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CoMinVi 스타일 2x3 무박스 수치 카운트업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26864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64024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64024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(10/28~11/03)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40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연동 &amp; 서브 구축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64024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포트폴리오 비동기 바인딩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Us, Works Detail, Contact Us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60FPS 성능 튜닝 및 웹 접근성 메타태그 적용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711696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48856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48856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(11/04~11/06)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48856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4.1 WORKS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CMS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Decap/Netlify CMS &amp; GitHub API
  - content/works/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자동 커밋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
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4.2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테스트 및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Vercel/Netlify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CI/CD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파이프라인 트리거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엣지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CDN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SSL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적용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도메인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(winhub.co.kr)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릴리즈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48856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CI/CD 파이프라인 자동 배포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도메인(winhub.co.kr) 연결 및 SSL 보안 인증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Analytics 및 전환 추적 픽셀 세팅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5480</Words>
  <Application>Microsoft Office PowerPoint</Application>
  <PresentationFormat>화면 슬라이드 쇼(16:9)</PresentationFormat>
  <Paragraphs>796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웹사이트 리뉴얼 화면설계 및 기술전략 통합 기획서</dc:title>
  <dc:subject>CoMinVi 벤치마킹 분석 + 와이어프레임 + futuristic_key.mp4 비디오 에셋 통합본</dc:subject>
  <dc:creator>WINHUB Strategy &amp; Planning Group</dc:creator>
  <cp:lastModifiedBy>db</cp:lastModifiedBy>
  <cp:revision>2</cp:revision>
  <dcterms:created xsi:type="dcterms:W3CDTF">2026-10-16T06:28:46Z</dcterms:created>
  <dcterms:modified xsi:type="dcterms:W3CDTF">2026-10-19T01:11:20Z</dcterms:modified>
</cp:coreProperties>
</file>