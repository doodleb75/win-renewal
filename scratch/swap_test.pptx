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6"/>
    <p:sldId id="272" r:id="rId15"/>
    <p:sldId id="274" r:id="rId17"/>
    <p:sldId id="275" r:id="rId18"/>
    <p:sldId id="282" r:id="rId19"/>
    <p:sldId id="276" r:id="rId20"/>
    <p:sldId id="277" r:id="rId21"/>
    <p:sldId id="278" r:id="rId22"/>
    <p:sldId id="279" r:id="rId23"/>
    <p:sldId id="280" r:id="rId24"/>
    <p:sldId id="281" r:id="rId25"/>
    <p:sldId id="283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1616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일반 보고서 (DEFAULT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스토리보드 명세서 (COMBINE_MASTER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aster_Metadata_Table_Form">
            <a:extLst>
              <a:ext uri="{FF2B5EF4-FFF2-40B4-BE49-F238E27FC236}">
                <a16:creationId xmlns:a16="http://schemas.microsoft.com/office/drawing/2014/main" id="{EB6F77B0-0C54-F62F-1DC8-1A6C62E8305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00035570"/>
              </p:ext>
            </p:extLst>
          </p:nvPr>
        </p:nvGraphicFramePr>
        <p:xfrm>
          <a:off x="160000" y="140000"/>
          <a:ext cx="8824000" cy="29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0000">
                  <a:extLst>
                    <a:ext uri="{9D8B030D-6E8A-4147-A177-3AD203B41FA5}">
                      <a16:colId xmlns:a16="http://schemas.microsoft.com/office/drawing/2014/main" val="4208974757"/>
                    </a:ext>
                  </a:extLst>
                </a:gridCol>
                <a:gridCol w="920000">
                  <a:extLst>
                    <a:ext uri="{9D8B030D-6E8A-4147-A177-3AD203B41FA5}">
                      <a16:colId xmlns:a16="http://schemas.microsoft.com/office/drawing/2014/main" val="3741224681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848173020"/>
                    </a:ext>
                  </a:extLst>
                </a:gridCol>
                <a:gridCol w="3104000">
                  <a:extLst>
                    <a:ext uri="{9D8B030D-6E8A-4147-A177-3AD203B41FA5}">
                      <a16:colId xmlns:a16="http://schemas.microsoft.com/office/drawing/2014/main" val="3466542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72118761"/>
                    </a:ext>
                  </a:extLst>
                </a:gridCol>
                <a:gridCol w="760000">
                  <a:extLst>
                    <a:ext uri="{9D8B030D-6E8A-4147-A177-3AD203B41FA5}">
                      <a16:colId xmlns:a16="http://schemas.microsoft.com/office/drawing/2014/main" val="1244195240"/>
                    </a:ext>
                  </a:extLst>
                </a:gridCol>
                <a:gridCol w="960000">
                  <a:extLst>
                    <a:ext uri="{9D8B030D-6E8A-4147-A177-3AD203B41FA5}">
                      <a16:colId xmlns:a16="http://schemas.microsoft.com/office/drawing/2014/main" val="2973293230"/>
                    </a:ext>
                  </a:extLst>
                </a:gridCol>
                <a:gridCol w="1120000">
                  <a:extLst>
                    <a:ext uri="{9D8B030D-6E8A-4147-A177-3AD203B41FA5}">
                      <a16:colId xmlns:a16="http://schemas.microsoft.com/office/drawing/2014/main" val="3110770952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ID</a:t>
                      </a:r>
                      <a:endParaRPr lang="ko-KR" altLang="en-US" sz="850" b="1">
                        <a:solidFill>
                          <a:srgbClr val="080A1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UI </a:t>
                      </a:r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명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50" b="1">
                          <a:solidFill>
                            <a:srgbClr val="080A10"/>
                          </a:solidFill>
                          <a:latin typeface="Malgun Gothic" panose="020B0503020000020004" pitchFamily="50" charset="-127"/>
                        </a:rPr>
                        <a:t>화면 구분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080A10"/>
                          </a:solidFill>
                          <a:latin typeface="Malgun Gothic"/>
                        </a:rPr>
                        <a:t>페이지명.html</a:t>
                      </a:r>
                    </a:p>
                  </a:txBody>
                  <a:tcPr marL="25400" marR="25400" marT="12700" marB="12700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1">
                        <a:latin typeface="Malgun Gothic" panose="020B0503020000020004" pitchFamily="50" charset="-127"/>
                      </a:endParaRPr>
                    </a:p>
                  </a:txBody>
                  <a:tcPr marL="254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111950"/>
                  </a:ext>
                </a:extLst>
              </a:tr>
            </a:tbl>
          </a:graphicData>
        </a:graphic>
      </p:graphicFrame>
      <p:sp>
        <p:nvSpPr>
          <p:cNvPr id="3" name="Master_Table_Border">
            <a:extLst>
              <a:ext uri="{FF2B5EF4-FFF2-40B4-BE49-F238E27FC236}">
                <a16:creationId xmlns:a16="http://schemas.microsoft.com/office/drawing/2014/main" id="{9B7729AE-8093-EF89-82FC-246CEBC6CFA7}"/>
              </a:ext>
            </a:extLst>
          </p:cNvPr>
          <p:cNvSpPr/>
          <p:nvPr userDrawn="1"/>
        </p:nvSpPr>
        <p:spPr>
          <a:xfrm>
            <a:off x="160000" y="140000"/>
            <a:ext cx="8824000" cy="287020"/>
          </a:xfrm>
          <a:prstGeom prst="rect">
            <a:avLst/>
          </a:prstGeom>
          <a:noFill/>
          <a:ln w="12700" cap="flat" cmpd="sng" algn="ctr">
            <a:solidFill>
              <a:srgbClr val="94A3B8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Master_WF_Background">
            <a:extLst>
              <a:ext uri="{FF2B5EF4-FFF2-40B4-BE49-F238E27FC236}">
                <a16:creationId xmlns:a16="http://schemas.microsoft.com/office/drawing/2014/main" id="{6D80B27E-91B6-C202-65F5-AA288290C3E7}"/>
              </a:ext>
            </a:extLst>
          </p:cNvPr>
          <p:cNvSpPr/>
          <p:nvPr userDrawn="1"/>
        </p:nvSpPr>
        <p:spPr>
          <a:xfrm>
            <a:off x="160000" y="540000"/>
            <a:ext cx="5020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Master_WF_Header">
            <a:extLst>
              <a:ext uri="{FF2B5EF4-FFF2-40B4-BE49-F238E27FC236}">
                <a16:creationId xmlns:a16="http://schemas.microsoft.com/office/drawing/2014/main" id="{C96A5BBE-E2FE-FF3D-4DEB-025DCC611958}"/>
              </a:ext>
            </a:extLst>
          </p:cNvPr>
          <p:cNvSpPr/>
          <p:nvPr userDrawn="1"/>
        </p:nvSpPr>
        <p:spPr>
          <a:xfrm>
            <a:off x="160000" y="540000"/>
            <a:ext cx="5020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화면 설계 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와이어프레임</a:t>
            </a:r>
            <a:r>
              <a:rPr lang="en-US" altLang="ko-KR" sz="950" b="1">
                <a:solidFill>
                  <a:srgbClr val="080A10"/>
                </a:solidFill>
                <a:latin typeface="Malgun Gothic" panose="020B0503020000020004" pitchFamily="50" charset="-127"/>
              </a:rPr>
              <a:t>)</a:t>
            </a:r>
            <a:endParaRPr lang="ko-KR" altLang="en-US" sz="9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Master_Spec_Background">
            <a:extLst>
              <a:ext uri="{FF2B5EF4-FFF2-40B4-BE49-F238E27FC236}">
                <a16:creationId xmlns:a16="http://schemas.microsoft.com/office/drawing/2014/main" id="{9E3162E2-D118-B241-C0FF-565A2481C4A3}"/>
              </a:ext>
            </a:extLst>
          </p:cNvPr>
          <p:cNvSpPr/>
          <p:nvPr userDrawn="1"/>
        </p:nvSpPr>
        <p:spPr>
          <a:xfrm>
            <a:off x="5280000" y="540000"/>
            <a:ext cx="3704000" cy="4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Master_Spec_Header">
            <a:extLst>
              <a:ext uri="{FF2B5EF4-FFF2-40B4-BE49-F238E27FC236}">
                <a16:creationId xmlns:a16="http://schemas.microsoft.com/office/drawing/2014/main" id="{B620E5CB-86EB-A017-E307-569F2A7481FB}"/>
              </a:ext>
            </a:extLst>
          </p:cNvPr>
          <p:cNvSpPr/>
          <p:nvPr userDrawn="1"/>
        </p:nvSpPr>
        <p:spPr>
          <a:xfrm>
            <a:off x="5280000" y="540000"/>
            <a:ext cx="3704000" cy="240000"/>
          </a:xfrm>
          <a:prstGeom prst="rect">
            <a:avLst/>
          </a:prstGeom>
          <a:solidFill>
            <a:srgbClr val="E2E8F0"/>
          </a:solidFill>
          <a:ln w="10160"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rtlCol="0" anchor="ctr"/>
          <a:lstStyle/>
          <a:p>
            <a:pPr algn="l"/>
            <a:r>
              <a:rPr lang="ko-KR" altLang="en-US" sz="950" b="1">
                <a:solidFill>
                  <a:srgbClr val="080A10"/>
                </a:solidFill>
                <a:latin typeface="Malgun Gothic" panose="020B0503020000020004" pitchFamily="50" charset="-127"/>
              </a:rPr>
              <a:t>상세 기능 스펙 및 개발 적용 방안</a:t>
            </a:r>
          </a:p>
        </p:txBody>
      </p:sp>
      <p:sp>
        <p:nvSpPr>
          <p:cNvPr id="8" name="Master_Footer_Line">
            <a:extLst>
              <a:ext uri="{FF2B5EF4-FFF2-40B4-BE49-F238E27FC236}">
                <a16:creationId xmlns:a16="http://schemas.microsoft.com/office/drawing/2014/main" id="{4F404068-1B5D-1D94-81DC-0AE270217CBE}"/>
              </a:ext>
            </a:extLst>
          </p:cNvPr>
          <p:cNvSpPr/>
          <p:nvPr userDrawn="1"/>
        </p:nvSpPr>
        <p:spPr>
          <a:xfrm>
            <a:off x="160000" y="4800000"/>
            <a:ext cx="88240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5303520" cy="292608"/>
          </a:xfrm>
          <a:prstGeom prst="roundRect">
            <a:avLst>
              <a:gd name="adj" fmla="val 5000"/>
            </a:avLst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950976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WEB ARCHITECTURE · 5-ACT STORYTELLING · COMPLETE COMBINED SPEC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</a:t>
            </a:r>
            <a:endParaRPr lang="en-US" sz="2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화면설계 및 기술전략 통합 기획서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이식 · 5단계 스토리보드 와이어프레임 · futuristic_key.mp4 비디오 에셋 통합본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7680960" cy="10973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 TYPE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UI/UX Storyboard + 차세대 인터랙티브 Architecture Integrated Spec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383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STANDARD (4대 메뉴)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63440" y="3584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 · About Us · Works · Contact Us (엄격 고정)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HERO VIDEO ASSET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152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c:\win-renewal\assets\mp4\futuristic_key.mp4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&amp; DATE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224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v1.0 Combined Final · 2026. 10.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기획서 구성 및 목차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기술 분석부터 5단계 스토리보드, 비디오 에셋 연동 및 실행 계획까지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50876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개요 및 리뉴얼 추진 배경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정적 카탈로그 웹의 한계와 인터랙티브 SPA로의 전환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비주얼(3D WebGL) &amp; 차세대 인터랙티브(엔지니어링 신뢰) 통합 모델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54880" y="1344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754880" y="1362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669280" y="1344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딥다이브 분석 보고서 이식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618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영구 지속형 헤더 및 비동기 PJAX 화면 전환 라이프사이클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관성 버추얼 스크롤(Lenis) &amp; 뷰포트 핀 고정(Pinning &amp; Scrubbing)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공간 배치 혁신: '카드 박스 배제' vs '1px 건축적 헤어라인 그리드'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9436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III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50876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정보구조(IA) &amp; GNB 4대 메뉴 체계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고정 구조: [ Home · About Us · Works · Contact Us ]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풀스크린 에디토리얼 커튼 드로어 메뉴 인터랙션 명세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2377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754880" y="2487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54880" y="2505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IV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69280" y="2487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화면설계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2761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Hero: futuristic_key.mp4 미래지향적 비디오 게이트웨이 연동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S.01~S.02: 심플 SVG(AI 칩셋·레이더) 모션 &amp; 앰비언트 무드 배경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sz="750">
                <a:solidFill>
                  <a:srgbClr val="64748B"/>
                </a:solidFill>
                <a:latin typeface="Malgun Gothic"/>
              </a:rPr>
              <a:t>· S.03~S.05: 차세대 인터랙티브 2x3 수치 그리드 &amp; 실적 쇼케이스 CTA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59436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9436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50876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서브페이지 상세 화면설계 및 적용방안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 (기업 비전 &amp; 연혁 타임라인)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Works List &amp; Detail (ABC마트 등 3단 심층 아키텍처)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Contact Us (온라인 견적 의뢰 &amp; 카카오맵 연동)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3520440"/>
            <a:ext cx="402336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4754880" y="3630168"/>
            <a:ext cx="82296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4754880" y="36484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VI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69280" y="363016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시스템, 기술 규격 및 로드맵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90448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 통합 국/영문 심볼릭 카피라이팅 매트릭스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Three.js, GSAP 3.12, Video Player 기술 파이프라인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 구축 및 런칭 마일스톤 (Phase 1 ~ Phase 4)</a:t>
            </a:r>
            <a:endParaRPr lang="en-US" sz="750" dirty="0"/>
          </a:p>
        </p:txBody>
      </p:sp>
      <p:sp>
        <p:nvSpPr>
          <p:cNvPr id="41" name="Footer_PageNumber_2">
            <a:extLst>
              <a:ext uri="{FF2B5EF4-FFF2-40B4-BE49-F238E27FC236}">
                <a16:creationId xmlns:a16="http://schemas.microsoft.com/office/drawing/2014/main" id="{21CF1777-4D9A-4ED3-8F5D-AD37DF0AE25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기획 요약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패러다임의 전환: 단순 홍보 웹에서 '스토리텔링 SPA'로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SI/IT 기업 웹사이트의 한계를 극복하고 고객의 몰입을 이끄는 스토리텔링의 본질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정적 웹사이트 (Static Catalog)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기능 나열 및 카탈로그식 접근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수많은 텍스트와 박스형 카드들이 무분별하게 나열됨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방문자는 5초 이내에 지루함을 느끼고 이탈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기업이 가진 기술적 깊이와 문제 해결 능력을 체감하기 어려움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0F9F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42900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2900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STORYTELLING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스토리텔링의 마법 (Narrative Immersion)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= 사용자가 직접 전개하는 탐험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2900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42900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다운이 단순 화면 넘김이 아닌 '스토리의 다음 챕터'를 여는 트리거로 작동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'문제 제기 → 기술 아키텍처 → 정밀 솔루션 → 신뢰 증명 → 통합 시너지'로 이어지는 극적 긴장감 형성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사용자가 회사의 기술 여정에 동참하는 경험 선사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1371600" cy="2286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차세대 SPA (Interactive Hub)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103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시네마틱 3D 비주얼 + 엔터프라이즈 신뢰 지표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17920" y="2377440"/>
            <a:ext cx="22860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217920" y="246888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futuristic_key.mp4 비디오와 Three.js가 시각적 압도감 제공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99.98% 가동률, 50+ 대기업 레퍼런스 등 구체적 수치로 설득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강력한 B2B 프로젝트 제안 문의 전환(Conversion) 창출</a:t>
            </a:r>
            <a:endParaRPr lang="en-US" sz="800" dirty="0"/>
          </a:p>
        </p:txBody>
      </p:sp>
      <p:sp>
        <p:nvSpPr>
          <p:cNvPr id="32" name="Footer_PageNumber_3">
            <a:extLst>
              <a:ext uri="{FF2B5EF4-FFF2-40B4-BE49-F238E27FC236}">
                <a16:creationId xmlns:a16="http://schemas.microsoft.com/office/drawing/2014/main" id="{DFA58A67-D19A-42A1-22E9-FC284A8FFE6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- 3 -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유기적인 페이지 이동 및 네비게이팅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없는 무중단 화면 전환(Seamless Continuity)과 풀스크린 커튼 드로어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1325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영구 지속형 헤더 (Persistent Fixed Header)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1600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position: fixed로 최상단에 영구 앵커링되어 안정적 탐색권 보장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스크롤 시작 시 backdrop-filter: blur(16px) 및 반투명 다크 배경(0.85) 활성화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본문 콘텐츠와의 시각적 간섭을 원천 차단하며 로고/상태/메뉴 3단 구조 유지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WINHUB GNB 4대 메뉴 [Home · About Us · Works · Contact Us] 직관적 노출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40080" y="2487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2468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풀스크린 커튼 드로어 (Curtain Overlay Drawer)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좁은 드롭다운을 탈피하여 화면 전체(100vw x 100vh)를 덮는 웅장한 오버레이 전개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메뉴 텍스트: 아래에서 위로 밀려 올라오는 스태거(Stagger) 마스크 리빌(Clip-path)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대형 볼드 디스플레이 폰트(Grotesque Sans-Serif)를 적용하여 압도적 브랜드 각인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ESC 키 감지 및 외부 클릭 시 0.4초 만에 부드럽게 닫히는 키보드 접근성 완비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45720" cy="201168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비동기 PJAX / View Transitions 라우팅 라이프사이클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7680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1단계: 사용자 링크 클릭 시 e.preventDefault()로 브라우저 하드 리로드 차단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2단계: 기존 페이지 Exit 애니메이션 (텍스트 Fade Out + 커튼 와이프)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3단계: fetch()로 신규 HTML 파싱 (Three.js 캔버스, 헤더 상태는 언마운트 없이 유지)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4단계: 내부 main#content 영역만 1:1 모핑 교체 후 ScrollTop = 0 리셋</a:t>
            </a:r>
            <a:endParaRPr lang="en-US" sz="7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5단계: 신규 페이지 ScrollTrigger 인스턴스 재생성 및 진입 애니메이션 실행</a:t>
            </a:r>
            <a:endParaRPr lang="en-US" sz="750" dirty="0"/>
          </a:p>
        </p:txBody>
      </p:sp>
      <p:sp>
        <p:nvSpPr>
          <p:cNvPr id="23" name="Footer_PageNumber_4">
            <a:extLst>
              <a:ext uri="{FF2B5EF4-FFF2-40B4-BE49-F238E27FC236}">
                <a16:creationId xmlns:a16="http://schemas.microsoft.com/office/drawing/2014/main" id="{A2124EA5-134C-5732-3377-5DFDB85FF922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- 4 -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UX 설계 02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스토리가 있는 스크롤 애니메이션 메커니즘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스크롤(Lenis LERP)과 300~500vh 뷰포트 핀 고정(Pinning &amp; Scrubbing)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관성 버추얼 스크롤 (Inertial Smooth Scroll)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00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휠의 딱딱한 계단 현상을 제거하는 선형 보간(LERP)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4008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Current = Current + (Target - Current) * DampingFactor (0.1)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4008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일반 마우스 휠의 100px 급격한 끊김을 지우고, 마우스를 멈추어도 부드러운 마찰력으로 감속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영화 필름을 손으로 조작하는 듯한 묵직한 아날로그 조작감 제공 (Lenis 60FPS 최적화)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4612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42900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42900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2900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뷰포트 핀 고정 &amp; 타임라인 스크럽 (Pinning &amp; Scrubbing)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진행률(0.0 ~ 1.0)과 1:1 동기화되는 4단계 인터랙션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2900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Timeline (pin: true, scrub: 1, end: '+=400%')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화면이 아래로 밀려나지 않고 뷰포트에 완전히 잠긴 채, 휠 스크롤에 따라 텍스트가 순차 교체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3D 오브젝트 회전각, 조명 색상, SVG 신경망 와이어가 타임라인 체이닝으로 완벽 결합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35040" y="1234440"/>
            <a:ext cx="26517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548640" cy="228600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0" y="139903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1792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라인별 클립 마스크 리빌 (Clip-path Line Reveal)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Opacity 페이드를 넘어선 고급스러운 슬릿 마스크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17920" y="2514600"/>
            <a:ext cx="2286000" cy="27432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263640" y="25603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clip-path: inset(0 0 100% 0) ──► inset(0 0 0% 0)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6217920" y="28803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문장의 각 행(Line)을 가상 슬릿 아래에서 위로 밀어 올리며 드라마틱한 등장 연출</a:t>
            </a:r>
            <a:endParaRPr lang="en-US" sz="7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5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SplitType 라이브러리를 통해 한글/영문 텍스트를 행 단위 DOM으로 정밀 분할</a:t>
            </a:r>
            <a:endParaRPr lang="en-US" sz="750" dirty="0"/>
          </a:p>
        </p:txBody>
      </p:sp>
      <p:sp>
        <p:nvSpPr>
          <p:cNvPr id="35" name="Footer_PageNumber_5">
            <a:extLst>
              <a:ext uri="{FF2B5EF4-FFF2-40B4-BE49-F238E27FC236}">
                <a16:creationId xmlns:a16="http://schemas.microsoft.com/office/drawing/2014/main" id="{9F77B19D-926C-7B76-4963-698AACCEEC7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- 5 -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아키텍처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프론트엔드 풀스택 기술 아키텍처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런타임과 고성능 모션 그래픽 파이프라인의 조화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42899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아키텍처 레이어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채택 기술 및 라이브러리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</a:rPr>
                        <a:t>핵심 역할 및 적용 메커니즘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EA5E9"/>
                          </a:solidFill>
                        </a:rPr>
                        <a:t>WINHUB 프로젝트 매핑</a:t>
                      </a:r>
                      <a:endParaRPr lang="en-US" sz="8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E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Platform &amp; Runtime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Webflow Static Export / ES6+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정적 HTML/CSS 번들링 및 CDN 엣지 고속 서빙, 불필요한 무거운 프레임워크 배제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Vanilla HTML5/ES Modules 표준 100% 준수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Smooth Scroll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Lenis.js (Inertial Lerp)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requestAnimationFrame 기반 선형 보간(Lerp) 연산으로 마우스 휠 관성 제어 (60FPS)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Lenis 1.0.42 + ScrollTrigger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Motion Orchestration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GSAP 3.12 + ScrollTrigger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뷰포트 pin: true, scrub: 1 적용으로 스크롤 속도와 씬 전환 타임라인 1:1 동기화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Act 1~5 핀 고정 &amp; 실시간 진행바 연동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Typography Engine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SplitType / CSS Line Mask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텍스트 문장을 행(Line)/단어 단위 DOM으로 자동 분할하고 clip-path로 마스킹 등장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국/영문 헤드라인 행 단위 리빌 모션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Graphics &amp; Canvas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Three.js (WebGL 2.0) + Inline SVG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저용량 3D 오브젝트, 360도 궤도 링, animateMotion 실시간 광원 입자 순환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futuristic_key 비디오 + 3D 양자 코어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Styling Architecture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Pure Vanilla CSS + Fluid Clamp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</a:rPr>
                        <a:t>1px Hairline Grid, 박스 모델 배제, clamp() 수학 공식 기반 유동 타이포그래피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A5E9"/>
                          </a:solidFill>
                        </a:rPr>
                        <a:t>CoMinVi 2x3 헤어라인 분할 그리드 구현</a:t>
                      </a:r>
                      <a:endParaRPr lang="en-US" sz="75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Footer_PageNumber_6">
            <a:extLst>
              <a:ext uri="{FF2B5EF4-FFF2-40B4-BE49-F238E27FC236}">
                <a16:creationId xmlns:a16="http://schemas.microsoft.com/office/drawing/2014/main" id="{1396950F-F8C7-550A-1EF6-50F2A5FE336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- 6 -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 혁신: '카드 박스 배제' vs '1px 건축적 헤어라인 그리드'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틀에 박힌 사각 박스를 탈피하고 1px의 건축선과 여백으로 구현하는 미니멀리즘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3931920" cy="3429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71600"/>
            <a:ext cx="2011680" cy="228600"/>
          </a:xfrm>
          <a:prstGeom prst="round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9903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기존의 틀에 박힌 박스형 카드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0080" y="16916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템플릿 웹사이트의 시각적 한계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둥근 모서리(Border-radius)와 어두운 배경색이 들어간 사각 박스 남발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박스마다 그림자(Box-shadow)가 들어가 화면이 답답하고 좁아 보임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모바일 쇼핑몰이나 앱 UI처럼 보이며, 엔터프라이즈의 중후함이 사라짐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7F1D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콘텐츠를 획일적인 카드 안에 억지로 가두어 스토리텔링의 흐름이 단절됨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663440" y="1234440"/>
            <a:ext cx="4023360" cy="3429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2377440" cy="228600"/>
          </a:xfrm>
          <a:prstGeom prst="round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846320" y="139903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차세대 인터랙티브 건축적 헤어라인 그리드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1px 도면선과 거대 여백(Negative Space)의 미학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완전한 무박스(Zero-Box): 박스 배경색을 없애고 1px 헤어라인만으로 정보 구획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거대한 스케일의 숫자 타이포그래피: 뷰포트 너비의 3~4%에 달하는 대형 수치(99.98%)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비대칭 50/50 분할: 좌측 비주얼 필라 + 우측 2x3 헤어라인 매트릭스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64E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에디토리얼 진술문: 그리드 하단 좌측 액센트 보더를 두른 권위 있는 선언문 배치</a:t>
            </a:r>
            <a:endParaRPr lang="en-US" sz="780" dirty="0"/>
          </a:p>
        </p:txBody>
      </p:sp>
      <p:sp>
        <p:nvSpPr>
          <p:cNvPr id="21" name="Footer_PageNumber_7">
            <a:extLst>
              <a:ext uri="{FF2B5EF4-FFF2-40B4-BE49-F238E27FC236}">
                <a16:creationId xmlns:a16="http://schemas.microsoft.com/office/drawing/2014/main" id="{F2E476B5-8CFD-5E38-4025-78C99A17B31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- 7 -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구조 설계 (IA)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GNB 4대 고정 메뉴 체계 [Home · About Us · Works · Contact Us]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혼선을 배제하고 사용자 동선을 극대화한 간결하고 명확한 4대 네비게이션 구조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97280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/index.html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94360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5단계 스토리텔링 인터랙티브 허브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1: Hero 비디오 게이트웨이 (futuristic_key.mp4)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2: S.01 Tech Innovation (지능의 신경망)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3: S.02 Custom Strategy (정밀 맞춤 스캔)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4: S.03 Proven Execution (무결점 품질 쉴드)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5: S.04 Integrated Synergy (퀀텀 코어 수렴)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6: S.05 Enterprise Impact (2x3 수치 그리드)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Act 7: S.06 Works Index &amp; S.07 Outro CTA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2032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679192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679192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182112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79192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/page/about.html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679192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비전, 핵심 가치 및 연혁 타임라인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679192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Company Overview (CEO 인사말 &amp; 철학)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4대 핵심 역량 (신뢰, 기술, 정밀, 시너지)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연혁 타임라인 (축적된 엔터프라이즈 레퍼런스)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글로벌 파트너십 및 기술 인증 내역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626864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764024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764024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66944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64024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/page/works.html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764024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엔터프라이즈 프로젝트 쇼케이스 &amp; 심층 아키텍처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764024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프로젝트 인덱스 테이블 (차세대 인터랙티브 스타일)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카테고리 필터 (POS / ERP / Cloud 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프로젝트 상세 뷰 (Overview, Challenge, Solution)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기술 스펙 테이블 및 정량적 성과 공개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6711696" y="1234440"/>
            <a:ext cx="19659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6848856" y="1371600"/>
            <a:ext cx="457200" cy="219456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1389888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351776" y="1371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48856" y="164592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/page/contact.html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18745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프로젝트 견적 의뢰 및 본사 오시는 길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848856" y="2468880"/>
            <a:ext cx="169164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다이렉트 프로젝트 견적 문의 폼 (POS/ERP/SI)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카카오맵 API 연동 (일산 SK M-City 본사 위치)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상시 직통 채널 (대표전화, 공식 이메일 안내)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개인정보 보호 및 보안 암호화 전송 체계</a:t>
            </a:r>
            <a:endParaRPr lang="en-US" sz="720" dirty="0"/>
          </a:p>
        </p:txBody>
      </p:sp>
      <p:sp>
        <p:nvSpPr>
          <p:cNvPr id="43" name="Footer_PageNumber_8">
            <a:extLst>
              <a:ext uri="{FF2B5EF4-FFF2-40B4-BE49-F238E27FC236}">
                <a16:creationId xmlns:a16="http://schemas.microsoft.com/office/drawing/2014/main" id="{CDDD15B3-3A2B-EE3A-C01E-0934D18341A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- 8 -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네비게이션 상세 스펙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오버레이 네비게이션 드로어 메뉴 인터랙션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컨텐츠와 유기적으로 연동하는 헤더 오버레이 드로어 및 스태거 인터랙션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4389120" cy="3429000"/>
          </a:xfrm>
          <a:prstGeom prst="roundRect">
            <a:avLst>
              <a:gd name="adj" fmla="val 4000"/>
            </a:avLst>
          </a:prstGeom>
          <a:solidFill>
            <a:srgbClr val="080A1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1371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CLOSE 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1828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" y="1828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0848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Interactive 5-Act Storytelling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731520" y="230428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2423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Enterprise Vision &amp; Core Values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1520" y="289864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31520" y="3017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27355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Solutions &amp; Architecture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731520" y="349300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6791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&amp; Kakao Map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731520" y="4087368"/>
            <a:ext cx="3840480" cy="914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120640" y="1234440"/>
            <a:ext cx="3566160" cy="3429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커튼 드로어 동작 및 퍼블리싱 명세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173736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[진입 모션]: 메뉴 버튼 클릭 시 0.4초 만에 백드롭 블러(blur: 24px)와 함께 배경 컨텐츠와 유기적으로 연동되는 반투명 오버레이 드로어 전개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[스태거 마스크]: 01 Home부터 04 Contact Us까지 0.08초 간격으로 텍스트가 아래에서 위로 밀려 올라옴 (Clip-path Reveal)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[GNB 4대 메뉴 고정]: Home, About Us, Works, Contact Us 4개 메뉴 외 불필요한 서브 메뉴 제거로 직관성 극대화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[호버 마이크로 인터랙션]: 마우스 오버 시 행 전체가 우측으로 15px 부드럽게 슬라이드되며 Cyan 네온 발광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[키보드 접근성]: ESC 키 감지 시 즉시 닫기 트리거 실행</a:t>
            </a:r>
            <a:endParaRPr lang="en-US" sz="780" dirty="0"/>
          </a:p>
        </p:txBody>
      </p:sp>
      <p:sp>
        <p:nvSpPr>
          <p:cNvPr id="33" name="Footer_PageNumber_9">
            <a:extLst>
              <a:ext uri="{FF2B5EF4-FFF2-40B4-BE49-F238E27FC236}">
                <a16:creationId xmlns:a16="http://schemas.microsoft.com/office/drawing/2014/main" id="{70B2CEDF-4720-B65A-8EFD-8FB444C3671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- 9 -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스토리보드 플랜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메인(Home) 5단계 스토리텔링 마스터 플랜 &amp; 타임라인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다운이 곧 스토리의 다음 챕터를 여는 핵심 비전·기술·실적 여정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344168"/>
            <a:ext cx="777240" cy="2743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38074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1</a:t>
            </a:r>
          </a:p>
        </p:txBody>
      </p:sp>
      <p:sp>
        <p:nvSpPr>
          <p:cNvPr id="14" name="Text 12"/>
          <p:cNvSpPr/>
          <p:nvPr/>
        </p:nvSpPr>
        <p:spPr>
          <a:xfrm>
            <a:off x="1508760" y="1380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Hero Cinematic</a:t>
            </a:r>
          </a:p>
        </p:txBody>
      </p:sp>
      <p:sp>
        <p:nvSpPr>
          <p:cNvPr id="15" name="Text 13"/>
          <p:cNvSpPr/>
          <p:nvPr/>
        </p:nvSpPr>
        <p:spPr>
          <a:xfrm>
            <a:off x="3063240" y="1380744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Hero 영역</a:t>
            </a:r>
          </a:p>
        </p:txBody>
      </p:sp>
      <p:sp>
        <p:nvSpPr>
          <p:cNvPr id="16" name="Text 14"/>
          <p:cNvSpPr/>
          <p:nvPr/>
        </p:nvSpPr>
        <p:spPr>
          <a:xfrm>
            <a:off x="4160520" y="13807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futuristic_key.mp4 비디오</a:t>
            </a:r>
          </a:p>
        </p:txBody>
      </p:sp>
      <p:sp>
        <p:nvSpPr>
          <p:cNvPr id="17" name="Text 15"/>
          <p:cNvSpPr/>
          <p:nvPr/>
        </p:nvSpPr>
        <p:spPr>
          <a:xfrm>
            <a:off x="5806440" y="1380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미래지향적 게이트웨이: 비디오 배경 루프 위에서 미래를 여는 열쇠 모티브 전개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1892808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94360" y="2002536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03911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2</a:t>
            </a:r>
          </a:p>
        </p:txBody>
      </p:sp>
      <p:sp>
        <p:nvSpPr>
          <p:cNvPr id="21" name="Text 19"/>
          <p:cNvSpPr/>
          <p:nvPr/>
        </p:nvSpPr>
        <p:spPr>
          <a:xfrm>
            <a:off x="1508760" y="203911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Tech Innovation</a:t>
            </a:r>
          </a:p>
        </p:txBody>
      </p:sp>
      <p:sp>
        <p:nvSpPr>
          <p:cNvPr id="22" name="Text 20"/>
          <p:cNvSpPr/>
          <p:nvPr/>
        </p:nvSpPr>
        <p:spPr>
          <a:xfrm>
            <a:off x="3063240" y="2039112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S.01 Tech</a:t>
            </a:r>
          </a:p>
        </p:txBody>
      </p:sp>
      <p:sp>
        <p:nvSpPr>
          <p:cNvPr id="23" name="Text 21"/>
          <p:cNvSpPr/>
          <p:nvPr/>
        </p:nvSpPr>
        <p:spPr>
          <a:xfrm>
            <a:off x="4160520" y="2039112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AI 칩셋 SVG + 무드 배경</a:t>
            </a:r>
          </a:p>
        </p:txBody>
      </p:sp>
      <p:sp>
        <p:nvSpPr>
          <p:cNvPr id="24" name="Text 22"/>
          <p:cNvSpPr/>
          <p:nvPr/>
        </p:nvSpPr>
        <p:spPr>
          <a:xfrm>
            <a:off x="5806440" y="20391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지능의 신경망: AI · 클라우드 · 빅데이터 아키텍처를 엔터프라이즈 환경에 최적화하여 구현</a:t>
            </a:r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" y="2660904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3</a:t>
            </a:r>
          </a:p>
        </p:txBody>
      </p:sp>
      <p:sp>
        <p:nvSpPr>
          <p:cNvPr id="28" name="Text 26"/>
          <p:cNvSpPr/>
          <p:nvPr/>
        </p:nvSpPr>
        <p:spPr>
          <a:xfrm>
            <a:off x="1508760" y="26974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Custom Strategy</a:t>
            </a:r>
          </a:p>
        </p:txBody>
      </p:sp>
      <p:sp>
        <p:nvSpPr>
          <p:cNvPr id="29" name="Text 27"/>
          <p:cNvSpPr/>
          <p:nvPr/>
        </p:nvSpPr>
        <p:spPr>
          <a:xfrm>
            <a:off x="3063240" y="2697480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S.02 Strategy</a:t>
            </a:r>
          </a:p>
        </p:txBody>
      </p:sp>
      <p:sp>
        <p:nvSpPr>
          <p:cNvPr id="30" name="Text 28"/>
          <p:cNvSpPr/>
          <p:nvPr/>
        </p:nvSpPr>
        <p:spPr>
          <a:xfrm>
            <a:off x="4160520" y="2697480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심플 레이더 SVG + 무드 배경</a:t>
            </a:r>
          </a:p>
        </p:txBody>
      </p:sp>
      <p:sp>
        <p:nvSpPr>
          <p:cNvPr id="31" name="Text 29"/>
          <p:cNvSpPr/>
          <p:nvPr/>
        </p:nvSpPr>
        <p:spPr>
          <a:xfrm>
            <a:off x="5806440" y="26974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정밀 맞춤: 비즈니스 파이프라인을 정밀 분석해 산업단위 시스템 구축 및 운영 로드맵 설계</a:t>
            </a:r>
          </a:p>
        </p:txBody>
      </p:sp>
      <p:sp>
        <p:nvSpPr>
          <p:cNvPr id="32" name="Shape 30"/>
          <p:cNvSpPr/>
          <p:nvPr/>
        </p:nvSpPr>
        <p:spPr>
          <a:xfrm>
            <a:off x="457200" y="3209544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594360" y="3319272"/>
            <a:ext cx="7772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94360" y="33558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4</a:t>
            </a:r>
          </a:p>
        </p:txBody>
      </p:sp>
      <p:sp>
        <p:nvSpPr>
          <p:cNvPr id="35" name="Text 33"/>
          <p:cNvSpPr/>
          <p:nvPr/>
        </p:nvSpPr>
        <p:spPr>
          <a:xfrm>
            <a:off x="1508760" y="33558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Scale &amp; Proof</a:t>
            </a:r>
          </a:p>
        </p:txBody>
      </p:sp>
      <p:sp>
        <p:nvSpPr>
          <p:cNvPr id="36" name="Text 34"/>
          <p:cNvSpPr/>
          <p:nvPr/>
        </p:nvSpPr>
        <p:spPr>
          <a:xfrm>
            <a:off x="3063240" y="3355848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S.03 Impact</a:t>
            </a:r>
          </a:p>
        </p:txBody>
      </p:sp>
      <p:sp>
        <p:nvSpPr>
          <p:cNvPr id="37" name="Text 35"/>
          <p:cNvSpPr/>
          <p:nvPr/>
        </p:nvSpPr>
        <p:spPr>
          <a:xfrm>
            <a:off x="4160520" y="3355848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차세대 인터랙티브 2x3 Grid</a:t>
            </a:r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숫자의 증명: 99.98% 가동률, 15+년 등 무박스 헤어라인 수치 그리드 카운트업</a:t>
            </a:r>
          </a:p>
        </p:txBody>
      </p:sp>
      <p:sp>
        <p:nvSpPr>
          <p:cNvPr id="39" name="Shape 37"/>
          <p:cNvSpPr/>
          <p:nvPr/>
        </p:nvSpPr>
        <p:spPr>
          <a:xfrm>
            <a:off x="457200" y="3867912"/>
            <a:ext cx="8229600" cy="49377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594360" y="3977640"/>
            <a:ext cx="777240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94360" y="401421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ACT 5</a:t>
            </a:r>
          </a:p>
        </p:txBody>
      </p:sp>
      <p:sp>
        <p:nvSpPr>
          <p:cNvPr id="42" name="Text 40"/>
          <p:cNvSpPr/>
          <p:nvPr/>
        </p:nvSpPr>
        <p:spPr>
          <a:xfrm>
            <a:off x="1508760" y="401421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F172A"/>
                </a:solidFill>
                <a:latin typeface="Malgun Gothic"/>
              </a:rPr>
              <a:t>Works &amp; Outro</a:t>
            </a:r>
          </a:p>
        </p:txBody>
      </p:sp>
      <p:sp>
        <p:nvSpPr>
          <p:cNvPr id="43" name="Text 41"/>
          <p:cNvSpPr/>
          <p:nvPr/>
        </p:nvSpPr>
        <p:spPr>
          <a:xfrm>
            <a:off x="3063240" y="4014216"/>
            <a:ext cx="960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64748B"/>
                </a:solidFill>
                <a:latin typeface="Malgun Gothic"/>
              </a:rPr>
              <a:t>S.04 / S.05</a:t>
            </a:r>
          </a:p>
        </p:txBody>
      </p:sp>
      <p:sp>
        <p:nvSpPr>
          <p:cNvPr id="44" name="Text 42"/>
          <p:cNvSpPr/>
          <p:nvPr/>
        </p:nvSpPr>
        <p:spPr>
          <a:xfrm>
            <a:off x="4160520" y="401421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 b="1">
                <a:solidFill>
                  <a:srgbClr val="10B981"/>
                </a:solidFill>
                <a:latin typeface="Malgun Gothic"/>
              </a:rPr>
              <a:t>Index Table + CTA</a:t>
            </a:r>
          </a:p>
        </p:txBody>
      </p:sp>
      <p:sp>
        <p:nvSpPr>
          <p:cNvPr id="45" name="Text 43"/>
          <p:cNvSpPr/>
          <p:nvPr/>
        </p:nvSpPr>
        <p:spPr>
          <a:xfrm>
            <a:off x="5806440" y="40142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50">
                <a:solidFill>
                  <a:srgbClr val="334155"/>
                </a:solidFill>
                <a:latin typeface="Malgun Gothic"/>
              </a:rPr>
              <a:t>실적 &amp; 제안: 에디토리얼 실적 인덱스 테이블을 지나 'READY TO EMPOWER?' 제안으로 마침표</a:t>
            </a:r>
          </a:p>
        </p:txBody>
      </p:sp>
      <p:sp>
        <p:nvSpPr>
          <p:cNvPr id="46" name="Shape 44"/>
          <p:cNvSpPr/>
          <p:nvPr/>
        </p:nvSpPr>
        <p:spPr>
          <a:xfrm>
            <a:off x="-18288000" y="3703320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-18288000" y="3776472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-18288000" y="381304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-18288000" y="38130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-18288000" y="38130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-18288000" y="3813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-18288000" y="4197096"/>
            <a:ext cx="8229600" cy="420624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-18288000" y="4270248"/>
            <a:ext cx="777240" cy="27432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-18288000" y="4306824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-1828800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-18288000" y="43068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-18288000" y="4306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/>
          </a:p>
        </p:txBody>
      </p:sp>
      <p:sp>
        <p:nvSpPr>
          <p:cNvPr id="60" name="Footer_PageNumber_10">
            <a:extLst>
              <a:ext uri="{FF2B5EF4-FFF2-40B4-BE49-F238E27FC236}">
                <a16:creationId xmlns:a16="http://schemas.microsoft.com/office/drawing/2014/main" id="{8F79354C-C5C3-5CD8-10B3-6E4961D61A5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- 10 -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401632" y="1243510"/>
            <a:ext cx="4536734" cy="3378532"/>
          </a:xfrm>
          <a:prstGeom prst="rect">
            <a:avLst/>
          </a:prstGeom>
          <a:solidFill>
            <a:srgbClr val="0B132B"/>
          </a:solidFill>
          <a:ln w="1524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9"/>
          <p:cNvSpPr/>
          <p:nvPr/>
        </p:nvSpPr>
        <p:spPr>
          <a:xfrm>
            <a:off x="603265" y="1394734"/>
            <a:ext cx="4032653" cy="302448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435061"/>
            <a:ext cx="4032653" cy="2217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BACKGROUND VIDEO: futuristic_key.mp4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855306" y="2150163"/>
            <a:ext cx="3629387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CYBER DIGITAL GATEWAY KEY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2906285"/>
            <a:ext cx="4032653" cy="655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CONNECTS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SUCCESS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03265" y="3561591"/>
            <a:ext cx="4032653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여는 디지털 키(Digital Gateway) — 엔터프라이즈의 다음 차원을 여는 기술적 연결</a:t>
            </a:r>
            <a:endParaRPr lang="en-US" sz="68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4706D5-CA6A-0D79-A1B3-E76322EC9420}"/>
              </a:ext>
            </a:extLst>
          </p:cNvPr>
          <p:cNvGrpSpPr/>
          <p:nvPr/>
        </p:nvGrpSpPr>
        <p:grpSpPr>
          <a:xfrm>
            <a:off x="1359387" y="4113183"/>
            <a:ext cx="2621224" cy="282285"/>
            <a:chOff x="1359387" y="4254326"/>
            <a:chExt cx="2621224" cy="282285"/>
          </a:xfrm>
        </p:grpSpPr>
        <p:sp>
          <p:nvSpPr>
            <p:cNvPr id="39" name="Shape 36"/>
            <p:cNvSpPr/>
            <p:nvPr/>
          </p:nvSpPr>
          <p:spPr>
            <a:xfrm>
              <a:off x="1359387" y="4254326"/>
              <a:ext cx="2621224" cy="282285"/>
            </a:xfrm>
            <a:prstGeom prst="round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7"/>
            <p:cNvSpPr/>
            <p:nvPr/>
          </p:nvSpPr>
          <p:spPr>
            <a:xfrm>
              <a:off x="1359387" y="4284571"/>
              <a:ext cx="2621224" cy="22179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71" b="1" dirty="0">
                  <a:solidFill>
                    <a:srgbClr val="080A1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SCROLL TO INITIATE SYSTEM ↓</a:t>
              </a:r>
              <a:endParaRPr lang="en-US" sz="700" dirty="0"/>
            </a:p>
          </p:txBody>
        </p:sp>
      </p:grpSp>
      <p:sp>
        <p:nvSpPr>
          <p:cNvPr id="41" name="Shape 38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[비디오 에셋 연동]: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assets/mp4/futuristic_key.mp4 60FPS 무한 루프 재생</a:t>
            </a:r>
            <a:br/>
            <a:r>
              <a:t>  · 65% 다크 오버레이로 타이포그래피 시인성 확보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[미래지향 카피라이팅]: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'CONNECTS TO EMPOWER YOUR SUCCESS'</a:t>
            </a:r>
            <a:br/>
            <a:r>
              <a:t>  · 디지털 키(Gateway) 모티브의 기업 기술 도약 형상화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[GNB 및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상단 고정 GNB: 로고 + 햄버거 메뉴(단순화)</a:t>
            </a:r>
            <a:br/>
            <a:r>
              <a:t>  · 'SCROLL TO INITIATE SYSTEM' 클릭 시 S.01 부드러운 스크롤 이동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Hero 섹션 (미래지향적 비디오 게이트웨이)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1">
            <a:extLst>
              <a:ext uri="{FF2B5EF4-FFF2-40B4-BE49-F238E27FC236}">
                <a16:creationId xmlns:a16="http://schemas.microsoft.com/office/drawing/2014/main" id="{846F7598-CB9B-8F69-6991-67087D6E3200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- 11 -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S.01 · TECH INNOVATION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453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ORCHESTRATING ENTERPRISE INTELLIGENCE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448" y="2150857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· 클라우드 · 빅데이터 아키텍처를 엔터프라이즈 환경에 최적화하여 구현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1712244" y="2554122"/>
            <a:ext cx="1814693" cy="1209795"/>
          </a:xfrm>
          <a:prstGeom prst="roundRect">
            <a:avLst/>
          </a:prstGeom>
          <a:solidFill>
            <a:srgbClr val="0E121C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115510" y="2856571"/>
            <a:ext cx="1008163" cy="604897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115510" y="3007795"/>
            <a:ext cx="100816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KERNEL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2619591" y="3763918"/>
            <a:ext cx="0" cy="504081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1409795" y="4268000"/>
            <a:ext cx="241959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700"/>
              <a:t>Ambient Blurred Mood Background</a:t>
            </a:r>
          </a:p>
        </p:txBody>
      </p:sp>
      <p:sp>
        <p:nvSpPr>
          <p:cNvPr id="40" name="Shape 37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S.01 Tech Innovation (지능의 신경망)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2">
            <a:extLst>
              <a:ext uri="{FF2B5EF4-FFF2-40B4-BE49-F238E27FC236}">
                <a16:creationId xmlns:a16="http://schemas.microsoft.com/office/drawing/2014/main" id="{50D380E7-48BA-724D-CD63-9025DEC3350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- 12 -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394734"/>
            <a:ext cx="1512244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414897"/>
            <a:ext cx="151224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S.02 · CUSTOM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02448" y="1697183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 AT SCALE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448" y="205004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00">
                <a:solidFill>
                  <a:srgbClr val="94A3B8"/>
                </a:solidFill>
                <a:latin typeface="Malgun Gothic"/>
              </a:rPr>
              <a:t>비즈니스 파이프라인을 정밀 분석해 산업단위의 시스템 구축 및 운영 로드맵 설계</a:t>
            </a:r>
          </a:p>
        </p:txBody>
      </p:sp>
      <p:sp>
        <p:nvSpPr>
          <p:cNvPr id="35" name="Shape 32"/>
          <p:cNvSpPr/>
          <p:nvPr/>
        </p:nvSpPr>
        <p:spPr>
          <a:xfrm>
            <a:off x="1813061" y="2453306"/>
            <a:ext cx="1613061" cy="1613061"/>
          </a:xfrm>
          <a:prstGeom prst="ellipse">
            <a:avLst/>
          </a:prstGeom>
          <a:solidFill>
            <a:srgbClr val="0E121C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3"/>
          <p:cNvSpPr/>
          <p:nvPr/>
        </p:nvSpPr>
        <p:spPr>
          <a:xfrm>
            <a:off x="2216326" y="2856571"/>
            <a:ext cx="806530" cy="806530"/>
          </a:xfrm>
          <a:prstGeom prst="ellipse">
            <a:avLst/>
          </a:prstGeom>
          <a:solidFill>
            <a:srgbClr val="064E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4"/>
          <p:cNvSpPr/>
          <p:nvPr/>
        </p:nvSpPr>
        <p:spPr>
          <a:xfrm flipV="1">
            <a:off x="2619591" y="2654938"/>
            <a:ext cx="604897" cy="60489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611428" y="4167183"/>
            <a:ext cx="2016326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360° RADAR SCANNER</a:t>
            </a:r>
            <a:endParaRPr lang="en-US" sz="650" dirty="0"/>
          </a:p>
          <a:p>
            <a:pPr marL="0" indent="0" algn="ctr">
              <a:buNone/>
            </a:pPr>
            <a:r>
              <a:rPr lang="en-US" sz="716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[Tailored DX Roadmap]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메인 화면 - S.02 Custom Strategy (정밀 맞춤)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3">
            <a:extLst>
              <a:ext uri="{FF2B5EF4-FFF2-40B4-BE49-F238E27FC236}">
                <a16:creationId xmlns:a16="http://schemas.microsoft.com/office/drawing/2014/main" id="{9A2FF903-8061-91BE-97A9-0B094D075A55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- 13 -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93918"/>
            <a:ext cx="1613061" cy="221795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502448" y="1314081"/>
            <a:ext cx="1613061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>
                <a:solidFill>
                  <a:srgbClr val="0EA5E9"/>
                </a:solidFill>
                <a:latin typeface="Malgun Gothic"/>
              </a:rPr>
              <a:t>S.03 · ENTERPRISE IMPACT</a:t>
            </a:r>
          </a:p>
        </p:txBody>
      </p:sp>
      <p:sp>
        <p:nvSpPr>
          <p:cNvPr id="33" name="Text 30"/>
          <p:cNvSpPr/>
          <p:nvPr/>
        </p:nvSpPr>
        <p:spPr>
          <a:xfrm>
            <a:off x="502448" y="1596367"/>
            <a:ext cx="4234285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NUMBERS THAT PROVE LEADERSHIP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2448" y="2050040"/>
            <a:ext cx="1613061" cy="2419591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03265" y="2906979"/>
            <a:ext cx="1411428" cy="6048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[Visual Image]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2317142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2317142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99.98%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2317142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UPTIME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3678163" y="2050040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3678163" y="2130693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15+ YRS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3678163" y="2473469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EXP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2317142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2317142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50+ TOPS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317142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CLIENTS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3678163" y="2856571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3678163" y="2937224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100+ SYS</a:t>
            </a:r>
            <a:endParaRPr lang="en-US" sz="1200" dirty="0"/>
          </a:p>
        </p:txBody>
      </p:sp>
      <p:sp>
        <p:nvSpPr>
          <p:cNvPr id="47" name="Text 44"/>
          <p:cNvSpPr/>
          <p:nvPr/>
        </p:nvSpPr>
        <p:spPr>
          <a:xfrm>
            <a:off x="3678163" y="328000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DEPLOYED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2317142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2317142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24/7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317142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sz="650" dirty="0"/>
          </a:p>
        </p:txBody>
      </p:sp>
      <p:sp>
        <p:nvSpPr>
          <p:cNvPr id="51" name="Shape 48"/>
          <p:cNvSpPr/>
          <p:nvPr/>
        </p:nvSpPr>
        <p:spPr>
          <a:xfrm>
            <a:off x="3678163" y="3663102"/>
            <a:ext cx="1260204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678163" y="3743755"/>
            <a:ext cx="1260204" cy="352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23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3678163" y="4086530"/>
            <a:ext cx="1260204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ON-TIME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S.03 Enterprise Impact (수치 임팩트)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6">
            <a:extLst>
              <a:ext uri="{FF2B5EF4-FFF2-40B4-BE49-F238E27FC236}">
                <a16:creationId xmlns:a16="http://schemas.microsoft.com/office/drawing/2014/main" id="{EF3473D3-961C-3826-181B-EFE7C34671B6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- 14 -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1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WORKS SHOWCASE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02448" y="1646775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PROVEN ENTERPRISE SOLUTIONS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2448" y="1999632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502448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680" dirty="0"/>
          </a:p>
        </p:txBody>
      </p:sp>
      <p:sp>
        <p:nvSpPr>
          <p:cNvPr id="35" name="Text 32"/>
          <p:cNvSpPr/>
          <p:nvPr/>
        </p:nvSpPr>
        <p:spPr>
          <a:xfrm>
            <a:off x="855306" y="2080285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MART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1913877" y="2080285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ABC마트 차세대 POS 및 SCO 통합 구축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4333469" y="2080285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448" y="2604530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502448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855306" y="268518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HAUSYS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1913877" y="2685183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LX하우시스 전사 투자관리 시스템 ERP 연동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333469" y="2685183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502448" y="3209428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02448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855306" y="3290081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 PLAZA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1913877" y="3290081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AK플라자 신재무회계 및 스마트 결제 플랫폼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4333469" y="3290081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02448" y="3814326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6"/>
          <p:cNvSpPr/>
          <p:nvPr/>
        </p:nvSpPr>
        <p:spPr>
          <a:xfrm>
            <a:off x="502448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680" dirty="0"/>
          </a:p>
        </p:txBody>
      </p:sp>
      <p:sp>
        <p:nvSpPr>
          <p:cNvPr id="50" name="Text 47"/>
          <p:cNvSpPr/>
          <p:nvPr/>
        </p:nvSpPr>
        <p:spPr>
          <a:xfrm>
            <a:off x="855306" y="3894979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SHINSEGAE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913877" y="3894979"/>
            <a:ext cx="2217959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신세계아이앤씨 EV 전기차 충전 인프라 I/F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4333469" y="3894979"/>
            <a:ext cx="302448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02448" y="4419224"/>
            <a:ext cx="4234285" cy="10081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1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5" name="Text 52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7" name="TextBox 56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S.04 Works Showcase (에디토리얼 인덱스)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Footer_PageNumber_17">
            <a:extLst>
              <a:ext uri="{FF2B5EF4-FFF2-40B4-BE49-F238E27FC236}">
                <a16:creationId xmlns:a16="http://schemas.microsoft.com/office/drawing/2014/main" id="{8C087942-E1F1-E451-222B-8C7FA91AF30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- 15 -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00000" y="1400000"/>
            <a:ext cx="3500000" cy="3200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[에디토리얼 인덱스 테이블]: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1행 1레코드 미니멀 인터랙티브 테이블 구조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호버 시 해당 프로젝트 썸네일 플로팅 프리뷰 및 화살표 대각선 회전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[실적 데이터 바인딩 &amp; 인터랙션]: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ABC MART, LX 하우시스, AK PLAZA, 신세계 I&amp;C 등 핵심 실적 직관 노출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클릭 시 서브페이지 Works 상세(S02-Detail)로 스무스 트랜지션 이동</a:t>
            </a:r>
          </a:p>
          <a:p>
            <a:endParaRPr sz="900" b="0">
              <a:solidFill>
                <a:srgbClr val="475569"/>
              </a:solidFill>
              <a:latin typeface="맑은 고딕"/>
            </a:endParaRPr>
          </a:p>
          <a:p>
            <a:r>
              <a:rPr sz="1000" b="1">
                <a:solidFill>
                  <a:srgbClr val="0F172A"/>
                </a:solidFill>
                <a:latin typeface="맑은 고딕"/>
              </a:rPr>
              <a:t>▶ [엔터프라이즈 UI/UX 최적화]: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1px 헤어라인 디바이더와 시안 네온 강조로 가독성 극대화</a:t>
            </a:r>
          </a:p>
          <a:p>
            <a:r>
              <a:rPr sz="900" b="0">
                <a:solidFill>
                  <a:srgbClr val="475569"/>
                </a:solidFill>
                <a:latin typeface="맑은 고딕"/>
              </a:rPr>
              <a:t>  · 모바일/태블릿 터치 디바이스에 맞춘 최적 탭 타겟 영역 보장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Shape 28"/>
          <p:cNvSpPr/>
          <p:nvPr/>
        </p:nvSpPr>
        <p:spPr>
          <a:xfrm>
            <a:off x="502448" y="1277760"/>
            <a:ext cx="4234285" cy="1800000"/>
          </a:xfrm>
          <a:prstGeom prst="rect">
            <a:avLst/>
          </a:prstGeom>
          <a:solidFill>
            <a:srgbClr val="0E121C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04081" y="1337760"/>
            <a:ext cx="383102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850" b="1" dirty="0">
                <a:solidFill>
                  <a:srgbClr val="0EA5E9"/>
                </a:solidFill>
                <a:latin typeface="Malgun Gothic"/>
              </a:rPr>
              <a:t>S.05 · READY TO CONNECT</a:t>
            </a:r>
          </a:p>
        </p:txBody>
      </p:sp>
      <p:sp>
        <p:nvSpPr>
          <p:cNvPr id="33" name="Text 30"/>
          <p:cNvSpPr/>
          <p:nvPr/>
        </p:nvSpPr>
        <p:spPr>
          <a:xfrm>
            <a:off x="704081" y="1457760"/>
            <a:ext cx="3831020" cy="705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TO EMPOWER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3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FUTURE?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04081" y="2057760"/>
            <a:ext cx="3831020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시스템 구축을 넘어, 성공적인 디지털 전환을 지금 시작하십시오.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704081" y="1940000"/>
            <a:ext cx="2419591" cy="2419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26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제안 문의하기 →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502448" y="3915142"/>
            <a:ext cx="4234285" cy="655306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[핵심 기능 및 퍼블리싱 명세]: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GSAP ScrollTrigger 뷰포트 핀 고정 및 60FPS 모션 동기화</a:t>
            </a:r>
            <a:br/>
            <a:r>
              <a:t>  · Three.js 3D 캔버스 인터랙티브 렌더링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UI/UX 최적화]: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직관적인 정보 전달과 미니멀한 1px 헤어라인 디자인 체계</a:t>
            </a:r>
            <a:br/>
            <a:r>
              <a:t>  · 모바일/태블릿 반응형 유기적 레이아웃 보장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WIN-UI-M08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r>
              <a:rPr sz="800" b="1">
                <a:solidFill>
                  <a:srgbClr val="080A10"/>
                </a:solidFill>
                <a:latin typeface="Malgun Gothic"/>
              </a:rPr>
              <a:t>메인 화면 - S.05 Outro CTA (미래지향적 제안)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메인 / Act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index_flux.html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C4B7569-8E9D-35B3-3B6F-DE2D79C516CA}"/>
              </a:ext>
            </a:extLst>
          </p:cNvPr>
          <p:cNvSpPr/>
          <p:nvPr/>
        </p:nvSpPr>
        <p:spPr>
          <a:xfrm>
            <a:off x="220000" y="3386276"/>
            <a:ext cx="4920000" cy="1303724"/>
          </a:xfrm>
          <a:prstGeom prst="rect">
            <a:avLst/>
          </a:prstGeom>
          <a:solidFill>
            <a:srgbClr val="070A12"/>
          </a:solidFill>
          <a:ln w="1016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8EC23-823C-010F-BE44-731CB1204F1D}"/>
              </a:ext>
            </a:extLst>
          </p:cNvPr>
          <p:cNvSpPr/>
          <p:nvPr/>
        </p:nvSpPr>
        <p:spPr>
          <a:xfrm>
            <a:off x="220000" y="4240000"/>
            <a:ext cx="4900000" cy="127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7A233-154C-2D9E-C46D-9F729EFF71EA}"/>
              </a:ext>
            </a:extLst>
          </p:cNvPr>
          <p:cNvSpPr txBox="1"/>
          <p:nvPr/>
        </p:nvSpPr>
        <p:spPr>
          <a:xfrm>
            <a:off x="502448" y="3515060"/>
            <a:ext cx="8890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WINHUB
IT Innovation Partner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992D2-86FC-3835-8F1B-D2981D758365}"/>
              </a:ext>
            </a:extLst>
          </p:cNvPr>
          <p:cNvSpPr txBox="1"/>
          <p:nvPr/>
        </p:nvSpPr>
        <p:spPr>
          <a:xfrm>
            <a:off x="1642448" y="3515060"/>
            <a:ext cx="952500" cy="446276"/>
          </a:xfrm>
          <a:prstGeom prst="rect">
            <a:avLst/>
          </a:prstGeom>
          <a:noFill/>
        </p:spPr>
        <p:txBody>
          <a:bodyPr vert="horz" lIns="0" tIns="0" rtlCol="0" anchor="t">
            <a:spAutoFit/>
          </a:bodyPr>
          <a:lstStyle/>
          <a:p>
            <a:r>
              <a:rPr lang="en-US" altLang="ko-KR" sz="650" b="1" dirty="0">
                <a:solidFill>
                  <a:srgbClr val="F1F5F9"/>
                </a:solidFill>
                <a:latin typeface="Malgun Gothic" panose="020B0503020000020004" pitchFamily="50" charset="-127"/>
              </a:rPr>
              <a:t>About Us
Works
Contact Us
</a:t>
            </a:r>
            <a:endParaRPr lang="ko-KR" altLang="en-US" sz="650" b="1" dirty="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Footer_PageNumber_18">
            <a:extLst>
              <a:ext uri="{FF2B5EF4-FFF2-40B4-BE49-F238E27FC236}">
                <a16:creationId xmlns:a16="http://schemas.microsoft.com/office/drawing/2014/main" id="{25BF4F03-4F77-0973-6789-5B1CFD28EA47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- 16 -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WINHUB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448" y="1616530"/>
            <a:ext cx="4234285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연결하는 기술력, 엔터프라이즈의 성공을 이끄는 파트너십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108979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653673" y="1999632"/>
            <a:ext cx="3931836" cy="907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CEO GREETINGS &amp; PHILOSOPHY</a:t>
            </a:r>
            <a:endParaRPr lang="en-US" sz="72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93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"단순한 시스템 구축을 넘어 비즈니스의 성공적인 미래를 함께 설계합니다."</a:t>
            </a:r>
            <a:endParaRPr lang="en-US" sz="720" dirty="0"/>
          </a:p>
        </p:txBody>
      </p:sp>
      <p:sp>
        <p:nvSpPr>
          <p:cNvPr id="35" name="Shape 32"/>
          <p:cNvSpPr/>
          <p:nvPr/>
        </p:nvSpPr>
        <p:spPr>
          <a:xfrm>
            <a:off x="502448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502448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(Trust)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1591265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1591265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(Tech)</a:t>
            </a:r>
            <a:endParaRPr lang="en-US" sz="680" dirty="0"/>
          </a:p>
        </p:txBody>
      </p:sp>
      <p:sp>
        <p:nvSpPr>
          <p:cNvPr id="39" name="Shape 36"/>
          <p:cNvSpPr/>
          <p:nvPr/>
        </p:nvSpPr>
        <p:spPr>
          <a:xfrm>
            <a:off x="2680081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2680081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(Precision)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3768897" y="3159020"/>
            <a:ext cx="1008163" cy="655306"/>
          </a:xfrm>
          <a:prstGeom prst="round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768897" y="3360653"/>
            <a:ext cx="1008163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49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시너지 (Synergy)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502448" y="3965551"/>
            <a:ext cx="4234285" cy="504081"/>
          </a:xfrm>
          <a:prstGeom prst="rect">
            <a:avLst/>
          </a:prstGeom>
          <a:solidFill>
            <a:srgbClr val="0E12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03265" y="4066367"/>
            <a:ext cx="4032653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TIMELINE: 2010 창립 ──► 2018 대형 SI 확장 ──► 2026 차세대 SPA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[3D 비주얼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Three.js 기반 궤도 회전 및 3D Canvas 시각 효과 탑재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[기업 비전]: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'WINHUB는 비즈니스 혁신을 이끄는 IT 솔루션 기술 파트너입니다'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[엔터프라이즈 신뢰 지표]: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99.98% 시스템 가동률 및 무결점 서비스 운영</a:t>
            </a:r>
            <a:br/>
            <a:r>
              <a:t>  · 50+ 국내외 엔터프라이즈 프로젝트 성공 레퍼런스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ABOUT US (기업 비전 &amp; 3D 비주얼 히어로)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2" name="Footer_PageNumber_19">
            <a:extLst>
              <a:ext uri="{FF2B5EF4-FFF2-40B4-BE49-F238E27FC236}">
                <a16:creationId xmlns:a16="http://schemas.microsoft.com/office/drawing/2014/main" id="{7D5DF1E3-933F-AC70-B3A1-478DD258D30C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- 17 -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FF3FF2-A59F-5CA5-2D76-88D868C05A27}"/>
              </a:ext>
            </a:extLst>
          </p:cNvPr>
          <p:cNvSpPr txBox="1"/>
          <p:nvPr/>
        </p:nvSpPr>
        <p:spPr>
          <a:xfrm>
            <a:off x="780000" y="225797"/>
            <a:ext cx="920000" cy="156453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en-US" altLang="ko-KR" sz="850" b="1">
                <a:solidFill>
                  <a:srgbClr val="0EA5E9"/>
                </a:solidFill>
                <a:latin typeface="Malgun Gothic" panose="020B0503020000020004" pitchFamily="50" charset="-127"/>
              </a:rPr>
              <a:t>WIN-UI-S01-B</a:t>
            </a:r>
            <a:endParaRPr lang="ko-KR" altLang="en-US" sz="850" b="1">
              <a:solidFill>
                <a:srgbClr val="0EA5E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DBA9-4DB0-2E12-4E04-AC7490FBA361}"/>
              </a:ext>
            </a:extLst>
          </p:cNvPr>
          <p:cNvSpPr txBox="1"/>
          <p:nvPr/>
        </p:nvSpPr>
        <p:spPr>
          <a:xfrm>
            <a:off x="2320000" y="233491"/>
            <a:ext cx="3104000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서브페이지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- ABOUT US (4</a:t>
            </a:r>
            <a:r>
              <a:rPr lang="ko-KR" altLang="en-US" sz="750" b="1">
                <a:solidFill>
                  <a:srgbClr val="080A10"/>
                </a:solidFill>
                <a:latin typeface="Malgun Gothic" panose="020B0503020000020004" pitchFamily="50" charset="-127"/>
              </a:rPr>
              <a:t>대 </a:t>
            </a:r>
            <a:r>
              <a:rPr lang="en-US" altLang="ko-KR" sz="750" b="1">
                <a:solidFill>
                  <a:srgbClr val="080A10"/>
                </a:solidFill>
                <a:latin typeface="Malgun Gothic" panose="020B0503020000020004" pitchFamily="50" charset="-127"/>
              </a:rPr>
              <a:t>BIZ DOMAIN)</a:t>
            </a:r>
            <a:endParaRPr lang="ko-KR" altLang="en-US" sz="75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229CC-59CF-4701-527E-AF4FE2D82CBA}"/>
              </a:ext>
            </a:extLst>
          </p:cNvPr>
          <p:cNvSpPr txBox="1"/>
          <p:nvPr/>
        </p:nvSpPr>
        <p:spPr>
          <a:xfrm>
            <a:off x="6144768" y="164592"/>
            <a:ext cx="758952" cy="148759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회사소개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EE7CF-43C2-0E7B-D554-6970600E2995}"/>
              </a:ext>
            </a:extLst>
          </p:cNvPr>
          <p:cNvSpPr txBox="1"/>
          <p:nvPr/>
        </p:nvSpPr>
        <p:spPr>
          <a:xfrm>
            <a:off x="7863840" y="164592"/>
            <a:ext cx="1115568" cy="141064"/>
          </a:xfrm>
          <a:prstGeom prst="rect">
            <a:avLst/>
          </a:prstGeom>
          <a:noFill/>
        </p:spPr>
        <p:txBody>
          <a:bodyPr vert="horz" lIns="12700" tIns="12700" rIns="12700" bIns="12700" rtlCol="0" anchor="ctr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about.html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9B9AA4-A09F-45B0-7B23-4879E2D65EFE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DC26E-67F9-7696-27BF-9DD25E93224C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42AB9E-261E-B318-5DF8-47AE36DA56F2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DD60A2-63E0-0C38-C3F9-C35ADB9A5811}"/>
              </a:ext>
            </a:extLst>
          </p:cNvPr>
          <p:cNvSpPr txBox="1"/>
          <p:nvPr/>
        </p:nvSpPr>
        <p:spPr>
          <a:xfrm>
            <a:off x="240000" y="1090000"/>
            <a:ext cx="486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OUR BUSINESS DOMAINS
</a:t>
            </a:r>
            <a:r>
              <a:rPr lang="ko-KR" altLang="en-US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최적의 기술 역량으로 비즈니스 디지털 혁신을 리드합니다</a:t>
            </a:r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6B5A81E-B7FB-04CB-E27E-ACD361354D73}"/>
              </a:ext>
            </a:extLst>
          </p:cNvPr>
          <p:cNvSpPr/>
          <p:nvPr/>
        </p:nvSpPr>
        <p:spPr>
          <a:xfrm>
            <a:off x="28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01. WEB &amp; APP DEVELOPMENT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반응형 웹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앱 구축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Vue.js, React, Next.js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초고속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SPA
· Flutter, RN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크로스플랫폼 앱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GSAP &amp; Three.js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인터랙티브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UI/UX</a:t>
            </a:r>
            <a:endParaRPr lang="ko-KR" altLang="en-US" sz="750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40CFCE-C8AB-B4A8-868E-B1D2E2F3EC5F}"/>
              </a:ext>
            </a:extLst>
          </p:cNvPr>
          <p:cNvSpPr/>
          <p:nvPr/>
        </p:nvSpPr>
        <p:spPr>
          <a:xfrm>
            <a:off x="2700000" y="1707054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02. SMART PLATFORM &amp; ERP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맞춤형 통합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/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플랫폼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LX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주문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물류 관리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대용량 실시간 트랜잭션 분산 처리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모바일 현장 바코드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/RFID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3F62D6-CB26-64BE-B36C-CBD5B3BD6A0A}"/>
              </a:ext>
            </a:extLst>
          </p:cNvPr>
          <p:cNvSpPr/>
          <p:nvPr/>
        </p:nvSpPr>
        <p:spPr>
          <a:xfrm>
            <a:off x="28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03. ENTERPRISE DX SOLUTION
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디지털 전환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(DX)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핵심 솔루션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레거시 시스템 현대화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API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게이트웨이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데이터 파이프라인 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실시간 대시보드
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750" dirty="0" err="1">
                <a:solidFill>
                  <a:srgbClr val="F1F5F9"/>
                </a:solidFill>
                <a:latin typeface="Malgun Gothic" panose="020B0503020000020004" pitchFamily="50" charset="-127"/>
              </a:rPr>
              <a:t>마이크로서비스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 아키텍처</a:t>
            </a:r>
            <a:r>
              <a:rPr lang="en-US" altLang="ko-KR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(MSA) </a:t>
            </a:r>
            <a:r>
              <a:rPr lang="ko-KR" altLang="en-US" sz="750" dirty="0">
                <a:solidFill>
                  <a:srgbClr val="F1F5F9"/>
                </a:solidFill>
                <a:latin typeface="Malgun Gothic" panose="020B0503020000020004" pitchFamily="50" charset="-127"/>
              </a:rPr>
              <a:t>전환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59A2D2-EDBF-F614-5BF4-ECAAD7261217}"/>
              </a:ext>
            </a:extLst>
          </p:cNvPr>
          <p:cNvSpPr/>
          <p:nvPr/>
        </p:nvSpPr>
        <p:spPr>
          <a:xfrm>
            <a:off x="2700000" y="3140000"/>
            <a:ext cx="2340000" cy="1345564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101600" rIns="101600" rtlCol="0" anchor="t"/>
          <a:lstStyle/>
          <a:p>
            <a:pPr algn="ctr"/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04. CLOUD &amp; TECH CONSULTING
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인프라 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기술 컨설팅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AWS, Azure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클라우드 네이티브 아키텍처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Docker, Kubernetes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컨테이너 오케스트레이션
</a:t>
            </a:r>
            <a:r>
              <a:rPr lang="en-US" altLang="ko-KR" sz="750">
                <a:solidFill>
                  <a:srgbClr val="F1F5F9"/>
                </a:solidFill>
                <a:latin typeface="Malgun Gothic" panose="020B0503020000020004" pitchFamily="50" charset="-127"/>
              </a:rPr>
              <a:t>· Vercel/Netlify CI/CD </a:t>
            </a:r>
            <a:r>
              <a:rPr lang="ko-KR" altLang="en-US" sz="750">
                <a:solidFill>
                  <a:srgbClr val="F1F5F9"/>
                </a:solidFill>
                <a:latin typeface="Malgun Gothic" panose="020B0503020000020004" pitchFamily="50" charset="-127"/>
              </a:rPr>
              <a:t>파이프라인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DCC02-D959-43A4-CFFC-1215D874254A}"/>
              </a:ext>
            </a:extLst>
          </p:cNvPr>
          <p:cNvSpPr/>
          <p:nvPr/>
        </p:nvSpPr>
        <p:spPr>
          <a:xfrm>
            <a:off x="5360000" y="820000"/>
            <a:ext cx="3544000" cy="20000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50" b="1">
                <a:solidFill>
                  <a:srgbClr val="00A064"/>
                </a:solidFill>
                <a:latin typeface="Malgun Gothic" panose="020B0503020000020004" pitchFamily="50" charset="-127"/>
              </a:rPr>
              <a:t>WINHUB </a:t>
            </a:r>
            <a:r>
              <a:rPr lang="ko-KR" altLang="en-US" sz="850" b="1">
                <a:solidFill>
                  <a:srgbClr val="00A064"/>
                </a:solidFill>
                <a:latin typeface="Malgun Gothic" panose="020B0503020000020004" pitchFamily="50" charset="-127"/>
              </a:rPr>
              <a:t>프로젝트 핵심 개발 및 적용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17797-1C91-B285-2CDC-61A2BD8161F6}"/>
              </a:ext>
            </a:extLst>
          </p:cNvPr>
          <p:cNvSpPr txBox="1"/>
          <p:nvPr/>
        </p:nvSpPr>
        <p:spPr>
          <a:xfrm>
            <a:off x="5360000" y="1040000"/>
            <a:ext cx="3544000" cy="1723549"/>
          </a:xfrm>
          <a:prstGeom prst="rect">
            <a:avLst/>
          </a:prstGeom>
          <a:noFill/>
        </p:spPr>
        <p:txBody>
          <a:bodyPr vert="horz" lIns="76200" tIns="76200" rtlCol="0" anchor="t">
            <a:spAutoFit/>
          </a:bodyPr>
          <a:lstStyle/>
          <a:p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[4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대 핵심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BIZ DOMAIN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설계 및 연동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Web/App, Smart Platform/ERP, Enterprise DX, Cloud Consulting
  · 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카드 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&amp; Three.js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파티클 배경 연동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호버 인터랙션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마우스 호버 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1.05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배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Scale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확대 및 네온 시안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(#0EA5E9)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발광 효과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엔터프라이즈 레퍼런스 데이터 바인딩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LX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완성창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ERP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등 실제 구축 사례와 각 사업영역 간 다이렉트 딥링크 제공
▶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반응형 리플로우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]:
  ·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데스크톱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2x2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그리드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-&gt; 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태블릿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모바일 </a:t>
            </a:r>
            <a:r>
              <a:rPr lang="en-US" altLang="ko-KR" sz="800">
                <a:solidFill>
                  <a:srgbClr val="0F172A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800">
                <a:solidFill>
                  <a:srgbClr val="0F172A"/>
                </a:solidFill>
                <a:latin typeface="Malgun Gothic" panose="020B0503020000020004" pitchFamily="50" charset="-127"/>
              </a:rPr>
              <a:t>열 스택 자동 재배치</a:t>
            </a:r>
          </a:p>
        </p:txBody>
      </p:sp>
      <p:sp>
        <p:nvSpPr>
          <p:cNvPr id="16" name="Footer_PageNumber_20">
            <a:extLst>
              <a:ext uri="{FF2B5EF4-FFF2-40B4-BE49-F238E27FC236}">
                <a16:creationId xmlns:a16="http://schemas.microsoft.com/office/drawing/2014/main" id="{DB7C31CC-87B5-C747-2FC6-BC24CBB84CD3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- 18 -</a:t>
            </a:r>
          </a:p>
        </p:txBody>
      </p:sp>
    </p:spTree>
    <p:extLst>
      <p:ext uri="{BB962C8B-B14F-4D97-AF65-F5344CB8AC3E}">
        <p14:creationId xmlns:p14="http://schemas.microsoft.com/office/powerpoint/2010/main" val="42037823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57" name="Shape 54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58" name="Text 55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[반응형 카드 그리드]: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리스트형에서 2~3열 반응형 비주얼 카드 그리드로 전면 개편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[실시간 카테고리 필터]: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ALL / WEB / APP / ERP / SOLUTION 5대 즉시 필터링</a:t>
            </a:r>
            <a:br/>
            <a:r>
              <a:t>  · GSAP Flip 기반 부드러운 카드 재배치 애니메이션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[호버 인터랙션]: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마우스 오버 시 1.05배 확대 및 시안 네온 글로우 효과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[Git CMS 데이터 바인딩]: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content/works/*.md 마크다운 비동기 파싱 및 렌더링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(반응형 비주얼 카드 그리드 &amp; 카테고리 필터)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포트폴리오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works.html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54CC10C-8929-B59B-4EAD-6127B31905E5}"/>
              </a:ext>
            </a:extLst>
          </p:cNvPr>
          <p:cNvSpPr/>
          <p:nvPr/>
        </p:nvSpPr>
        <p:spPr>
          <a:xfrm>
            <a:off x="200000" y="810000"/>
            <a:ext cx="4940000" cy="3880000"/>
          </a:xfrm>
          <a:prstGeom prst="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0578C-E0A6-A0BC-D4D2-2CE84ADC5319}"/>
              </a:ext>
            </a:extLst>
          </p:cNvPr>
          <p:cNvSpPr txBox="1"/>
          <p:nvPr/>
        </p:nvSpPr>
        <p:spPr>
          <a:xfrm>
            <a:off x="240000" y="820000"/>
            <a:ext cx="127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00" b="1">
                <a:solidFill>
                  <a:srgbClr val="FFFFFF"/>
                </a:solidFill>
                <a:latin typeface="Malgun Gothic" panose="020B0503020000020004" pitchFamily="50" charset="-127"/>
              </a:rPr>
              <a:t>WINHUB</a:t>
            </a:r>
            <a:endParaRPr lang="ko-KR" altLang="en-US" sz="10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610BD1-499F-C34D-1105-0CBD5D29CA99}"/>
              </a:ext>
            </a:extLst>
          </p:cNvPr>
          <p:cNvSpPr txBox="1"/>
          <p:nvPr/>
        </p:nvSpPr>
        <p:spPr>
          <a:xfrm>
            <a:off x="4530000" y="820000"/>
            <a:ext cx="5715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Malgun Gothic" panose="020B0503020000020004" pitchFamily="50" charset="-127"/>
              </a:rPr>
              <a:t>MENU ☰</a:t>
            </a:r>
            <a:endParaRPr lang="ko-KR" altLang="en-US" sz="900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41B54-5CEA-6D7B-1D27-3CCEC258B08A}"/>
              </a:ext>
            </a:extLst>
          </p:cNvPr>
          <p:cNvSpPr txBox="1"/>
          <p:nvPr/>
        </p:nvSpPr>
        <p:spPr>
          <a:xfrm>
            <a:off x="240000" y="1060000"/>
            <a:ext cx="4860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050" b="1">
                <a:solidFill>
                  <a:srgbClr val="FFFFFF"/>
                </a:solidFill>
                <a:latin typeface="Malgun Gothic" panose="020B0503020000020004" pitchFamily="50" charset="-127"/>
              </a:rPr>
              <a:t>WORKS SHOWCASE</a:t>
            </a:r>
            <a:endParaRPr lang="ko-KR" altLang="en-US" sz="105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5B45E7-2578-522A-FBE8-86FC88307166}"/>
              </a:ext>
            </a:extLst>
          </p:cNvPr>
          <p:cNvSpPr/>
          <p:nvPr/>
        </p:nvSpPr>
        <p:spPr>
          <a:xfrm>
            <a:off x="240000" y="1280000"/>
            <a:ext cx="900000" cy="2286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ALL (18)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E9D643-8905-C26E-F32C-3F7EFFDAB445}"/>
              </a:ext>
            </a:extLst>
          </p:cNvPr>
          <p:cNvSpPr/>
          <p:nvPr/>
        </p:nvSpPr>
        <p:spPr>
          <a:xfrm>
            <a:off x="12162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WEB (8)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4DB09E1-FC33-2BA1-F6F6-879655C0FB0E}"/>
              </a:ext>
            </a:extLst>
          </p:cNvPr>
          <p:cNvSpPr/>
          <p:nvPr/>
        </p:nvSpPr>
        <p:spPr>
          <a:xfrm>
            <a:off x="21924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APP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04E1B7-034C-6542-8161-910CF7681406}"/>
              </a:ext>
            </a:extLst>
          </p:cNvPr>
          <p:cNvSpPr/>
          <p:nvPr/>
        </p:nvSpPr>
        <p:spPr>
          <a:xfrm>
            <a:off x="31686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ERP (4)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7C314A-0DA0-6E7B-C9FF-772942FAE23C}"/>
              </a:ext>
            </a:extLst>
          </p:cNvPr>
          <p:cNvSpPr/>
          <p:nvPr/>
        </p:nvSpPr>
        <p:spPr>
          <a:xfrm>
            <a:off x="4144800" y="1280000"/>
            <a:ext cx="900000" cy="228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>
                <a:solidFill>
                  <a:srgbClr val="FFFFFF"/>
                </a:solidFill>
                <a:latin typeface="Malgun Gothic" panose="020B0503020000020004" pitchFamily="50" charset="-127"/>
              </a:rPr>
              <a:t>SOLUTION (2)</a:t>
            </a:r>
            <a:endParaRPr lang="ko-KR" altLang="en-US" sz="7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FF25BE-7ABB-72B5-DC54-2AAC0E42A197}"/>
              </a:ext>
            </a:extLst>
          </p:cNvPr>
          <p:cNvSpPr/>
          <p:nvPr/>
        </p:nvSpPr>
        <p:spPr>
          <a:xfrm>
            <a:off x="2400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9097316-CD37-3801-1AF3-0BADB9C9863B}"/>
              </a:ext>
            </a:extLst>
          </p:cNvPr>
          <p:cNvSpPr/>
          <p:nvPr/>
        </p:nvSpPr>
        <p:spPr>
          <a:xfrm>
            <a:off x="2908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WEB · UI/UX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836E7F-8BF1-F037-98C6-B5FC315FA04E}"/>
              </a:ext>
            </a:extLst>
          </p:cNvPr>
          <p:cNvSpPr txBox="1"/>
          <p:nvPr/>
        </p:nvSpPr>
        <p:spPr>
          <a:xfrm>
            <a:off x="2908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ABC MART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차세대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POS/SCO
POS/SCO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셀프계산대 통합 시스템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0414A4A-5FE3-8BAE-99AF-80B385C22193}"/>
              </a:ext>
            </a:extLst>
          </p:cNvPr>
          <p:cNvSpPr/>
          <p:nvPr/>
        </p:nvSpPr>
        <p:spPr>
          <a:xfrm>
            <a:off x="18716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27BC64E-6310-574F-23D1-1CA289F43380}"/>
              </a:ext>
            </a:extLst>
          </p:cNvPr>
          <p:cNvSpPr/>
          <p:nvPr/>
        </p:nvSpPr>
        <p:spPr>
          <a:xfrm>
            <a:off x="19224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ERP · SOLUTION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CD2DEA-18BD-8E04-5B34-8D548937DDE7}"/>
              </a:ext>
            </a:extLst>
          </p:cNvPr>
          <p:cNvSpPr txBox="1"/>
          <p:nvPr/>
        </p:nvSpPr>
        <p:spPr>
          <a:xfrm>
            <a:off x="19224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LX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완성창 스마트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창호재 주문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생산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배송 올인원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ERP</a:t>
            </a:r>
            <a:endParaRPr lang="ko-KR" altLang="en-US" sz="600" b="1">
              <a:solidFill>
                <a:srgbClr val="F1F5F9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89B60AC-204E-BC57-0C74-6AEFA8F8ED1D}"/>
              </a:ext>
            </a:extLst>
          </p:cNvPr>
          <p:cNvSpPr/>
          <p:nvPr/>
        </p:nvSpPr>
        <p:spPr>
          <a:xfrm>
            <a:off x="3503200" y="15500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DE48CDA-6B2D-09B9-7AB6-B3B3F7C32EBB}"/>
              </a:ext>
            </a:extLst>
          </p:cNvPr>
          <p:cNvSpPr/>
          <p:nvPr/>
        </p:nvSpPr>
        <p:spPr>
          <a:xfrm>
            <a:off x="3554000" y="16008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FINTECH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2AC11B-2796-BFE1-3DA0-22A05D9CA0B7}"/>
              </a:ext>
            </a:extLst>
          </p:cNvPr>
          <p:cNvSpPr txBox="1"/>
          <p:nvPr/>
        </p:nvSpPr>
        <p:spPr>
          <a:xfrm>
            <a:off x="3554000" y="25928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AK PLAZA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스마트 결제
신재무회계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간편결제 게이트웨이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0E27CA-CAFC-02A0-EDFB-3A978FA9EE51}"/>
              </a:ext>
            </a:extLst>
          </p:cNvPr>
          <p:cNvSpPr/>
          <p:nvPr/>
        </p:nvSpPr>
        <p:spPr>
          <a:xfrm>
            <a:off x="2400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6B1BDE5-CA9B-AC79-0364-8639F41472D1}"/>
              </a:ext>
            </a:extLst>
          </p:cNvPr>
          <p:cNvSpPr/>
          <p:nvPr/>
        </p:nvSpPr>
        <p:spPr>
          <a:xfrm>
            <a:off x="2908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API · CLOUD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A9FC65-5AC5-B592-7587-8F12F7AC6A88}"/>
              </a:ext>
            </a:extLst>
          </p:cNvPr>
          <p:cNvSpPr txBox="1"/>
          <p:nvPr/>
        </p:nvSpPr>
        <p:spPr>
          <a:xfrm>
            <a:off x="2908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신세계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EV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충전 솔루션
전기차 충전 인프라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API I/F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연동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116F3BD-54A9-A5DE-0388-13F4AD2009CB}"/>
              </a:ext>
            </a:extLst>
          </p:cNvPr>
          <p:cNvSpPr/>
          <p:nvPr/>
        </p:nvSpPr>
        <p:spPr>
          <a:xfrm>
            <a:off x="18716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B6765EF-EBF3-F1F5-C2F5-F6DC82BA74A3}"/>
              </a:ext>
            </a:extLst>
          </p:cNvPr>
          <p:cNvSpPr/>
          <p:nvPr/>
        </p:nvSpPr>
        <p:spPr>
          <a:xfrm>
            <a:off x="19224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CLOUD · SI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646A-FA67-EDBC-ADD0-D63B7F6B4A81}"/>
              </a:ext>
            </a:extLst>
          </p:cNvPr>
          <p:cNvSpPr txBox="1"/>
          <p:nvPr/>
        </p:nvSpPr>
        <p:spPr>
          <a:xfrm>
            <a:off x="19224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KT 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엔터프라이즈 </a:t>
            </a:r>
            <a:r>
              <a:rPr lang="en-US" altLang="ko-KR" sz="600" b="1">
                <a:solidFill>
                  <a:srgbClr val="F1F5F9"/>
                </a:solidFill>
                <a:latin typeface="Malgun Gothic" panose="020B0503020000020004" pitchFamily="50" charset="-127"/>
              </a:rPr>
              <a:t>DX
</a:t>
            </a:r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하이브리드 클라우드 인프라 현대화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45DE8F-22BB-22F9-65F7-A7C7040560C2}"/>
              </a:ext>
            </a:extLst>
          </p:cNvPr>
          <p:cNvSpPr/>
          <p:nvPr/>
        </p:nvSpPr>
        <p:spPr>
          <a:xfrm>
            <a:off x="3503200" y="3151600"/>
            <a:ext cx="1530000" cy="1500000"/>
          </a:xfrm>
          <a:prstGeom prst="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C8D265A-9D51-12C7-40A6-4AD3C04797DF}"/>
              </a:ext>
            </a:extLst>
          </p:cNvPr>
          <p:cNvSpPr/>
          <p:nvPr/>
        </p:nvSpPr>
        <p:spPr>
          <a:xfrm>
            <a:off x="3554000" y="3202400"/>
            <a:ext cx="1428400" cy="966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50">
                <a:solidFill>
                  <a:srgbClr val="94A3B8"/>
                </a:solidFill>
                <a:latin typeface="Malgun Gothic" panose="020B0503020000020004" pitchFamily="50" charset="-127"/>
              </a:rPr>
              <a:t>[ THUMBNAIL ]
APP · FLUTTER</a:t>
            </a:r>
            <a:endParaRPr lang="ko-KR" altLang="en-US" sz="650">
              <a:solidFill>
                <a:srgbClr val="94A3B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9BFA7D-3C26-ACAF-5ED0-A8475C426DAD}"/>
              </a:ext>
            </a:extLst>
          </p:cNvPr>
          <p:cNvSpPr txBox="1"/>
          <p:nvPr/>
        </p:nvSpPr>
        <p:spPr>
          <a:xfrm>
            <a:off x="3554000" y="4194400"/>
            <a:ext cx="1428400" cy="230832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ko-KR" altLang="en-US" sz="600" b="1">
                <a:solidFill>
                  <a:srgbClr val="F1F5F9"/>
                </a:solidFill>
                <a:latin typeface="Malgun Gothic" panose="020B0503020000020004" pitchFamily="50" charset="-127"/>
              </a:rPr>
              <a:t>글로벌 핀테크 모바일앱
실시간 다국어 크로스플랫폼 자산관리</a:t>
            </a:r>
          </a:p>
        </p:txBody>
      </p:sp>
      <p:sp>
        <p:nvSpPr>
          <p:cNvPr id="66" name="Footer_PageNumber_21">
            <a:extLst>
              <a:ext uri="{FF2B5EF4-FFF2-40B4-BE49-F238E27FC236}">
                <a16:creationId xmlns:a16="http://schemas.microsoft.com/office/drawing/2014/main" id="{7E47D291-CC07-15F6-6425-E84C7C3272B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- 19 -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293918"/>
            <a:ext cx="2520408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BACK TO WORKS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2448" y="1545959"/>
            <a:ext cx="4234285" cy="302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 차세대 POS 시스템 구축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448" y="1898816"/>
            <a:ext cx="4234285" cy="1310612"/>
          </a:xfrm>
          <a:prstGeom prst="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704081" y="2352489"/>
            <a:ext cx="3831020" cy="403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UI Screen Showcase (Desktop / SCO / Mobile POS)</a:t>
            </a:r>
            <a:endParaRPr lang="en-US" sz="700" dirty="0"/>
          </a:p>
          <a:p>
            <a:pPr marL="0" indent="0" algn="ctr">
              <a:buNone/>
            </a:pPr>
            <a:r>
              <a:rPr lang="en-US" sz="77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[High-Resolution Mockup Screen]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02448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603265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03265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 마트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964285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2065102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PERIOD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2065102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2024.03 완료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426122" y="3360653"/>
            <a:ext cx="1361020" cy="655306"/>
          </a:xfrm>
          <a:prstGeom prst="roundRect">
            <a:avLst/>
          </a:prstGeom>
          <a:solidFill>
            <a:srgbClr val="080A10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3526938" y="3431224"/>
            <a:ext cx="1159387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16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526938" y="3663102"/>
            <a:ext cx="1159387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· UI/UX · SI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502448" y="4167183"/>
            <a:ext cx="4234285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9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분석: Overview(개요) ──► Challenge(과제) ──► Solution(해결책)</a:t>
            </a:r>
            <a:endParaRPr lang="en-US" sz="680" dirty="0"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[프로젝트 메타 &amp; 개요]: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클라이언트: LX 완성창 / 서비스: APP·UI/UX·ERP</a:t>
            </a:r>
            <a:br/>
            <a:r>
              <a:t>  · 통합 주문·배분·생산·운송 올인원 ERP 시스템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[1200px 와이드 쇼케이스]: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고해상도 전체 화면 프로젝트 이미지 스크롤 뷰어</a:t>
            </a:r>
            <a:br/>
            <a:endParaRPr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t>▶ [양방향 네비게이션]: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t>  · PREV PROJECT ◀ | 목록으로 ▦ | ▶ NEXT PROJECT 유기적 이동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WORKS DETAIL (LX 완성창 ERP &amp; KT 상세)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프로젝트상세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works-detail.html</a:t>
            </a:r>
          </a:p>
        </p:txBody>
      </p:sp>
      <p:sp>
        <p:nvSpPr>
          <p:cNvPr id="2" name="Footer_PageNumber_22">
            <a:extLst>
              <a:ext uri="{FF2B5EF4-FFF2-40B4-BE49-F238E27FC236}">
                <a16:creationId xmlns:a16="http://schemas.microsoft.com/office/drawing/2014/main" id="{C2DEFC03-129D-6FFA-DD19-D3DB50C85F1F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- 20 -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0"/>
          <p:cNvSpPr/>
          <p:nvPr/>
        </p:nvSpPr>
        <p:spPr>
          <a:xfrm>
            <a:off x="200000" y="810000"/>
            <a:ext cx="4940000" cy="3920000"/>
          </a:xfrm>
          <a:prstGeom prst="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200000" y="810000"/>
            <a:ext cx="4940000" cy="282285"/>
          </a:xfrm>
          <a:prstGeom prst="rect">
            <a:avLst/>
          </a:prstGeom>
          <a:solidFill>
            <a:srgbClr val="0E121C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80000" y="850000"/>
            <a:ext cx="907346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490000" y="850000"/>
            <a:ext cx="600000" cy="1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16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MENU ☰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02448" y="1344326"/>
            <a:ext cx="3528571" cy="252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WORK TOGETHER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448" y="1697183"/>
            <a:ext cx="2117142" cy="2621224"/>
          </a:xfrm>
          <a:prstGeom prst="roundRect">
            <a:avLst/>
          </a:prstGeom>
          <a:solidFill>
            <a:srgbClr val="0E121C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603265" y="1818163"/>
            <a:ext cx="1915510" cy="201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71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INQUIRY FORM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03265" y="2080285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653673" y="2130693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성함 / 회사명</a:t>
            </a:r>
            <a:endParaRPr lang="en-US" sz="620" dirty="0"/>
          </a:p>
        </p:txBody>
      </p:sp>
      <p:sp>
        <p:nvSpPr>
          <p:cNvPr id="36" name="Shape 33"/>
          <p:cNvSpPr/>
          <p:nvPr/>
        </p:nvSpPr>
        <p:spPr>
          <a:xfrm>
            <a:off x="603265" y="2503714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53673" y="2554122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연락처 / 이메일</a:t>
            </a:r>
            <a:endParaRPr lang="en-US" sz="620" dirty="0"/>
          </a:p>
        </p:txBody>
      </p:sp>
      <p:sp>
        <p:nvSpPr>
          <p:cNvPr id="38" name="Shape 35"/>
          <p:cNvSpPr/>
          <p:nvPr/>
        </p:nvSpPr>
        <p:spPr>
          <a:xfrm>
            <a:off x="603265" y="2927142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/>
          <p:nvPr/>
        </p:nvSpPr>
        <p:spPr>
          <a:xfrm>
            <a:off x="653673" y="2977551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유형 (POS/ERP/SI)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603265" y="3350571"/>
            <a:ext cx="1915510" cy="282285"/>
          </a:xfrm>
          <a:prstGeom prst="rect">
            <a:avLst/>
          </a:prstGeom>
          <a:solidFill>
            <a:srgbClr val="080A10"/>
          </a:solidFill>
          <a:ln w="7620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653673" y="3400979"/>
            <a:ext cx="1814693" cy="1814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3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및 예상 일정</a:t>
            </a:r>
            <a:endParaRPr lang="en-US" sz="620" dirty="0"/>
          </a:p>
        </p:txBody>
      </p:sp>
      <p:sp>
        <p:nvSpPr>
          <p:cNvPr id="42" name="Shape 39"/>
          <p:cNvSpPr/>
          <p:nvPr/>
        </p:nvSpPr>
        <p:spPr>
          <a:xfrm>
            <a:off x="2770816" y="1697183"/>
            <a:ext cx="2167551" cy="26212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0"/>
          <p:cNvSpPr/>
          <p:nvPr/>
        </p:nvSpPr>
        <p:spPr>
          <a:xfrm>
            <a:off x="3678163" y="2402897"/>
            <a:ext cx="352857" cy="352857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Shape 42"/>
          <p:cNvSpPr/>
          <p:nvPr/>
        </p:nvSpPr>
        <p:spPr>
          <a:xfrm>
            <a:off x="5360000" y="820000"/>
            <a:ext cx="3544000" cy="2000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5240">
            <a:solidFill>
              <a:srgbClr val="10B981"/>
            </a:solidFill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5380000" y="830000"/>
            <a:ext cx="3504000" cy="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 sz="850" b="1">
                <a:solidFill>
                  <a:srgbClr val="00A064"/>
                </a:solidFill>
                <a:latin typeface="Malgun Gothic"/>
              </a:defRPr>
            </a:pPr>
            <a:r>
              <a:t>WINHUB 프로젝트 핵심 개발 및 적용 방안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360000" y="1040000"/>
            <a:ext cx="3544000" cy="36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스마트</a:t>
            </a:r>
            <a:r>
              <a:rPr dirty="0"/>
              <a:t> </a:t>
            </a:r>
            <a:r>
              <a:rPr dirty="0" err="1"/>
              <a:t>견적</a:t>
            </a:r>
            <a:r>
              <a:rPr dirty="0"/>
              <a:t> 폼]: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유형</a:t>
            </a:r>
            <a:r>
              <a:rPr dirty="0"/>
              <a:t>(웹/앱/ERP/</a:t>
            </a:r>
            <a:r>
              <a:rPr dirty="0" err="1"/>
              <a:t>솔루션</a:t>
            </a:r>
            <a:r>
              <a:rPr dirty="0"/>
              <a:t>), </a:t>
            </a:r>
            <a:r>
              <a:rPr dirty="0" err="1"/>
              <a:t>예산</a:t>
            </a:r>
            <a:r>
              <a:rPr dirty="0"/>
              <a:t>, </a:t>
            </a:r>
            <a:r>
              <a:rPr dirty="0" err="1"/>
              <a:t>일정</a:t>
            </a:r>
            <a:r>
              <a:rPr dirty="0"/>
              <a:t> </a:t>
            </a:r>
            <a:r>
              <a:rPr dirty="0" err="1"/>
              <a:t>인터랙티브</a:t>
            </a:r>
            <a:r>
              <a:rPr dirty="0"/>
              <a:t> </a:t>
            </a:r>
            <a:r>
              <a:rPr dirty="0" err="1"/>
              <a:t>입력</a:t>
            </a:r>
            <a:br>
              <a:rPr dirty="0"/>
            </a:br>
            <a:r>
              <a:rPr dirty="0"/>
              <a:t>  · </a:t>
            </a:r>
            <a:r>
              <a:rPr dirty="0" err="1"/>
              <a:t>개인정보</a:t>
            </a:r>
            <a:r>
              <a:rPr dirty="0"/>
              <a:t> </a:t>
            </a:r>
            <a:r>
              <a:rPr dirty="0" err="1"/>
              <a:t>보호</a:t>
            </a:r>
            <a:r>
              <a:rPr dirty="0"/>
              <a:t> </a:t>
            </a:r>
            <a:r>
              <a:rPr dirty="0" err="1"/>
              <a:t>암호화</a:t>
            </a:r>
            <a:r>
              <a:rPr dirty="0"/>
              <a:t> 및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검증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본사</a:t>
            </a:r>
            <a:r>
              <a:rPr dirty="0"/>
              <a:t> </a:t>
            </a:r>
            <a:r>
              <a:rPr dirty="0" err="1"/>
              <a:t>위치</a:t>
            </a:r>
            <a:r>
              <a:rPr dirty="0"/>
              <a:t> </a:t>
            </a:r>
            <a:r>
              <a:rPr dirty="0" err="1"/>
              <a:t>지도</a:t>
            </a:r>
            <a:r>
              <a:rPr dirty="0"/>
              <a:t> </a:t>
            </a:r>
            <a:r>
              <a:rPr dirty="0" err="1"/>
              <a:t>연동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카카오맵</a:t>
            </a:r>
            <a:r>
              <a:rPr dirty="0"/>
              <a:t> API </a:t>
            </a:r>
            <a:r>
              <a:rPr dirty="0" err="1"/>
              <a:t>연동</a:t>
            </a:r>
            <a:r>
              <a:rPr dirty="0"/>
              <a:t> 및 </a:t>
            </a:r>
            <a:r>
              <a:rPr dirty="0" err="1"/>
              <a:t>오시는</a:t>
            </a:r>
            <a:r>
              <a:rPr dirty="0"/>
              <a:t> 길(</a:t>
            </a:r>
            <a:r>
              <a:rPr dirty="0" err="1"/>
              <a:t>마두역</a:t>
            </a:r>
            <a:r>
              <a:rPr dirty="0"/>
              <a:t> 4번출구) </a:t>
            </a:r>
            <a:r>
              <a:rPr dirty="0" err="1"/>
              <a:t>안내</a:t>
            </a:r>
            <a:br>
              <a:rPr dirty="0"/>
            </a:br>
            <a:r>
              <a:rPr dirty="0"/>
              <a:t>  · SK M-City </a:t>
            </a:r>
            <a:r>
              <a:rPr dirty="0" err="1"/>
              <a:t>섹션</a:t>
            </a:r>
            <a:r>
              <a:rPr dirty="0"/>
              <a:t> 9005호 맵 </a:t>
            </a:r>
            <a:r>
              <a:rPr dirty="0" err="1"/>
              <a:t>마커</a:t>
            </a:r>
            <a:r>
              <a:rPr dirty="0"/>
              <a:t> </a:t>
            </a:r>
            <a:r>
              <a:rPr dirty="0" err="1"/>
              <a:t>표시</a:t>
            </a:r>
            <a:br>
              <a:rPr dirty="0"/>
            </a:br>
            <a:endParaRPr dirty="0"/>
          </a:p>
          <a:p>
            <a:pPr>
              <a:defRPr sz="8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▶ [</a:t>
            </a:r>
            <a:r>
              <a:rPr dirty="0" err="1"/>
              <a:t>공식</a:t>
            </a:r>
            <a:r>
              <a:rPr dirty="0"/>
              <a:t> </a:t>
            </a:r>
            <a:r>
              <a:rPr dirty="0" err="1"/>
              <a:t>연락처</a:t>
            </a:r>
            <a:r>
              <a:rPr dirty="0"/>
              <a:t> </a:t>
            </a:r>
            <a:r>
              <a:rPr dirty="0" err="1"/>
              <a:t>직통</a:t>
            </a:r>
            <a:r>
              <a:rPr dirty="0"/>
              <a:t> </a:t>
            </a:r>
            <a:r>
              <a:rPr dirty="0" err="1"/>
              <a:t>채널</a:t>
            </a:r>
            <a:r>
              <a:rPr dirty="0"/>
              <a:t>]:</a:t>
            </a:r>
          </a:p>
          <a:p>
            <a:pPr>
              <a:defRPr sz="8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  ·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이메일</a:t>
            </a:r>
            <a:r>
              <a:rPr dirty="0"/>
              <a:t>: contact@winhub.co.kr | </a:t>
            </a: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전화</a:t>
            </a:r>
            <a:r>
              <a:rPr dirty="0"/>
              <a:t>: 031-908-7711</a:t>
            </a:r>
            <a:br>
              <a:rPr dirty="0"/>
            </a:br>
            <a:r>
              <a:rPr dirty="0"/>
              <a:t>  · </a:t>
            </a:r>
            <a:r>
              <a:rPr dirty="0" err="1"/>
              <a:t>접수</a:t>
            </a:r>
            <a:r>
              <a:rPr dirty="0"/>
              <a:t> </a:t>
            </a:r>
            <a:r>
              <a:rPr dirty="0" err="1"/>
              <a:t>즉시</a:t>
            </a:r>
            <a:r>
              <a:rPr dirty="0"/>
              <a:t> </a:t>
            </a:r>
            <a:r>
              <a:rPr dirty="0" err="1"/>
              <a:t>담당자</a:t>
            </a:r>
            <a:r>
              <a:rPr dirty="0"/>
              <a:t> </a:t>
            </a:r>
            <a:r>
              <a:rPr dirty="0" err="1"/>
              <a:t>배정</a:t>
            </a:r>
            <a:r>
              <a:rPr dirty="0"/>
              <a:t> 및 24시간 내 </a:t>
            </a:r>
            <a:r>
              <a:rPr dirty="0" err="1"/>
              <a:t>회신</a:t>
            </a:r>
            <a:r>
              <a:rPr dirty="0"/>
              <a:t> </a:t>
            </a:r>
            <a:r>
              <a:rPr dirty="0" err="1"/>
              <a:t>프로세스</a:t>
            </a:r>
            <a:endParaRPr dirty="0"/>
          </a:p>
        </p:txBody>
      </p:sp>
      <p:sp>
        <p:nvSpPr>
          <p:cNvPr id="48" name="TextBox 47"/>
          <p:cNvSpPr txBox="1"/>
          <p:nvPr/>
        </p:nvSpPr>
        <p:spPr>
          <a:xfrm>
            <a:off x="780000" y="150000"/>
            <a:ext cx="920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850" b="1">
                <a:solidFill>
                  <a:srgbClr val="0EA5E9"/>
                </a:solidFill>
                <a:latin typeface="Malgun Gothic"/>
              </a:rPr>
              <a:t>WIN-UI-S04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20000" y="150000"/>
            <a:ext cx="3104000" cy="220000"/>
          </a:xfrm>
          <a:prstGeom prst="rect">
            <a:avLst/>
          </a:prstGeom>
          <a:noFill/>
        </p:spPr>
        <p:txBody>
          <a:bodyPr wrap="none" lIns="9144" tIns="9144" rIns="9144" bIns="9144">
            <a:spAutoFit/>
          </a:bodyPr>
          <a:lstStyle/>
          <a:p>
            <a:pPr algn="ctr"/>
            <a:r>
              <a:rPr sz="750" b="1">
                <a:solidFill>
                  <a:srgbClr val="080A10"/>
                </a:solidFill>
                <a:latin typeface="Malgun Gothic"/>
              </a:rPr>
              <a:t>서브페이지 - CONTACT US (스마트 견적 폼 &amp; 본사 오시는 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164592"/>
            <a:ext cx="758952" cy="141577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  <a:latin typeface="Malgun Gothic"/>
              </a:rPr>
              <a:t>서브 / 문의하기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164592"/>
            <a:ext cx="1115568" cy="133883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/>
            <a:r>
              <a:rPr sz="750" b="1">
                <a:solidFill>
                  <a:srgbClr val="0EA5E9"/>
                </a:solidFill>
                <a:latin typeface="Malgun Gothic"/>
              </a:rPr>
              <a:t>contact.html</a:t>
            </a:r>
          </a:p>
        </p:txBody>
      </p:sp>
      <p:sp>
        <p:nvSpPr>
          <p:cNvPr id="3" name="Footer_PageNumber_23">
            <a:extLst>
              <a:ext uri="{FF2B5EF4-FFF2-40B4-BE49-F238E27FC236}">
                <a16:creationId xmlns:a16="http://schemas.microsoft.com/office/drawing/2014/main" id="{0DF6BF78-28E8-BFEB-19AA-94FDC05D4061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- 21 -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카피라이팅 시스템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국/영문 심볼릭 카피라이팅 시스템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 비디오 무드와 차세대 인터랙티브 기술적 명확성을 결합한 완성형 카피 명세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337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1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섹션 / Act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영문 메인 헤드라인 (Headline)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국문 내러티브 서브텍스트 (Subtext)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핵심 상징 키워드</a:t>
                      </a:r>
                      <a:endParaRPr lang="en-US" sz="800" dirty="0"/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EA5E9"/>
                          </a:solidFill>
                          <a:latin typeface="Malgun Gothic"/>
                        </a:rPr>
                        <a:t>ACT 1 (Hero)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CONNECTS TO EMPOWER YOUR SUCCESS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미래를 여는 디지털 키(Gateway)로 고객 비즈니스의 성공적 도약을 견인합니다.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#futuristic_key #연결 #도약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2 (S.01)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ORCHESTRATING ENTERPRISE INTELLIGENCE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AI · 클라우드 · 빅데이터 아키텍처를 엔터프라이즈 환경에 최적화하여 구현합니다.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#AI칩셋 #신경망 #클라우드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3 (S.02)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PRECISION AT SCALE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비즈니스 파이프라인을 정밀 분석해 산업단위의 시스템 구축 및 운영 로드맵을 설계합니다.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#레이더스캔 #정밀분석 #맞춤전략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4 (S.03)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NUMBERS THAT PROVE LEADERSHIP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99.98% 시스템 가동률, 15+년 엔터프라이즈 SI 노하우, 50+ 대기업 파트너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#실적수치 #가동률 #엔터프라이즈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ACT 5 (Outro)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READY TO EMPOWER YOUR FUTURE?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단순한 시스템 구축을 넘어, 비즈니스의 성공적인 디지털 전환을 지금 시작하십시오.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#프로젝트제안 #상담문의 #전환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(About)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TECHNOLOGY ARCHITECTURE &amp; VISION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엔터프라이즈의 지속 가능한 성장을 리드하는 WINHUB의 기술 역량과 기업 철학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#회사소개 #비전 #도메인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F172A"/>
                          </a:solidFill>
                          <a:latin typeface="Malgun Gothic"/>
                        </a:rPr>
                        <a:t>SUB (Works)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PROVEN ENTERPRISE DELIVERABLES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대형 제조·유통·금융·통신 엔터프라이즈 고객사의 성공적인 구축 레퍼런스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Malgun Gothic"/>
                        </a:rPr>
                        <a:t>#포트폴리오 #프로젝트상세 #실적</a:t>
                      </a:r>
                    </a:p>
                  </a:txBody>
                  <a:tcPr>
                    <a:lnL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Footer_PageNumber_24">
            <a:extLst>
              <a:ext uri="{FF2B5EF4-FFF2-40B4-BE49-F238E27FC236}">
                <a16:creationId xmlns:a16="http://schemas.microsoft.com/office/drawing/2014/main" id="{F0B6357F-44E4-B75F-1C2A-0E5606D90F1B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- 22 -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웹사이트 리뉴얼 통합 기획서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아키텍처 및 파이프라인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SPA 구현 기술 스택 및 파이프라인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부드러운 60FPS 렌더링과 저사양 기기 최적화를 동시에 만족하는 아키텍처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40080" y="134416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138074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Video Background Engine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08960" y="136245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futuristic_key.mp4 배경 비디오 최적화 파이프라인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08960" y="16184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HTML5 &lt;video autoplay muted loop playsinline&gt; 태그 및 65% 어두운 그라디언트 오버레이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MP4 H.264 하드웨어 디코딩 가속을 통해 CPU 점유율을 5% 미만으로 억제하며 60FPS 재생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21284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" y="224942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GSAP 3.12 + ScrollTrigger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08960" y="223113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완벽한 스크롤 타임라인 오케스트레이션 (Pinning)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108960" y="248716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메인 섹션마다 pin: true, scrub: 1 적용으로 스크롤 속도와 씬 모션을 1:1 동기화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텍스트 및 SVG 스트림이 독립적인 타임라인에 맞추어 순차적으로 등장하는 타임라인 체이닝 구현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31181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Three.js r164 (WebGL 2.0)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08960" y="309981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공간 연출 및 실시간 궤도 회전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08960" y="33558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퀀텀 캡슐 및 3중 궤도 링의 실시간 마우스 시선 추적 및 스크롤 연동 회전 연산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LERP 선형 보간 알고리즘으로 끊김 없는 부드러움과 몰입형 입체감 보장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2286000" cy="256032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0080" y="398678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Single Page Architecture (SPA)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3968496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페이지 새로고침 없는 유기적 사용자 경험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08960" y="42245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GNB 4대 메뉴(Home, About Us, Works, Contact Us) 이동 시에도 전체 화면이 깜빡이지 않고 DOM 모핑 전환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백드롭 블러 풀스크린 커튼 드로어로 모바일과 데스크톱 모두에서 일관된 프리미엄 UX 제공</a:t>
            </a:r>
            <a:endParaRPr lang="en-US" sz="750" dirty="0"/>
          </a:p>
        </p:txBody>
      </p:sp>
      <p:sp>
        <p:nvSpPr>
          <p:cNvPr id="31" name="Footer_PageNumber_25">
            <a:extLst>
              <a:ext uri="{FF2B5EF4-FFF2-40B4-BE49-F238E27FC236}">
                <a16:creationId xmlns:a16="http://schemas.microsoft.com/office/drawing/2014/main" id="{C53C080B-0D3F-AC3B-451A-276F7E7BB93E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- 23 -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 b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0" y="25603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 및 배포 실행 로드맵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스프레드시트 연동 </a:t>
            </a:r>
            <a:r>
              <a:rPr lang="en-US" altLang="ko-KR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r>
              <a:rPr lang="ko-KR" altLang="en-US" sz="160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실행 일정 및 배포 마일스톤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확정부터 비디오/인터랙션 퍼블리싱, 최적화 및 런칭까지 4단계 실행 계획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973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57200" y="4864608"/>
            <a:ext cx="822960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 (10/14~10/20)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94360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비디오 에셋 &amp; 기획 컨펌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4360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ko-KR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WINHUB </a:t>
            </a:r>
            <a:r>
              <a:rPr lang="ko-KR" altLang="en-US" sz="80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인터랙티브 웹사이트 리뉴얼 통합 기획서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42032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679192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679192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(10/21~10/27)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679192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GSAP 핀 스크롤 퍼블리싱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679192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Hero 비디오 배경 및 Three.js 카메라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S.01~S.04 핀 스크롤 및 에너지 스트림 개발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차세대 인터랙티브 스타일 2x3 무박스 수치 카운트업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4626864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64024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64024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(10/28~11/03)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64024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연동 &amp; 서브 구축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64024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64024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projects.json 포트폴리오 비동기 바인딩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About Us, Works Detail, Contact Us 연동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60FPS 성능 튜닝 및 웹 접근성 메타태그 적용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711696" y="1280160"/>
            <a:ext cx="196596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848856" y="1417320"/>
            <a:ext cx="1691640" cy="292608"/>
          </a:xfrm>
          <a:prstGeom prst="roundRect">
            <a:avLst/>
          </a:prstGeom>
          <a:solidFill>
            <a:srgbClr val="080A1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48856" y="147218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(11/04~11/06)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848856" y="18288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4.1 WORKS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CMS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Decap CMS &amp; GitHub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커밋
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4.2 Vercel/Netlify CI/CD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배포
 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CDN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최적화 및 도메인</a:t>
            </a:r>
            <a:r>
              <a:rPr lang="en-US" altLang="ko-KR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(winhub.co.kr) </a:t>
            </a:r>
            <a:r>
              <a:rPr lang="ko-KR" altLang="en-US" sz="750" b="1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릴리즈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48856" y="2331720"/>
            <a:ext cx="1691640" cy="914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848856" y="2468880"/>
            <a:ext cx="1691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GitHub Pages CI/CD 파이프라인 자동 배포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공식 도메인(winhub.co.kr) 연결 및 SSL 보안 인증</a:t>
            </a: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endParaRPr lang="en-US" sz="7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780" dirty="0">
                <a:solidFill>
                  <a:srgbClr val="080A1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Google Analytics 및 전환 추적 픽셀 세팅</a:t>
            </a:r>
            <a:endParaRPr lang="en-US" sz="780" dirty="0"/>
          </a:p>
        </p:txBody>
      </p:sp>
      <p:sp>
        <p:nvSpPr>
          <p:cNvPr id="35" name="Footer_PageNumber_26">
            <a:extLst>
              <a:ext uri="{FF2B5EF4-FFF2-40B4-BE49-F238E27FC236}">
                <a16:creationId xmlns:a16="http://schemas.microsoft.com/office/drawing/2014/main" id="{2039134D-AD55-C6E2-DC5C-C08B701B6144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- 24 -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1652E-C4F9-04B9-0B3E-9B45C44B3E4C}"/>
              </a:ext>
            </a:extLst>
          </p:cNvPr>
          <p:cNvSpPr txBox="1"/>
          <p:nvPr/>
        </p:nvSpPr>
        <p:spPr>
          <a:xfrm>
            <a:off x="160000" y="180000"/>
            <a:ext cx="88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기술 아키텍처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: Git CMS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연동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&amp; Vercel/Netlify CI/CD </a:t>
            </a:r>
            <a:r>
              <a:rPr lang="ko-KR" altLang="en-US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1300" b="1">
                <a:solidFill>
                  <a:srgbClr val="080A10"/>
                </a:solidFill>
                <a:latin typeface="Malgun Gothic" panose="020B0503020000020004" pitchFamily="50" charset="-127"/>
              </a:rPr>
              <a:t>(Task 4.1 ~ 4.2)</a:t>
            </a:r>
            <a:endParaRPr lang="ko-KR" altLang="en-US" sz="1300" b="1">
              <a:solidFill>
                <a:srgbClr val="080A1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D1FC-CB09-AF72-6135-BB574DB3192F}"/>
              </a:ext>
            </a:extLst>
          </p:cNvPr>
          <p:cNvSpPr txBox="1"/>
          <p:nvPr/>
        </p:nvSpPr>
        <p:spPr>
          <a:xfrm>
            <a:off x="160000" y="480000"/>
            <a:ext cx="8824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구글 스프레드시트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단계 실행 과제 </a:t>
            </a:r>
            <a:r>
              <a:rPr lang="en-US" altLang="ko-KR" sz="900">
                <a:solidFill>
                  <a:srgbClr val="64748B"/>
                </a:solidFill>
                <a:latin typeface="Malgun Gothic" panose="020B0503020000020004" pitchFamily="50" charset="-127"/>
              </a:rPr>
              <a:t>| </a:t>
            </a:r>
            <a:r>
              <a:rPr lang="ko-KR" altLang="en-US" sz="900">
                <a:solidFill>
                  <a:srgbClr val="64748B"/>
                </a:solidFill>
                <a:latin typeface="Malgun Gothic" panose="020B0503020000020004" pitchFamily="50" charset="-127"/>
              </a:rPr>
              <a:t>무중단 정적 사이트 배포 및 실시간 콘텐츠 관리 시스템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AA3A9E-6BB3-EEA7-49F6-E6FB78C4BBE1}"/>
              </a:ext>
            </a:extLst>
          </p:cNvPr>
          <p:cNvSpPr/>
          <p:nvPr/>
        </p:nvSpPr>
        <p:spPr>
          <a:xfrm>
            <a:off x="160000" y="800000"/>
            <a:ext cx="4360000" cy="304800"/>
          </a:xfrm>
          <a:prstGeom prst="rect">
            <a:avLst/>
          </a:prstGeom>
          <a:solidFill>
            <a:srgbClr val="0EA5E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4.1: WORKS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섹션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Git CMS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연동 아키텍처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55D7F3-FF82-2E7E-EB31-F970D79BFCAF}"/>
              </a:ext>
            </a:extLst>
          </p:cNvPr>
          <p:cNvSpPr/>
          <p:nvPr/>
        </p:nvSpPr>
        <p:spPr>
          <a:xfrm>
            <a:off x="160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Decap CMS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서버리스 관리자 환경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admin/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웹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GUI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를 통한 직관적 포트폴리오 관리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OAuth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안전한 관리자 권한 제어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콘텐츠 마크다운 저장소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(Git Repo)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바인딩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content/works/*.md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구조로 프로젝트 메타 영구 저장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관리자 수정 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브랜치로 자동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Commit &amp; Push
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클라이언트 사이드 비동기 데이터 렌더링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js/works-store.js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모듈에서 마크다운 및 이미지 메타 비동기 파싱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대 카테고리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(ALL/WEB/APP/ERP/SOLUTION)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실시간 필터링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별도 백엔드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DB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서버 없는 무비용 고성능 서버리스 운영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C2A9FB-C7E6-9488-C6C6-7E64379B29DB}"/>
              </a:ext>
            </a:extLst>
          </p:cNvPr>
          <p:cNvSpPr/>
          <p:nvPr/>
        </p:nvSpPr>
        <p:spPr>
          <a:xfrm>
            <a:off x="4624000" y="800000"/>
            <a:ext cx="4360000" cy="304800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■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Task 4.2: Vercel / Netlify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자동 배포 </a:t>
            </a:r>
            <a:r>
              <a:rPr lang="en-US" altLang="ko-KR" sz="950" b="1">
                <a:solidFill>
                  <a:srgbClr val="FFFFFF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950" b="1">
                <a:solidFill>
                  <a:srgbClr val="FFFFFF"/>
                </a:solidFill>
                <a:latin typeface="Malgun Gothic" panose="020B0503020000020004" pitchFamily="50" charset="-127"/>
              </a:rPr>
              <a:t>최종 검수 파이프라인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E86DA16-B7D6-AD36-AFE3-259118F0A65B}"/>
              </a:ext>
            </a:extLst>
          </p:cNvPr>
          <p:cNvSpPr/>
          <p:nvPr/>
        </p:nvSpPr>
        <p:spPr>
          <a:xfrm>
            <a:off x="4624000" y="1104800"/>
            <a:ext cx="4360000" cy="364520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7800" tIns="177800" rIns="177800" rtlCol="0" anchor="t"/>
          <a:lstStyle/>
          <a:p>
            <a:pPr algn="ctr"/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1. Git Webhook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기반 완전 자동화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CI/CD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빌드 트리거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GitHub main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브랜치 푸시 즉시 클라우드 빌드 시작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assets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번들링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, CSS/JS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압축 및 이미지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WebP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변환 최적화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글로벌 엣지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CDN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및 초고속 캐싱 시스템 구축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서울 리전 포함 전 세계 엣지 네트워크 통한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&lt; 0.2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초 로딩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자동 발급 무료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SSL(HTTPS)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인증서 적용으로 보안 무결성 확보
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프로덕션 검수 및 커스텀 도메인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(winhub.co.kr)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연결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Google Lighthouse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코어 웹 바이탈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(LCP &lt; 1.2s, CLS = 0)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검증
 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크로스 브라우징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QA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완료 후 공식 도메인 </a:t>
            </a:r>
            <a:r>
              <a:rPr lang="en-US" altLang="ko-KR" sz="850">
                <a:solidFill>
                  <a:srgbClr val="0F172A"/>
                </a:solidFill>
                <a:latin typeface="Malgun Gothic" panose="020B0503020000020004" pitchFamily="50" charset="-127"/>
              </a:rPr>
              <a:t>DNS </a:t>
            </a:r>
            <a:r>
              <a:rPr lang="ko-KR" altLang="en-US" sz="850">
                <a:solidFill>
                  <a:srgbClr val="0F172A"/>
                </a:solidFill>
                <a:latin typeface="Malgun Gothic" panose="020B0503020000020004" pitchFamily="50" charset="-127"/>
              </a:rPr>
              <a:t>스위칭 릴리즈</a:t>
            </a:r>
          </a:p>
        </p:txBody>
      </p:sp>
      <p:sp>
        <p:nvSpPr>
          <p:cNvPr id="8" name="Footer_PageNumber_27">
            <a:extLst>
              <a:ext uri="{FF2B5EF4-FFF2-40B4-BE49-F238E27FC236}">
                <a16:creationId xmlns:a16="http://schemas.microsoft.com/office/drawing/2014/main" id="{9DD02F28-91F4-A3B7-F182-7E03ECDBA83A}"/>
              </a:ext>
            </a:extLst>
          </p:cNvPr>
          <p:cNvSpPr txBox="1"/>
          <p:nvPr/>
        </p:nvSpPr>
        <p:spPr>
          <a:xfrm>
            <a:off x="4072000" y="4906944"/>
            <a:ext cx="1000000" cy="123111"/>
          </a:xfrm>
          <a:prstGeom prst="rect">
            <a:avLst/>
          </a:prstGeom>
          <a:noFill/>
        </p:spPr>
        <p:txBody>
          <a:bodyPr vert="horz" lIns="0" tIns="0" rIns="0" bIns="0" rtlCol="0" anchor="ctr">
            <a:spAutoFit/>
          </a:bodyPr>
          <a:lstStyle/>
          <a:p>
            <a:pPr algn="ctr"/>
            <a:r>
              <a:rPr sz="800">
                <a:solidFill>
                  <a:srgbClr val="94A3B8"/>
                </a:solidFill>
                <a:latin typeface="Malgun Gothic"/>
              </a:rPr>
              <a:t>- 25 -</a:t>
            </a:r>
          </a:p>
        </p:txBody>
      </p:sp>
    </p:spTree>
    <p:extLst>
      <p:ext uri="{BB962C8B-B14F-4D97-AF65-F5344CB8AC3E}">
        <p14:creationId xmlns:p14="http://schemas.microsoft.com/office/powerpoint/2010/main" val="357255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5074</Words>
  <Application>Microsoft Office PowerPoint</Application>
  <PresentationFormat>화면 슬라이드 쇼(16:9)</PresentationFormat>
  <Paragraphs>663</Paragraphs>
  <Slides>25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Malgun Gothic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WINHUB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WINHUB 웹사이트 리뉴얼 화면설계 및 기술전략 통합 기획서</dc:title>
  <dc:subject>CoMinVi 벤치마킹 분석 + 와이어프레임 + futuristic_key.mp4 비디오 에셋 통합본</dc:subject>
  <dc:creator>WINHUB Strategy &amp; Planning Group</dc:creator>
  <cp:lastModifiedBy>db</cp:lastModifiedBy>
  <cp:revision>4</cp:revision>
  <dcterms:created xsi:type="dcterms:W3CDTF">2026-10-16T06:28:46Z</dcterms:created>
  <dcterms:modified xsi:type="dcterms:W3CDTF">2026-10-19T07:49:36Z</dcterms:modified>
</cp:coreProperties>
</file>