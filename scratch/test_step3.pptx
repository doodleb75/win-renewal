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4000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5-ACT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5단계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5단계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차세대 인터랙티브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5단계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5-Act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핵심 비전·기술·실적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0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1</a:t>
            </a:r>
          </a:p>
        </p:txBody>
      </p:sp>
      <p:sp>
        <p:nvSpPr>
          <p:cNvPr id="14" name="Text 12"/>
          <p:cNvSpPr/>
          <p:nvPr/>
        </p:nvSpPr>
        <p:spPr>
          <a:xfrm>
            <a:off x="15087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Hero Cinematic</a:t>
            </a:r>
          </a:p>
        </p:txBody>
      </p:sp>
      <p:sp>
        <p:nvSpPr>
          <p:cNvPr id="15" name="Text 13"/>
          <p:cNvSpPr/>
          <p:nvPr/>
        </p:nvSpPr>
        <p:spPr>
          <a:xfrm>
            <a:off x="3063240" y="13807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Hero 영역</a:t>
            </a:r>
          </a:p>
        </p:txBody>
      </p:sp>
      <p:sp>
        <p:nvSpPr>
          <p:cNvPr id="16" name="Text 14"/>
          <p:cNvSpPr/>
          <p:nvPr/>
        </p:nvSpPr>
        <p:spPr>
          <a:xfrm>
            <a:off x="42519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futuristic_key.mp4 비디오</a:t>
            </a:r>
          </a:p>
        </p:txBody>
      </p:sp>
      <p:sp>
        <p:nvSpPr>
          <p:cNvPr id="17" name="Text 15"/>
          <p:cNvSpPr/>
          <p:nvPr/>
        </p:nvSpPr>
        <p:spPr>
          <a:xfrm>
            <a:off x="5806440" y="1380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미래지향적 게이트웨이: 비디오 배경 루프 위에서 미래를 여는 열쇠 모티브 전개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1892808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200253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039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2</a:t>
            </a:r>
          </a:p>
        </p:txBody>
      </p:sp>
      <p:sp>
        <p:nvSpPr>
          <p:cNvPr id="21" name="Text 19"/>
          <p:cNvSpPr/>
          <p:nvPr/>
        </p:nvSpPr>
        <p:spPr>
          <a:xfrm>
            <a:off x="15087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Tech Innovation</a:t>
            </a:r>
          </a:p>
        </p:txBody>
      </p:sp>
      <p:sp>
        <p:nvSpPr>
          <p:cNvPr id="22" name="Text 20"/>
          <p:cNvSpPr/>
          <p:nvPr/>
        </p:nvSpPr>
        <p:spPr>
          <a:xfrm>
            <a:off x="3063240" y="20391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S.01 Tech</a:t>
            </a:r>
          </a:p>
        </p:txBody>
      </p:sp>
      <p:sp>
        <p:nvSpPr>
          <p:cNvPr id="23" name="Text 21"/>
          <p:cNvSpPr/>
          <p:nvPr/>
        </p:nvSpPr>
        <p:spPr>
          <a:xfrm>
            <a:off x="42519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AI 칩셋 SVG + 무드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지능의 신경망: AI · 클라우드 · 빅데이터 아키텍처를 엔터프라이즈 환경에 최적화하여 구현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2551176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660904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3</a:t>
            </a:r>
          </a:p>
        </p:txBody>
      </p:sp>
      <p:sp>
        <p:nvSpPr>
          <p:cNvPr id="28" name="Text 26"/>
          <p:cNvSpPr/>
          <p:nvPr/>
        </p:nvSpPr>
        <p:spPr>
          <a:xfrm>
            <a:off x="15087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Custom Strategy</a:t>
            </a:r>
          </a:p>
        </p:txBody>
      </p:sp>
      <p:sp>
        <p:nvSpPr>
          <p:cNvPr id="29" name="Text 27"/>
          <p:cNvSpPr/>
          <p:nvPr/>
        </p:nvSpPr>
        <p:spPr>
          <a:xfrm>
            <a:off x="3063240" y="2697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S.02 Strategy</a:t>
            </a:r>
          </a:p>
        </p:txBody>
      </p:sp>
      <p:sp>
        <p:nvSpPr>
          <p:cNvPr id="30" name="Text 28"/>
          <p:cNvSpPr/>
          <p:nvPr/>
        </p:nvSpPr>
        <p:spPr>
          <a:xfrm>
            <a:off x="42519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레이더 SVG + 무드 배경</a:t>
            </a:r>
          </a:p>
        </p:txBody>
      </p:sp>
      <p:sp>
        <p:nvSpPr>
          <p:cNvPr id="31" name="Text 29"/>
          <p:cNvSpPr/>
          <p:nvPr/>
        </p:nvSpPr>
        <p:spPr>
          <a:xfrm>
            <a:off x="5806440" y="2697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정밀 맞춤: 비즈니스 파이프라인을 정밀 분석해 산업단위 시스템 구축 및 운영 로드맵 설계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3319272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33558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4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Scale &amp; Proof</a:t>
            </a:r>
          </a:p>
        </p:txBody>
      </p:sp>
      <p:sp>
        <p:nvSpPr>
          <p:cNvPr id="36" name="Text 34"/>
          <p:cNvSpPr/>
          <p:nvPr/>
        </p:nvSpPr>
        <p:spPr>
          <a:xfrm>
            <a:off x="3063240" y="3355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S.03 Impact</a:t>
            </a:r>
          </a:p>
        </p:txBody>
      </p:sp>
      <p:sp>
        <p:nvSpPr>
          <p:cNvPr id="37" name="Text 35"/>
          <p:cNvSpPr/>
          <p:nvPr/>
        </p:nvSpPr>
        <p:spPr>
          <a:xfrm>
            <a:off x="42519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차세대 인터랙티브 2x3 Grid</a:t>
            </a:r>
          </a:p>
        </p:txBody>
      </p:sp>
      <p:sp>
        <p:nvSpPr>
          <p:cNvPr id="38" name="Text 36"/>
          <p:cNvSpPr/>
          <p:nvPr/>
        </p:nvSpPr>
        <p:spPr>
          <a:xfrm>
            <a:off x="5806440" y="3355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숫자의 증명: 99.98% 가동률, 15+년 등 무박스 헤어라인 수치 그리드 카운트업</a:t>
            </a:r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40142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5</a:t>
            </a:r>
          </a:p>
        </p:txBody>
      </p:sp>
      <p:sp>
        <p:nvSpPr>
          <p:cNvPr id="42" name="Text 40"/>
          <p:cNvSpPr/>
          <p:nvPr/>
        </p:nvSpPr>
        <p:spPr>
          <a:xfrm>
            <a:off x="15087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Works &amp; Outro</a:t>
            </a:r>
          </a:p>
        </p:txBody>
      </p:sp>
      <p:sp>
        <p:nvSpPr>
          <p:cNvPr id="43" name="Text 41"/>
          <p:cNvSpPr/>
          <p:nvPr/>
        </p:nvSpPr>
        <p:spPr>
          <a:xfrm>
            <a:off x="3063240" y="40142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S.04 / S.05</a:t>
            </a:r>
          </a:p>
        </p:txBody>
      </p:sp>
      <p:sp>
        <p:nvSpPr>
          <p:cNvPr id="44" name="Text 42"/>
          <p:cNvSpPr/>
          <p:nvPr/>
        </p:nvSpPr>
        <p:spPr>
          <a:xfrm>
            <a:off x="42519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Index Table + CTA</a:t>
            </a:r>
          </a:p>
        </p:txBody>
      </p:sp>
      <p:sp>
        <p:nvSpPr>
          <p:cNvPr id="45" name="Text 43"/>
          <p:cNvSpPr/>
          <p:nvPr/>
        </p:nvSpPr>
        <p:spPr>
          <a:xfrm>
            <a:off x="5806440" y="40142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실적 &amp; 제안: 에디토리얼 실적 인덱스 테이블을 지나 'READY TO EMPOWER?' 제안으로 마침표</a:t>
            </a:r>
          </a:p>
        </p:txBody>
      </p:sp>
      <p:sp>
        <p:nvSpPr>
          <p:cNvPr id="46" name="Shape 44"/>
          <p:cNvSpPr/>
          <p:nvPr/>
        </p:nvSpPr>
        <p:spPr>
          <a:xfrm>
            <a:off x="-182880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Shape 45"/>
          <p:cNvSpPr/>
          <p:nvPr/>
        </p:nvSpPr>
        <p:spPr>
          <a:xfrm>
            <a:off x="-1828800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/>
        </p:txBody>
      </p:sp>
      <p:sp>
        <p:nvSpPr>
          <p:cNvPr id="48" name="Text 46"/>
          <p:cNvSpPr/>
          <p:nvPr/>
        </p:nvSpPr>
        <p:spPr>
          <a:xfrm>
            <a:off x="-1828800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49" name="Text 47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0" name="Text 48"/>
          <p:cNvSpPr/>
          <p:nvPr/>
        </p:nvSpPr>
        <p:spPr>
          <a:xfrm>
            <a:off x="-1828800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1" name="Text 49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2" name="Text 50"/>
          <p:cNvSpPr/>
          <p:nvPr/>
        </p:nvSpPr>
        <p:spPr>
          <a:xfrm>
            <a:off x="-1828800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3" name="Shape 51"/>
          <p:cNvSpPr/>
          <p:nvPr/>
        </p:nvSpPr>
        <p:spPr>
          <a:xfrm>
            <a:off x="-182880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Shape 52"/>
          <p:cNvSpPr/>
          <p:nvPr/>
        </p:nvSpPr>
        <p:spPr>
          <a:xfrm>
            <a:off x="-1828800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/>
        </p:txBody>
      </p:sp>
      <p:sp>
        <p:nvSpPr>
          <p:cNvPr id="55" name="Text 53"/>
          <p:cNvSpPr/>
          <p:nvPr/>
        </p:nvSpPr>
        <p:spPr>
          <a:xfrm>
            <a:off x="-1828800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6" name="Text 54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7" name="Text 55"/>
          <p:cNvSpPr/>
          <p:nvPr/>
        </p:nvSpPr>
        <p:spPr>
          <a:xfrm>
            <a:off x="-1828800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8" name="Text 56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9" name="Text 57"/>
          <p:cNvSpPr/>
          <p:nvPr/>
        </p:nvSpPr>
        <p:spPr>
          <a:xfrm>
            <a:off x="-1828800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486490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c:\win-renewal\assets\mp4\futuristic_key.mp4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1863469" y="1848408"/>
            <a:ext cx="1613061" cy="1613061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2518775" y="2050040"/>
            <a:ext cx="302448" cy="1008163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55306" y="2453306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[Futuristic MP4 Video Loop &amp; Particle Canvas]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209428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864734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359387" y="3804244"/>
            <a:ext cx="2621224" cy="282285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359387" y="3834489"/>
            <a:ext cx="2621224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913877" y="2554122"/>
            <a:ext cx="1411428" cy="1512244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913877" y="3058204"/>
            <a:ext cx="1411428" cy="504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S.03 Proven Execution (무결점 증명)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6533" y="150000"/>
            <a:ext cx="6949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Hex Shield Seal</a:t>
            </a:r>
          </a:p>
        </p:txBody>
      </p:sp>
      <p:sp>
        <p:nvSpPr>
          <p:cNvPr id="2" name="Footer_PageNumber_14">
            <a:extLst>
              <a:ext uri="{FF2B5EF4-FFF2-40B4-BE49-F238E27FC236}">
                <a16:creationId xmlns:a16="http://schemas.microsoft.com/office/drawing/2014/main" id="{0D9735FE-134D-9A6F-6D69-95EB28EF466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814693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81469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76204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1918979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006530" y="2302081"/>
            <a:ext cx="1512244" cy="1008163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619591" y="2201265"/>
            <a:ext cx="0" cy="1108979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H="1">
            <a:off x="2720408" y="2302081"/>
            <a:ext cx="1512244" cy="1008163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1913877" y="3209428"/>
            <a:ext cx="1411428" cy="1209795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2317142" y="3511877"/>
            <a:ext cx="604897" cy="60489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409795" y="4469632"/>
            <a:ext cx="2419591" cy="260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[Pulse Wave Explosion]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S.04 Integrated Synergy (퀀텀 코어 수렴)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0960" y="150000"/>
            <a:ext cx="66608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Quantum Core</a:t>
            </a:r>
          </a:p>
        </p:txBody>
      </p:sp>
      <p:sp>
        <p:nvSpPr>
          <p:cNvPr id="2" name="Footer_PageNumber_15">
            <a:extLst>
              <a:ext uri="{FF2B5EF4-FFF2-40B4-BE49-F238E27FC236}">
                <a16:creationId xmlns:a16="http://schemas.microsoft.com/office/drawing/2014/main" id="{B5F7916B-2A51-19CD-4707-06B4AC198EC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S.03 · ENTERPRISE IMPACT</a:t>
            </a:r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S.03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S.04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86000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92000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S.05 · READY TO CONNECT</a:t>
            </a:r>
          </a:p>
        </p:txBody>
      </p:sp>
      <p:sp>
        <p:nvSpPr>
          <p:cNvPr id="33" name="Text 30"/>
          <p:cNvSpPr/>
          <p:nvPr/>
        </p:nvSpPr>
        <p:spPr>
          <a:xfrm>
            <a:off x="704081" y="104000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164000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04081" y="2957387"/>
            <a:ext cx="2419591" cy="322612"/>
          </a:xfrm>
          <a:prstGeom prst="round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S.05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00000" y="2840000"/>
            <a:ext cx="4940000" cy="1850000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220000" y="2940000"/>
            <a:ext cx="8890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WINHUB
in   @   fb
IT Innovation Partner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360000" y="2940000"/>
            <a:ext cx="9525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EXPLORE ]
About Us
Works
Contact Us
Support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4D813-402A-224E-5717-5CDB70BB51B2}"/>
              </a:ext>
            </a:extLst>
          </p:cNvPr>
          <p:cNvSpPr txBox="1"/>
          <p:nvPr/>
        </p:nvSpPr>
        <p:spPr>
          <a:xfrm>
            <a:off x="2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LIBRARY ]
Flagship Works
Architecture
Insights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6BAA4-45EB-C893-CF5B-99C906EDD351}"/>
              </a:ext>
            </a:extLst>
          </p:cNvPr>
          <p:cNvSpPr txBox="1"/>
          <p:nvPr/>
        </p:nvSpPr>
        <p:spPr>
          <a:xfrm>
            <a:off x="3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LEGAL ]
Notice of Privacy
Terms of Service
Security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0B94-7886-919B-E1AD-51DC9D55B48D}"/>
              </a:ext>
            </a:extLst>
          </p:cNvPr>
          <p:cNvSpPr txBox="1"/>
          <p:nvPr/>
        </p:nvSpPr>
        <p:spPr>
          <a:xfrm>
            <a:off x="4310000" y="2940000"/>
            <a:ext cx="10160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CONTACT ]
contact@winhub.co.kr
031-908-7711
Direct Inquiry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26480" y="164592"/>
            <a:ext cx="914400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3840" y="164592"/>
            <a:ext cx="1143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4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4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 아키텍처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works.html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works-detail.html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[스마트 견적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서비스 유형(웹/앱/ERP/솔루션), 예산, 일정 인터랙티브 입력</a:t>
            </a:r>
            <a:br/>
            <a:r>
              <a:t>  · 개인정보 보호 암호화 및 실시간 검증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[본사 위치 지도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카카오맵 API 연동 및 오시는 길(마두역 4번출구) 안내</a:t>
            </a:r>
            <a:br/>
            <a:r>
              <a:t>  · SK M-City 섹션 9005호 맵 마커 표시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[공식 연락처 직통 채널]: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대표 이메일: contact@winhub.co.kr | 대표 전화: 031-908-7711</a:t>
            </a:r>
            <a:br/>
            <a:r>
              <a:t>  · 접수 즉시 담당자 배정 및 24시간 내 회신 프로세스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164592"/>
            <a:ext cx="914400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4300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algun Gothic"/>
              </a:rPr>
              <a:t>contact.html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A5E9"/>
                          </a:solidFill>
                          <a:latin typeface="Malgun Gothic"/>
                        </a:rPr>
                        <a:t>ACT 1 (Hero)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CONNECTS TO EMPOWER YOUR SUCCESS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미래를 여는 디지털 키(Gateway)로 고객 비즈니스의 성공적 도약을 견인합니다.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#futuristic_key #연결 #도약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2 (S.01)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ORCHESTRATING ENTERPRISE INTELLIGENCE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AI · 클라우드 · 빅데이터 아키텍처를 엔터프라이즈 환경에 최적화하여 구현합니다.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#AI칩셋 #신경망 #클라우드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3 (S.02)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PRECISION AT SCALE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비즈니스 파이프라인을 정밀 분석해 산업단위의 시스템 구축 및 운영 로드맵을 설계합니다.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#레이더스캔 #정밀분석 #맞춤전략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4 (S.03)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NUMBERS THAT PROVE LEADERSHIP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99.98% 시스템 가동률, 15+년 엔터프라이즈 SI 노하우, 50+ 대기업 파트너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#실적수치 #가동률 #엔터프라이즈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5 (Outro)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READY TO EMPOWER YOUR FUTURE?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단순한 시스템 구축을 넘어, 비즈니스의 성공적인 디지털 전환을 지금 시작하십시오.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#프로젝트제안 #상담문의 #전환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5333</Words>
  <Application>Microsoft Office PowerPoint</Application>
  <PresentationFormat>화면 슬라이드 쇼(16:9)</PresentationFormat>
  <Paragraphs>706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2</cp:revision>
  <dcterms:created xsi:type="dcterms:W3CDTF">2026-10-16T06:28:46Z</dcterms:created>
  <dcterms:modified xsi:type="dcterms:W3CDTF">2026-10-19T01:51:43Z</dcterms:modified>
</cp:coreProperties>
</file>