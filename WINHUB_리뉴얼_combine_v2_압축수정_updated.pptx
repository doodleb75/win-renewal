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3" r:id="rId16"/>
    <p:sldId id="274" r:id="rId17"/>
    <p:sldId id="275" r:id="rId18"/>
    <p:sldId id="282" r:id="rId19"/>
    <p:sldId id="276" r:id="rId20"/>
    <p:sldId id="277" r:id="rId21"/>
    <p:sldId id="278" r:id="rId22"/>
    <p:sldId id="279" r:id="rId23"/>
    <p:sldId id="280" r:id="rId24"/>
    <p:sldId id="281" r:id="rId25"/>
    <p:sldId id="283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9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80A10"/>
                          </a:solidFill>
                          <a:latin typeface="Malgun Gothic"/>
                        </a:rPr>
                        <a:t>페이지명.html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8702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WEB ARCHITECTURE · 5-ACT STORYTELLING · COMPLETE COMBINED SPEC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이식 · 5단계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차세대 인터랙티브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5단계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카탈로그형 사이트의 한계를 넘어 인터랙티브 웹으로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고화질 비디오 배경 &amp; 스크롤에 반응하는 모던 스토리텔링 중심 설계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깜빡임 없이 부드러운 화면 전환(Seamless) 인터랙션 설계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흐름에 맞춘 부드러운 화면 제어 &amp; 텍스트 모션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S.01~S.02: 심플 SVG(AI 칩셋·레이더) 모션 &amp; 앰비언트 무드 배경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S.03~S.05: 차세대 인터랙티브 2x3 수치 그리드 &amp; 실적 쇼케이스 CTA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 국문/영문 심볼릭 카피라이팅 시스템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고화질 영상, 부드러운 웹 모션, 반응형 레이아웃 기술 융합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고화질 영상 + 감각적인 모션 연출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미래지향적 비디오 배경(futuristic_key.mp4)과 그래픽 연출로 시각적 신뢰감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엔터프라이즈 레퍼런스를 직관적 수치로 증명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- 3 -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매끄러운 화면 전환과 풀스크린 커튼 메뉴 시스템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 최상단에 항상 고정되어 언제든 원하는 메뉴로 이동 가능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은은한 반투명 다크 배경으로 본문과 자연스럽게 조화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콘텐츠를 가리지 않으면서 로고 / 메뉴 버튼 구조를 깔끔하게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4대 핵심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 창 대신 화면 전체(풀스크린)를 감각적으로 덮는 시원한 오버레이 메뉴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물 흐르듯 순차적으로 나타나는 트렌디한 모션 연출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큼직하고 세련된 폰트를 적용하여 방문자에게 명확하고 직관적인 브랜드 인상 전달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참조 사이트: 1367studio (https://www.1367studio.com/) 풀스크린 메뉴 스타일 벤치마킹</a:t>
            </a:r>
            <a:endParaRPr lang="en-US" sz="750" dirty="0"/>
          </a:p>
          <a:p>
            <a:r>
              <a:rPr sz="750">
                <a:solidFill>
                  <a:srgbClr val="64748B"/>
                </a:solidFill>
                <a:latin typeface="Malgun Gothic"/>
              </a:rPr>
              <a:t>· ESC 키 감지 및 닫기 버튼으로 언제든지 편하고 빠르게 닫을 수 있는 쉬운 사용성</a:t>
            </a:r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 깜빡임 없는 매끄러운 페이지 이동 (화면 끊김 방지)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메뉴 클릭 시 화면이 하얗게 깜빡이지 않고 부드럽게 전환 시작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현재 화면이 은은하게 페이드아웃되며 다음 페이지로 자연스럽게 연결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상단 헤더 메뉴와 배경 무드를 안정적으로 유지하며 새 콘텐츠 신속 로딩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새로운 페이지의 최상단 위치로 스크롤을 매끄럽게 맞추어 즉시 탐색 지원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페이지의 인터랙티브 요소들이 유기적으로 등장하며 방문자 몰입 유도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고정된 채, 스크롤에 맞춰 텍스트와 그래픽이 자연스럽게 변화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영상 배경과 그래픽 모션, 텍스트 효과가 스크롤 흐름에 맞추어 완벽하게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순차 등장 모션 (Line Reveal)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899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스크롤 속도에 맞추어 화면과 텍스트가 자연스럽게 변화하는 1:1 모션 연동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텍스트 문장을 행 단위로 분할하여 아래에서 위로 부드럽게 나타나는 등장 효과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HTML5 Video &amp; Modern SVG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고화질 배경 비디오, 심플 벡터 그래픽, 실시간 부드러운 웹 모션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futuristic_key 비디오 + 세련된 AI/레이더 그래픽 연출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5단계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- 8 -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5-Act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은은한 반투명 다크 배경과 함께 풀스크린 메뉴 창이 시원하게 열림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[텍스트 순차 등장]: 01 Home부터 04 Contact Us까지 텍스트가 아래에서 위로 물 흐르듯 순차적으로 나타남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- 9 -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핵심 비전·기술·실적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07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1</a:t>
            </a:r>
          </a:p>
        </p:txBody>
      </p:sp>
      <p:sp>
        <p:nvSpPr>
          <p:cNvPr id="14" name="Text 12"/>
          <p:cNvSpPr/>
          <p:nvPr/>
        </p:nvSpPr>
        <p:spPr>
          <a:xfrm>
            <a:off x="1508760" y="13807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Hero Cinematic</a:t>
            </a:r>
          </a:p>
        </p:txBody>
      </p:sp>
      <p:sp>
        <p:nvSpPr>
          <p:cNvPr id="15" name="Text 13"/>
          <p:cNvSpPr/>
          <p:nvPr/>
        </p:nvSpPr>
        <p:spPr>
          <a:xfrm>
            <a:off x="3063240" y="1380744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Hero 영역</a:t>
            </a:r>
          </a:p>
        </p:txBody>
      </p:sp>
      <p:sp>
        <p:nvSpPr>
          <p:cNvPr id="16" name="Text 14"/>
          <p:cNvSpPr/>
          <p:nvPr/>
        </p:nvSpPr>
        <p:spPr>
          <a:xfrm>
            <a:off x="4160520" y="13807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futuristic_key.mp4 비디오</a:t>
            </a:r>
          </a:p>
        </p:txBody>
      </p:sp>
      <p:sp>
        <p:nvSpPr>
          <p:cNvPr id="17" name="Text 15"/>
          <p:cNvSpPr/>
          <p:nvPr/>
        </p:nvSpPr>
        <p:spPr>
          <a:xfrm>
            <a:off x="5806440" y="1380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미래지향적 게이트웨이: 비디오 배경 루프 위에서 미래를 여는 열쇠 모티브 전개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1892808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2002536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20391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2</a:t>
            </a:r>
          </a:p>
        </p:txBody>
      </p:sp>
      <p:sp>
        <p:nvSpPr>
          <p:cNvPr id="21" name="Text 19"/>
          <p:cNvSpPr/>
          <p:nvPr/>
        </p:nvSpPr>
        <p:spPr>
          <a:xfrm>
            <a:off x="1508760" y="2039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Tech Innovation</a:t>
            </a:r>
          </a:p>
        </p:txBody>
      </p:sp>
      <p:sp>
        <p:nvSpPr>
          <p:cNvPr id="22" name="Text 20"/>
          <p:cNvSpPr/>
          <p:nvPr/>
        </p:nvSpPr>
        <p:spPr>
          <a:xfrm>
            <a:off x="3063240" y="20391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S.01 Tech</a:t>
            </a:r>
          </a:p>
        </p:txBody>
      </p:sp>
      <p:sp>
        <p:nvSpPr>
          <p:cNvPr id="23" name="Text 21"/>
          <p:cNvSpPr/>
          <p:nvPr/>
        </p:nvSpPr>
        <p:spPr>
          <a:xfrm>
            <a:off x="4160520" y="203911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AI 칩셋 SVG + 무드 배경</a:t>
            </a:r>
          </a:p>
        </p:txBody>
      </p:sp>
      <p:sp>
        <p:nvSpPr>
          <p:cNvPr id="24" name="Text 22"/>
          <p:cNvSpPr/>
          <p:nvPr/>
        </p:nvSpPr>
        <p:spPr>
          <a:xfrm>
            <a:off x="5806440" y="2039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지능의 신경망: AI · 클라우드 · 빅데이터 아키텍처를 엔터프라이즈 환경에 최적화하여 구현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" y="2551176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660904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6974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3</a:t>
            </a:r>
          </a:p>
        </p:txBody>
      </p:sp>
      <p:sp>
        <p:nvSpPr>
          <p:cNvPr id="28" name="Text 26"/>
          <p:cNvSpPr/>
          <p:nvPr/>
        </p:nvSpPr>
        <p:spPr>
          <a:xfrm>
            <a:off x="1508760" y="2697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Custom Strategy</a:t>
            </a:r>
          </a:p>
        </p:txBody>
      </p:sp>
      <p:sp>
        <p:nvSpPr>
          <p:cNvPr id="29" name="Text 27"/>
          <p:cNvSpPr/>
          <p:nvPr/>
        </p:nvSpPr>
        <p:spPr>
          <a:xfrm>
            <a:off x="3063240" y="26974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S.02 Strategy</a:t>
            </a:r>
          </a:p>
        </p:txBody>
      </p:sp>
      <p:sp>
        <p:nvSpPr>
          <p:cNvPr id="30" name="Text 28"/>
          <p:cNvSpPr/>
          <p:nvPr/>
        </p:nvSpPr>
        <p:spPr>
          <a:xfrm>
            <a:off x="4160520" y="26974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레이더 SVG + 무드 배경</a:t>
            </a:r>
          </a:p>
        </p:txBody>
      </p:sp>
      <p:sp>
        <p:nvSpPr>
          <p:cNvPr id="31" name="Text 29"/>
          <p:cNvSpPr/>
          <p:nvPr/>
        </p:nvSpPr>
        <p:spPr>
          <a:xfrm>
            <a:off x="5806440" y="2697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정밀 맞춤: 비즈니스 파이프라인을 정밀 분석해 산업단위 시스템 구축 및 운영 로드맵 설계</a:t>
            </a:r>
          </a:p>
        </p:txBody>
      </p:sp>
      <p:sp>
        <p:nvSpPr>
          <p:cNvPr id="32" name="Shape 30"/>
          <p:cNvSpPr/>
          <p:nvPr/>
        </p:nvSpPr>
        <p:spPr>
          <a:xfrm>
            <a:off x="457200" y="3209544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3319272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33558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4</a:t>
            </a:r>
          </a:p>
        </p:txBody>
      </p:sp>
      <p:sp>
        <p:nvSpPr>
          <p:cNvPr id="35" name="Text 33"/>
          <p:cNvSpPr/>
          <p:nvPr/>
        </p:nvSpPr>
        <p:spPr>
          <a:xfrm>
            <a:off x="15087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Scale &amp; Proof</a:t>
            </a:r>
          </a:p>
        </p:txBody>
      </p:sp>
      <p:sp>
        <p:nvSpPr>
          <p:cNvPr id="36" name="Text 34"/>
          <p:cNvSpPr/>
          <p:nvPr/>
        </p:nvSpPr>
        <p:spPr>
          <a:xfrm>
            <a:off x="3063240" y="335584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S.03 Impact</a:t>
            </a:r>
          </a:p>
        </p:txBody>
      </p:sp>
      <p:sp>
        <p:nvSpPr>
          <p:cNvPr id="37" name="Text 35"/>
          <p:cNvSpPr/>
          <p:nvPr/>
        </p:nvSpPr>
        <p:spPr>
          <a:xfrm>
            <a:off x="4160520" y="33558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차세대 인터랙티브 2x3 Grid</a:t>
            </a:r>
          </a:p>
        </p:txBody>
      </p:sp>
      <p:sp>
        <p:nvSpPr>
          <p:cNvPr id="38" name="Text 36"/>
          <p:cNvSpPr/>
          <p:nvPr/>
        </p:nvSpPr>
        <p:spPr>
          <a:xfrm>
            <a:off x="5806440" y="3355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숫자의 증명: 99.98% 가동률, 15+년 등 무박스 헤어라인 수치 그리드 카운트업</a:t>
            </a:r>
          </a:p>
        </p:txBody>
      </p:sp>
      <p:sp>
        <p:nvSpPr>
          <p:cNvPr id="39" name="Shape 37"/>
          <p:cNvSpPr/>
          <p:nvPr/>
        </p:nvSpPr>
        <p:spPr>
          <a:xfrm>
            <a:off x="457200" y="3867912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977640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40142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5</a:t>
            </a:r>
          </a:p>
        </p:txBody>
      </p:sp>
      <p:sp>
        <p:nvSpPr>
          <p:cNvPr id="42" name="Text 40"/>
          <p:cNvSpPr/>
          <p:nvPr/>
        </p:nvSpPr>
        <p:spPr>
          <a:xfrm>
            <a:off x="1508760" y="4014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Works &amp; Outro</a:t>
            </a:r>
          </a:p>
        </p:txBody>
      </p:sp>
      <p:sp>
        <p:nvSpPr>
          <p:cNvPr id="43" name="Text 41"/>
          <p:cNvSpPr/>
          <p:nvPr/>
        </p:nvSpPr>
        <p:spPr>
          <a:xfrm>
            <a:off x="3063240" y="401421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S.04 / S.05</a:t>
            </a:r>
          </a:p>
        </p:txBody>
      </p:sp>
      <p:sp>
        <p:nvSpPr>
          <p:cNvPr id="44" name="Text 42"/>
          <p:cNvSpPr/>
          <p:nvPr/>
        </p:nvSpPr>
        <p:spPr>
          <a:xfrm>
            <a:off x="4160520" y="401421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Index Table + CTA</a:t>
            </a:r>
          </a:p>
        </p:txBody>
      </p:sp>
      <p:sp>
        <p:nvSpPr>
          <p:cNvPr id="45" name="Text 43"/>
          <p:cNvSpPr/>
          <p:nvPr/>
        </p:nvSpPr>
        <p:spPr>
          <a:xfrm>
            <a:off x="5806440" y="40142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실적 &amp; 제안: 에디토리얼 실적 인덱스 테이블을 지나 'READY TO EMPOWER?' 제안으로 마침표</a:t>
            </a:r>
          </a:p>
        </p:txBody>
      </p:sp>
      <p:sp>
        <p:nvSpPr>
          <p:cNvPr id="46" name="Shape 44"/>
          <p:cNvSpPr/>
          <p:nvPr/>
        </p:nvSpPr>
        <p:spPr>
          <a:xfrm>
            <a:off x="-182880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-1828800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-1828800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-1828800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-1828800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-182880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-1828800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-1828800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-1828800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-1828800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- 10 -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378532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futuristic_key.mp4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855306" y="2150163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2906285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561591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4706D5-CA6A-0D79-A1B3-E76322EC9420}"/>
              </a:ext>
            </a:extLst>
          </p:cNvPr>
          <p:cNvGrpSpPr/>
          <p:nvPr/>
        </p:nvGrpSpPr>
        <p:grpSpPr>
          <a:xfrm>
            <a:off x="1359387" y="4113183"/>
            <a:ext cx="2621224" cy="282285"/>
            <a:chOff x="1359387" y="4254326"/>
            <a:chExt cx="2621224" cy="282285"/>
          </a:xfrm>
        </p:grpSpPr>
        <p:sp>
          <p:nvSpPr>
            <p:cNvPr id="39" name="Shape 36"/>
            <p:cNvSpPr/>
            <p:nvPr/>
          </p:nvSpPr>
          <p:spPr>
            <a:xfrm>
              <a:off x="1359387" y="4254326"/>
              <a:ext cx="2621224" cy="282285"/>
            </a:xfrm>
            <a:prstGeom prst="round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 37"/>
            <p:cNvSpPr/>
            <p:nvPr/>
          </p:nvSpPr>
          <p:spPr>
            <a:xfrm>
              <a:off x="1359387" y="4284571"/>
              <a:ext cx="2621224" cy="2217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71" b="1" dirty="0">
                  <a:solidFill>
                    <a:srgbClr val="080A1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SCROLL TO INITIATE SYSTEM ↓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▶ [고화질 배경 영상 연동]:</a:t>
            </a:r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  · assets/mp4/futuristic_key.mp4 고화질 비디오 무한 루프 재생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다크 오버레이를 적용하여 메인 텍스트의 선명한 가독성 확보</a:t>
            </a:r>
            <a:br/>
            <a:r>
              <a:t/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[직관적인 메인 카피]: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'CONNECTS TO EMPOWER YOUR SUCCESS' 슬로건으로 비즈니스 도약 비전 제시</a:t>
            </a:r>
            <a:br/>
            <a:r>
              <a:t/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[GNB 및 화면 이동]: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상단 고정 로고 + 햄버거 메뉴 배치 및 아래로 부드럽게 스크롤을 유도하는 인터랙션</a:t>
            </a:r>
            <a:br/>
            <a: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- 11 -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칩셋 &amp; 신경망 그래픽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00">
                <a:solidFill/>
              </a:rPr>
              <a:t>은은한 무드 배경 효과</a:t>
            </a:r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▶ [AI 칩셋 &amp; 신경망 비주얼]:</a:t>
            </a:r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  · 심플 AI 칩셋 SVG 그래픽과 데이터 흐름 라인이 스크롤에 맞춰 은은하게 반응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▶ [핵심 기술 역량 전달]:</a:t>
            </a:r>
            <a:br/>
            <a:r>
              <a:t/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  · AI, 클라우드, 빅데이터를 기업 환경에 맞춰 유기적으로 설계하고 운영하는 역량 표현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▶ [반응형 레이아웃]:</a:t>
            </a:r>
            <a:br/>
            <a:r>
              <a:t/>
            </a:r>
          </a:p>
          <a:p>
            <a:r>
              <a:t>  · PC, 태블릿, 모바일 모든 기기에서 텍스트와 그래픽이 한눈에 들어오는 가독성 중심 디자인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- 12 -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94A3B8"/>
                </a:solidFill>
                <a:latin typeface="Malgun Gothic"/>
              </a:rPr>
              <a:t>비즈니스 파이프라인을 정밀 분석해 산업단위의 시스템 구축 및 운영 로드맵 설계</a:t>
            </a:r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레이더 스캐너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[맞춤형 DX 로드맵 그래픽]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▶ [정밀 레이더 스캔 모션]:</a:t>
            </a:r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  · 360도 회전하는 레이더 그래픽으로 고객 비즈니스 환경을 정밀 분석하는 컨셉 시각화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▶ [맞춤 전략 로드맵]:</a:t>
            </a:r>
            <a:br/>
            <a:r>
              <a:t/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  · 정형화된 솔루션이 아닌 기업별 요구사항에 꼭 맞춘 단계별 시스템 구축 및 운영 로드맵 제시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▶ [모던 다크 스타일]:</a:t>
            </a:r>
            <a:br/>
            <a:r>
              <a:t/>
            </a:r>
          </a:p>
          <a:p>
            <a:r>
              <a:t>  · 군더더기 없는 얇은 선과 포인트 컬러로 정밀함과 전문성을 강조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- 13 -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S.03 · ENTERPRISE IMPACT</a:t>
            </a:r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2x3 수치 그리드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▶ [숫자로 입증하는 신뢰 (2x3 그리드)]:</a:t>
            </a:r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  · 99.98% 가동률, 15년+ 경험, 50개+ 대기업 파트너 등 핵심 수치 카운트업 효과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▶ [직관적인 정보 구조]:</a:t>
            </a:r>
            <a:br/>
            <a:r>
              <a:t/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  · 카드 테두리 없는 모던한 얇은 구분선으로 6개 핵심 지표를 한눈에 전달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▶ [검증된 레퍼런스 강조]:</a:t>
            </a:r>
            <a:br/>
            <a:r>
              <a:t/>
            </a:r>
          </a:p>
          <a:p>
            <a:r>
              <a:t>  · 말로만 하는 기술이 아닌 실질적인 운영 실적을 통해 고객 신뢰 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S.03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- 14 -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S.04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- 15 -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맑은 고딕"/>
              </a:rPr>
              <a:t>▶ [한눈에 보는 실적 목록]: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ABC마트, LX하우시스, AK플라자, 신세계I&amp;C 등 대표 프로젝트를 깔끔한 목록으로 제시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마우스를 올리면 각 프로젝트의 대표 이미지와 정보가 부드럽게 나타남</a:t>
            </a:r>
          </a:p>
          <a:p>
            <a:r>
              <a:t>▶ [실적 데이터 연동]:</a:t>
            </a:r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  · 주요 엔터프라이즈 레퍼런스를 직관적으로 노출하고 신뢰감 부여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클릭 시 Works 상세 화면으로 매끄럽게 이동하여 심층 내용 확인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▶ [엔터프라이즈 최적화 디자인]:</a:t>
            </a:r>
          </a:p>
          <a:p>
            <a:r>
              <a:t>  · 얇은 구분선과 시안 컬러 포인트로 세련된 가독성 극대화</a:t>
            </a:r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  · 모바일 및 태블릿 터치 환경에 최적화된 편리한 터치 영역 보장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/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7776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133776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 dirty="0">
                <a:solidFill>
                  <a:srgbClr val="0EA5E9"/>
                </a:solidFill>
                <a:latin typeface="Malgun Gothic"/>
              </a:rPr>
              <a:t>S.05 · READY TO CONNECT</a:t>
            </a:r>
          </a:p>
        </p:txBody>
      </p:sp>
      <p:sp>
        <p:nvSpPr>
          <p:cNvPr id="33" name="Text 30"/>
          <p:cNvSpPr/>
          <p:nvPr/>
        </p:nvSpPr>
        <p:spPr>
          <a:xfrm>
            <a:off x="704081" y="145776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205776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▶ [명확한 문의 유도 (CTA)]:</a:t>
            </a:r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  · '프로젝트 제안 문의하기' 버튼을 강조하여 실질적인 비즈니스 상담 연결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▶ [하단 푸터 정보]:</a:t>
            </a:r>
            <a:br/>
            <a:r>
              <a:t/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  · 회사 소개, 주요 메뉴 링크(About Us, Works, Contact Us), 연락처 및 본사 위치 안내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▶ [완결성 있는 스토리 마무리]:</a:t>
            </a:r>
            <a:br/>
            <a:r>
              <a:t/>
            </a:r>
          </a:p>
          <a:p>
            <a:r>
              <a:t>  · 메인 영상(Act 1)부터 문의 제안(Act 5)까지 일관된 흐름으로 완결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S.05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20000" y="3386276"/>
            <a:ext cx="4920000" cy="1303724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502448" y="3515060"/>
            <a:ext cx="8890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WINHUB
IT Innovation Partner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642448" y="3515060"/>
            <a:ext cx="9525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About Us
Works
Contact Us
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- 16 -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[시네마틱 영상 비주얼 연출]:</a:t>
            </a:r>
            <a:br/>
            <a:r>
              <a:t>  · wire_circle_network.mp4 비디오 배경과 기업 철학을 연결하여 세련된 몰입감 제공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▶ [시네마틱 영상 비주얼 연출]:</a:t>
            </a:r>
            <a:br/>
            <a:r>
              <a:t>  · wire_circle_network.mp4 비디오 배경과 기업 철학을 연결하여 세련된 몰입감 제공</a:t>
            </a:r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- 17 -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768" y="164592"/>
            <a:ext cx="758952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3840" y="164592"/>
            <a:ext cx="1115568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8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반응형 인터랙티브 웹 UI/UX 구축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/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8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 err="1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 아키텍처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  · 2x2 반응형 카드 그리드 &amp; 감각적인 모션 배경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/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- 18 -</a:t>
            </a:r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- 19 -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works-detail.html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- 20 -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스마트</a:t>
            </a:r>
            <a:r>
              <a:rPr dirty="0"/>
              <a:t> </a:t>
            </a:r>
            <a:r>
              <a:rPr dirty="0" err="1"/>
              <a:t>견적</a:t>
            </a:r>
            <a:r>
              <a:rPr dirty="0"/>
              <a:t>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(웹/앱/ERP/</a:t>
            </a:r>
            <a:r>
              <a:rPr dirty="0" err="1"/>
              <a:t>솔루션</a:t>
            </a:r>
            <a:r>
              <a:rPr dirty="0"/>
              <a:t>), </a:t>
            </a:r>
            <a:r>
              <a:rPr dirty="0" err="1"/>
              <a:t>예산</a:t>
            </a:r>
            <a:r>
              <a:rPr dirty="0"/>
              <a:t>, </a:t>
            </a:r>
            <a:r>
              <a:rPr dirty="0" err="1"/>
              <a:t>일정</a:t>
            </a:r>
            <a:r>
              <a:rPr dirty="0"/>
              <a:t> </a:t>
            </a:r>
            <a:r>
              <a:rPr dirty="0" err="1"/>
              <a:t>인터랙티브</a:t>
            </a:r>
            <a:r>
              <a:rPr dirty="0"/>
              <a:t> </a:t>
            </a:r>
            <a:r>
              <a:rPr dirty="0" err="1"/>
              <a:t>입력</a:t>
            </a:r>
            <a:br>
              <a:rPr dirty="0"/>
            </a:br>
            <a:r>
              <a:rPr dirty="0"/>
              <a:t>  ·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 </a:t>
            </a:r>
            <a:r>
              <a:rPr dirty="0" err="1"/>
              <a:t>암호화</a:t>
            </a:r>
            <a:r>
              <a:rPr dirty="0"/>
              <a:t> 및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검증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본사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카카오맵</a:t>
            </a:r>
            <a:r>
              <a:rPr dirty="0"/>
              <a:t> API </a:t>
            </a:r>
            <a:r>
              <a:rPr dirty="0" err="1"/>
              <a:t>연동</a:t>
            </a:r>
            <a:r>
              <a:rPr dirty="0"/>
              <a:t> 및 </a:t>
            </a:r>
            <a:r>
              <a:rPr dirty="0" err="1"/>
              <a:t>오시는</a:t>
            </a:r>
            <a:r>
              <a:rPr dirty="0"/>
              <a:t> 길(</a:t>
            </a:r>
            <a:r>
              <a:rPr dirty="0" err="1"/>
              <a:t>마두역</a:t>
            </a:r>
            <a:r>
              <a:rPr dirty="0"/>
              <a:t> 4번출구) </a:t>
            </a:r>
            <a:r>
              <a:rPr dirty="0" err="1"/>
              <a:t>안내</a:t>
            </a:r>
            <a:br>
              <a:rPr dirty="0"/>
            </a:br>
            <a:r>
              <a:rPr dirty="0"/>
              <a:t>  · SK M-City </a:t>
            </a:r>
            <a:r>
              <a:rPr dirty="0" err="1"/>
              <a:t>섹션</a:t>
            </a:r>
            <a:r>
              <a:rPr dirty="0"/>
              <a:t> 9005호 맵 </a:t>
            </a:r>
            <a:r>
              <a:rPr dirty="0" err="1"/>
              <a:t>마커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연락처</a:t>
            </a:r>
            <a:r>
              <a:rPr dirty="0"/>
              <a:t> </a:t>
            </a:r>
            <a:r>
              <a:rPr dirty="0" err="1"/>
              <a:t>직통</a:t>
            </a:r>
            <a:r>
              <a:rPr dirty="0"/>
              <a:t> </a:t>
            </a:r>
            <a:r>
              <a:rPr dirty="0" err="1"/>
              <a:t>채널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이메일</a:t>
            </a:r>
            <a:r>
              <a:rPr dirty="0"/>
              <a:t>: contact@winhub.co.kr |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전화</a:t>
            </a:r>
            <a:r>
              <a:rPr dirty="0"/>
              <a:t>: 031-908-7711</a:t>
            </a:r>
            <a:br>
              <a:rPr dirty="0"/>
            </a:br>
            <a:r>
              <a:rPr dirty="0"/>
              <a:t>  · </a:t>
            </a:r>
            <a:r>
              <a:rPr dirty="0" err="1"/>
              <a:t>접수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담당자</a:t>
            </a:r>
            <a:r>
              <a:rPr dirty="0"/>
              <a:t> </a:t>
            </a:r>
            <a:r>
              <a:rPr dirty="0" err="1"/>
              <a:t>배정</a:t>
            </a:r>
            <a:r>
              <a:rPr dirty="0"/>
              <a:t> 및 24시간 내 </a:t>
            </a:r>
            <a:r>
              <a:rPr dirty="0" err="1"/>
              <a:t>회신</a:t>
            </a:r>
            <a:r>
              <a:rPr dirty="0"/>
              <a:t> </a:t>
            </a:r>
            <a:r>
              <a:rPr dirty="0" err="1"/>
              <a:t>프로세스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contact.html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- 21 -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EA5E9"/>
                          </a:solidFill>
                          <a:latin typeface="Malgun Gothic"/>
                        </a:rPr>
                        <a:t>ACT 1 (Hero)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CONNECTS TO EMPOWER YOUR SUCCESS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미래를 여는 디지털 키(Gateway)로 고객 비즈니스의 성공적 도약을 견인합니다.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#futuristic_key #연결 #도약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2 (S.01)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ORCHESTRATING ENTERPRISE INTELLIGENCE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AI · 클라우드 · 빅데이터 아키텍처를 엔터프라이즈 환경에 최적화하여 구현합니다.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#AI칩셋 #신경망 #클라우드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3 (S.02)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PRECISION AT SCALE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비즈니스 파이프라인을 정밀 분석해 산업단위의 시스템 구축 및 운영 로드맵을 설계합니다.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#레이더스캔 #정밀분석 #맞춤전략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4 (S.03)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NUMBERS THAT PROVE LEADERSHIP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99.98% 시스템 가동률, 15+년 엔터프라이즈 SI 노하우, 50+ 대기업 파트너 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#실적수치 #가동률 #엔터프라이즈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5 (Outro)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READY TO EMPOWER YOUR FUTURE?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단순한 시스템 구축을 넘어, 비즈니스의 성공적인 디지털 전환을 지금 시작하십시오.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#프로젝트제안 #상담문의 #전환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SUB (About)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TECHNOLOGY ARCHITECTURE &amp; VISION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엔터프라이즈의 지속 가능한 성장을 리드하는 WINHUB의 기술 역량과 기업 철학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#회사소개 #비전 #도메인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SUB (Works)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PROVEN ENTERPRISE DELIVERABLES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대형 제조·유통·금융·통신 엔터프라이즈 고객사의 성공적인 구축 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#포트폴리오 #프로젝트상세 #실적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- 22 -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Interactive Web &amp; Vector Motion</a:t>
            </a:r>
            <a:endParaRPr lang="en-US" sz="800" dirty="0"/>
          </a:p>
          <a:p>
            <a:r>
              <a:rPr sz="800" b="1">
                <a:solidFill>
                  <a:srgbClr val="0EA5E9"/>
                </a:solidFill>
                <a:latin typeface="Malgun Gothic"/>
              </a:rPr>
              <a:t>가볍고 빠른 모던 웹 인터랙션 및 벡터 그래픽</a:t>
            </a:r>
          </a:p>
          <a:p>
            <a:r>
              <a:rPr sz="800" b="1">
                <a:solidFill>
                  <a:srgbClr val="0EA5E9"/>
                </a:solidFill>
                <a:latin typeface="Malgun Gothic"/>
              </a:rPr>
              <a:t>· 무거운 3D 플러그인을 배제하고 고화질 비디오와 가벼운 SVG 벡터 모션으로 최적화</a:t>
            </a:r>
          </a:p>
          <a:p>
            <a:r>
              <a:rPr sz="800" b="1">
                <a:solidFill>
                  <a:srgbClr val="0EA5E9"/>
                </a:solidFill>
                <a:latin typeface="Malgun Gothic"/>
              </a:rPr>
              <a:t>· 저사양 PC와 모바일 디바이스에서도 버벅임 없이 쾌적하고 부드러운 반응성 보장</a:t>
            </a:r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Interactive Web &amp; Vector Motion</a:t>
            </a:r>
            <a:endParaRPr lang="en-US" sz="850" dirty="0"/>
          </a:p>
          <a:p>
            <a:r>
              <a:rPr sz="850" b="1">
                <a:solidFill>
                  <a:srgbClr val="080A10"/>
                </a:solidFill>
                <a:latin typeface="Malgun Gothic"/>
              </a:rPr>
              <a:t>가볍고 빠른 모던 웹 인터랙션 및 벡터 그래픽</a:t>
            </a:r>
          </a:p>
          <a:p>
            <a:r>
              <a:rPr sz="850" b="1">
                <a:solidFill>
                  <a:srgbClr val="080A10"/>
                </a:solidFill>
                <a:latin typeface="Malgun Gothic"/>
              </a:rPr>
              <a:t>· 무거운 3D 플러그인을 배제하고 고화질 비디오와 가벼운 SVG 벡터 모션으로 최적화</a:t>
            </a:r>
          </a:p>
          <a:p>
            <a:r>
              <a:rPr sz="850" b="1">
                <a:solidFill>
                  <a:srgbClr val="080A10"/>
                </a:solidFill>
                <a:latin typeface="Malgun Gothic"/>
              </a:rPr>
              <a:t>· 저사양 PC와 모바일 디바이스에서도 버벅임 없이 쾌적하고 부드러운 반응성 보장</a:t>
            </a:r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  <a:p>
            <a:r>
              <a:rPr sz="800" b="1">
                <a:solidFill>
                  <a:srgbClr val="0EA5E9"/>
                </a:solidFill>
                <a:latin typeface="Malgun Gothic"/>
              </a:rPr>
              <a:t>페이지 새로고침 없는 유기적 사용자 경험</a:t>
            </a:r>
          </a:p>
          <a:p>
            <a:r>
              <a:rPr sz="800" b="1">
                <a:solidFill>
                  <a:srgbClr val="0EA5E9"/>
                </a:solidFill>
                <a:latin typeface="Malgun Gothic"/>
              </a:rPr>
              <a:t>· GNB 4대 메뉴(Home, About Us, Works, Contact Us) 이동 시에도 화면이 깜빡이지 않고 부드럽게 전환</a:t>
            </a:r>
          </a:p>
          <a:p>
            <a:r>
              <a:rPr sz="800" b="1">
                <a:solidFill>
                  <a:srgbClr val="0EA5E9"/>
                </a:solidFill>
                <a:latin typeface="Malgun Gothic"/>
              </a:rPr>
              <a:t>· 풀스크린 커튼 드로어로 모바일과 데스크톱 모두에서 일관된 프리미엄 UX 제공</a:t>
            </a:r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- 23 -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인터랙티브 모션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- 24 -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- 25 -</a:t>
            </a: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5074</Words>
  <Application>Microsoft Office PowerPoint</Application>
  <PresentationFormat>화면 슬라이드 쇼(16:9)</PresentationFormat>
  <Paragraphs>663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4</cp:revision>
  <dcterms:created xsi:type="dcterms:W3CDTF">2026-10-16T06:28:46Z</dcterms:created>
  <dcterms:modified xsi:type="dcterms:W3CDTF">2026-10-19T07:49:36Z</dcterms:modified>
</cp:coreProperties>
</file>