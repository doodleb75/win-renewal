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2" r:id="rId16"/>
    <p:sldId id="274" r:id="rId17"/>
    <p:sldId id="275" r:id="rId18"/>
    <p:sldId id="282" r:id="rId19"/>
    <p:sldId id="276" r:id="rId20"/>
    <p:sldId id="277" r:id="rId21"/>
    <p:sldId id="278" r:id="rId22"/>
    <p:sldId id="279" r:id="rId23"/>
    <p:sldId id="280" r:id="rId24"/>
    <p:sldId id="281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9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80A10"/>
                          </a:solidFill>
                          <a:latin typeface="Malgun Gothic"/>
                        </a:rPr>
                        <a:t>페이지명.html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8702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6-ACT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6단계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6단계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6단계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S.01~S.02: 심플 SVG(AI 칩셋·레이더) 모션 &amp; 앰비언트 무드 배경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S.03~S.05: 에디토리얼 실적 쇼케이스, 2x3 수치 그리드 &amp; CTA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6단계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899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6단계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6-Act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- 9 -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6단계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핵심 비전·기술·실적·제안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389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16736"/>
            <a:ext cx="77724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533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1</a:t>
            </a:r>
          </a:p>
        </p:txBody>
      </p:sp>
      <p:sp>
        <p:nvSpPr>
          <p:cNvPr id="14" name="Text 12"/>
          <p:cNvSpPr/>
          <p:nvPr/>
        </p:nvSpPr>
        <p:spPr>
          <a:xfrm>
            <a:off x="1508760" y="13533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Hero Cinematic</a:t>
            </a:r>
          </a:p>
        </p:txBody>
      </p:sp>
      <p:sp>
        <p:nvSpPr>
          <p:cNvPr id="15" name="Text 13"/>
          <p:cNvSpPr/>
          <p:nvPr/>
        </p:nvSpPr>
        <p:spPr>
          <a:xfrm>
            <a:off x="3063240" y="13533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Hero 영역</a:t>
            </a:r>
          </a:p>
        </p:txBody>
      </p:sp>
      <p:sp>
        <p:nvSpPr>
          <p:cNvPr id="16" name="Text 14"/>
          <p:cNvSpPr/>
          <p:nvPr/>
        </p:nvSpPr>
        <p:spPr>
          <a:xfrm>
            <a:off x="4160520" y="135331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futuristic_key.mp4 비디오</a:t>
            </a:r>
          </a:p>
        </p:txBody>
      </p:sp>
      <p:sp>
        <p:nvSpPr>
          <p:cNvPr id="17" name="Text 15"/>
          <p:cNvSpPr/>
          <p:nvPr/>
        </p:nvSpPr>
        <p:spPr>
          <a:xfrm>
            <a:off x="5806440" y="13533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미래지향적 게이트웨이: 비디오 배경 루프 위에서 미래를 여는 열쇠 모티브 전개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1783080"/>
            <a:ext cx="8229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1865376"/>
            <a:ext cx="777240" cy="25603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190195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2</a:t>
            </a:r>
          </a:p>
        </p:txBody>
      </p:sp>
      <p:sp>
        <p:nvSpPr>
          <p:cNvPr id="21" name="Text 19"/>
          <p:cNvSpPr/>
          <p:nvPr/>
        </p:nvSpPr>
        <p:spPr>
          <a:xfrm>
            <a:off x="1508760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Tech Innovation</a:t>
            </a:r>
          </a:p>
        </p:txBody>
      </p:sp>
      <p:sp>
        <p:nvSpPr>
          <p:cNvPr id="22" name="Text 20"/>
          <p:cNvSpPr/>
          <p:nvPr/>
        </p:nvSpPr>
        <p:spPr>
          <a:xfrm>
            <a:off x="3063240" y="190195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S.01 Tech</a:t>
            </a:r>
          </a:p>
        </p:txBody>
      </p:sp>
      <p:sp>
        <p:nvSpPr>
          <p:cNvPr id="23" name="Text 21"/>
          <p:cNvSpPr/>
          <p:nvPr/>
        </p:nvSpPr>
        <p:spPr>
          <a:xfrm>
            <a:off x="4160520" y="190195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AI 칩셋 SVG + 무드 배경</a:t>
            </a:r>
          </a:p>
        </p:txBody>
      </p:sp>
      <p:sp>
        <p:nvSpPr>
          <p:cNvPr id="24" name="Text 22"/>
          <p:cNvSpPr/>
          <p:nvPr/>
        </p:nvSpPr>
        <p:spPr>
          <a:xfrm>
            <a:off x="5806440" y="19019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지능의 신경망: AI · 클라우드 · 빅데이터 아키텍처를 엔터프라이즈 환경에 최적화하여 구현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8229600" cy="4389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414015"/>
            <a:ext cx="777240" cy="25603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450591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3</a:t>
            </a:r>
          </a:p>
        </p:txBody>
      </p:sp>
      <p:sp>
        <p:nvSpPr>
          <p:cNvPr id="28" name="Text 26"/>
          <p:cNvSpPr/>
          <p:nvPr/>
        </p:nvSpPr>
        <p:spPr>
          <a:xfrm>
            <a:off x="1508760" y="2450591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Custom Strategy</a:t>
            </a:r>
          </a:p>
        </p:txBody>
      </p:sp>
      <p:sp>
        <p:nvSpPr>
          <p:cNvPr id="29" name="Text 27"/>
          <p:cNvSpPr/>
          <p:nvPr/>
        </p:nvSpPr>
        <p:spPr>
          <a:xfrm>
            <a:off x="3063240" y="2450591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S.02 Strategy</a:t>
            </a:r>
          </a:p>
        </p:txBody>
      </p:sp>
      <p:sp>
        <p:nvSpPr>
          <p:cNvPr id="30" name="Text 28"/>
          <p:cNvSpPr/>
          <p:nvPr/>
        </p:nvSpPr>
        <p:spPr>
          <a:xfrm>
            <a:off x="4160520" y="2450591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레이더 SVG + 무드 배경</a:t>
            </a:r>
          </a:p>
        </p:txBody>
      </p:sp>
      <p:sp>
        <p:nvSpPr>
          <p:cNvPr id="31" name="Text 29"/>
          <p:cNvSpPr/>
          <p:nvPr/>
        </p:nvSpPr>
        <p:spPr>
          <a:xfrm>
            <a:off x="5806440" y="2450591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정밀 맞춤: 비즈니스 파이프라인을 정밀 분석해 산업단위 시스템 구축 및 운영 로드맵 설계</a:t>
            </a:r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8229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2962656"/>
            <a:ext cx="77724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299923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4</a:t>
            </a:r>
          </a:p>
        </p:txBody>
      </p:sp>
      <p:sp>
        <p:nvSpPr>
          <p:cNvPr id="35" name="Text 33"/>
          <p:cNvSpPr/>
          <p:nvPr/>
        </p:nvSpPr>
        <p:spPr>
          <a:xfrm>
            <a:off x="1508760" y="29992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Works Showcase</a:t>
            </a:r>
          </a:p>
        </p:txBody>
      </p:sp>
      <p:sp>
        <p:nvSpPr>
          <p:cNvPr id="36" name="Text 34"/>
          <p:cNvSpPr/>
          <p:nvPr/>
        </p:nvSpPr>
        <p:spPr>
          <a:xfrm>
            <a:off x="3063240" y="299923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S.03 Works</a:t>
            </a:r>
          </a:p>
        </p:txBody>
      </p:sp>
      <p:sp>
        <p:nvSpPr>
          <p:cNvPr id="37" name="Text 35"/>
          <p:cNvSpPr/>
          <p:nvPr/>
        </p:nvSpPr>
        <p:spPr>
          <a:xfrm>
            <a:off x="4160520" y="299923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Index Table Showcase</a:t>
            </a:r>
          </a:p>
        </p:txBody>
      </p:sp>
      <p:sp>
        <p:nvSpPr>
          <p:cNvPr id="38" name="Text 36"/>
          <p:cNvSpPr/>
          <p:nvPr/>
        </p:nvSpPr>
        <p:spPr>
          <a:xfrm>
            <a:off x="5806440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실적의 증명: ABC마트, LX하우시스 등 대형 엔터프라이즈 구축 레퍼런스 쇼케이스</a:t>
            </a:r>
          </a:p>
        </p:txBody>
      </p:sp>
      <p:sp>
        <p:nvSpPr>
          <p:cNvPr id="39" name="Shape 37"/>
          <p:cNvSpPr/>
          <p:nvPr/>
        </p:nvSpPr>
        <p:spPr>
          <a:xfrm>
            <a:off x="457200" y="3429000"/>
            <a:ext cx="8229600" cy="4389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511296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35478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5</a:t>
            </a:r>
          </a:p>
        </p:txBody>
      </p:sp>
      <p:sp>
        <p:nvSpPr>
          <p:cNvPr id="42" name="Text 40"/>
          <p:cNvSpPr/>
          <p:nvPr/>
        </p:nvSpPr>
        <p:spPr>
          <a:xfrm>
            <a:off x="1508760" y="35478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Enterprise Impact</a:t>
            </a:r>
          </a:p>
        </p:txBody>
      </p:sp>
      <p:sp>
        <p:nvSpPr>
          <p:cNvPr id="43" name="Text 41"/>
          <p:cNvSpPr/>
          <p:nvPr/>
        </p:nvSpPr>
        <p:spPr>
          <a:xfrm>
            <a:off x="3063240" y="35478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S.04 Impact</a:t>
            </a:r>
          </a:p>
        </p:txBody>
      </p:sp>
      <p:sp>
        <p:nvSpPr>
          <p:cNvPr id="44" name="Text 42"/>
          <p:cNvSpPr/>
          <p:nvPr/>
        </p:nvSpPr>
        <p:spPr>
          <a:xfrm>
            <a:off x="4160520" y="354787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차세대 인터랙티브 2x3 Grid</a:t>
            </a:r>
          </a:p>
        </p:txBody>
      </p:sp>
      <p:sp>
        <p:nvSpPr>
          <p:cNvPr id="45" name="Text 43"/>
          <p:cNvSpPr/>
          <p:nvPr/>
        </p:nvSpPr>
        <p:spPr>
          <a:xfrm>
            <a:off x="5806440" y="3547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숫자의 증명: 99.98% 가동률, 15+년 등 무박스 헤어라인 수치 그리드 카운트업</a:t>
            </a:r>
          </a:p>
        </p:txBody>
      </p:sp>
      <p:sp>
        <p:nvSpPr>
          <p:cNvPr id="46" name="Shape 44"/>
          <p:cNvSpPr/>
          <p:nvPr/>
        </p:nvSpPr>
        <p:spPr>
          <a:xfrm>
            <a:off x="457200" y="3977639"/>
            <a:ext cx="8229600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94360" y="4059935"/>
            <a:ext cx="777240" cy="25603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94360" y="4096511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6</a:t>
            </a:r>
          </a:p>
        </p:txBody>
      </p:sp>
      <p:sp>
        <p:nvSpPr>
          <p:cNvPr id="49" name="Text 47"/>
          <p:cNvSpPr/>
          <p:nvPr/>
        </p:nvSpPr>
        <p:spPr>
          <a:xfrm>
            <a:off x="1508760" y="4096511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Outro CTA</a:t>
            </a:r>
          </a:p>
        </p:txBody>
      </p:sp>
      <p:sp>
        <p:nvSpPr>
          <p:cNvPr id="50" name="Text 48"/>
          <p:cNvSpPr/>
          <p:nvPr/>
        </p:nvSpPr>
        <p:spPr>
          <a:xfrm>
            <a:off x="3063240" y="4096511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S.05 Outro</a:t>
            </a:r>
          </a:p>
        </p:txBody>
      </p:sp>
      <p:sp>
        <p:nvSpPr>
          <p:cNvPr id="51" name="Text 49"/>
          <p:cNvSpPr/>
          <p:nvPr/>
        </p:nvSpPr>
        <p:spPr>
          <a:xfrm>
            <a:off x="4160520" y="4096511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Full Bleed CTA + Footer</a:t>
            </a:r>
          </a:p>
        </p:txBody>
      </p:sp>
      <p:sp>
        <p:nvSpPr>
          <p:cNvPr id="52" name="Text 50"/>
          <p:cNvSpPr/>
          <p:nvPr/>
        </p:nvSpPr>
        <p:spPr>
          <a:xfrm>
            <a:off x="5806440" y="4096511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미래의 제안: 'READY TO EMPOWER YOUR FUTURE?' 전환 문의 및 정보 안내로 마침표</a:t>
            </a:r>
          </a:p>
        </p:txBody>
      </p:sp>
      <p:sp>
        <p:nvSpPr>
          <p:cNvPr id="53" name="Shape 51"/>
          <p:cNvSpPr/>
          <p:nvPr/>
        </p:nvSpPr>
        <p:spPr>
          <a:xfrm>
            <a:off x="-182880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-1828800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-1828800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-1828800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-1828800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- 10 -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378532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futuristic_key.mp4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855306" y="2150163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2906285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561591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4706D5-CA6A-0D79-A1B3-E76322EC9420}"/>
              </a:ext>
            </a:extLst>
          </p:cNvPr>
          <p:cNvGrpSpPr/>
          <p:nvPr/>
        </p:nvGrpSpPr>
        <p:grpSpPr>
          <a:xfrm>
            <a:off x="1359387" y="4113183"/>
            <a:ext cx="2621224" cy="282285"/>
            <a:chOff x="1359387" y="4254326"/>
            <a:chExt cx="2621224" cy="282285"/>
          </a:xfrm>
        </p:grpSpPr>
        <p:sp>
          <p:nvSpPr>
            <p:cNvPr id="39" name="Shape 36"/>
            <p:cNvSpPr/>
            <p:nvPr/>
          </p:nvSpPr>
          <p:spPr>
            <a:xfrm>
              <a:off x="1359387" y="4254326"/>
              <a:ext cx="2621224" cy="282285"/>
            </a:xfrm>
            <a:prstGeom prst="round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 37"/>
            <p:cNvSpPr/>
            <p:nvPr/>
          </p:nvSpPr>
          <p:spPr>
            <a:xfrm>
              <a:off x="1359387" y="4284571"/>
              <a:ext cx="2621224" cy="221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71" b="1" dirty="0">
                  <a:solidFill>
                    <a:srgbClr val="080A1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SCROLL TO INITIATE SYSTEM ↓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[비디오 에셋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assets/mp4/futuristic_key.mp4 60FPS 무한 루프 재생</a:t>
            </a:r>
            <a:br/>
            <a:r>
              <a:t>  · 65% 다크 오버레이로 타이포그래피 시인성 확보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[미래지향 카피라이팅]: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</a:t>
            </a:r>
            <a:br/>
            <a:r>
              <a:t>  · 디지털 키(Gateway) 모티브의 기업 기술 도약 형상화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GNB: 로고 + 햄버거 메뉴(단순화)</a:t>
            </a:r>
            <a:br/>
            <a:r>
              <a:t>  · 'SCROLL TO INITIATE SYSTEM' 클릭 시 S.01 부드러운 스크롤 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- 11 -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00"/>
              <a:t>Ambient Blurred Mood Background</a:t>
            </a:r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- 12 -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94A3B8"/>
                </a:solidFill>
                <a:latin typeface="Malgun Gothic"/>
              </a:rPr>
              <a:t>비즈니스 파이프라인을 정밀 분석해 산업단위의 시스템 구축 및 운영 로드맵 설계</a:t>
            </a:r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- 13 -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WIN-UI-M04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S.03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- 14 -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[에디토리얼 인덱스 테이블]: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1행 1레코드 미니멀 인터랙티브 테이블 구조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호버 시 해당 프로젝트 썸네일 플로팅 프리뷰 및 화살표 대각선 회전</a:t>
            </a:r>
          </a:p>
          <a:p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▶ [실적 데이터 바인딩 &amp; 인터랙션]: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 MART, LX 하우시스, AK PLAZA, 신세계 I&amp;C 등 핵심 실적 직관 노출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서브페이지 Works 상세(S02-Detail)로 스무스 트랜지션 이동</a:t>
            </a:r>
          </a:p>
          <a:p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[엔터프라이즈 UI/UX 최적화]: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1px 헤어라인 디바이더와 시안 네온 강조로 가독성 극대화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모바일/태블릿 터치 디바이스에 맞춘 최적 탭 타겟 영역 보장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 dirty="0">
                <a:solidFill>
                  <a:srgbClr val="0EA5E9"/>
                </a:solidFill>
                <a:latin typeface="Malgun Gothic"/>
              </a:rPr>
              <a:t>S.0</a:t>
            </a:r>
            <a:r>
              <a:rPr lang="en-US" sz="850" b="1" dirty="0">
                <a:solidFill>
                  <a:srgbClr val="0EA5E9"/>
                </a:solidFill>
                <a:latin typeface="Malgun Gothic"/>
              </a:rPr>
              <a:t>5</a:t>
            </a:r>
            <a:r>
              <a:rPr sz="850" b="1" dirty="0">
                <a:solidFill>
                  <a:srgbClr val="0EA5E9"/>
                </a:solidFill>
                <a:latin typeface="Malgun Gothic"/>
              </a:rPr>
              <a:t> · ENTERPRISE IMPACT</a:t>
            </a:r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 Image]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WIN-UI-M05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S.04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- 15 -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7776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133776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 dirty="0">
                <a:solidFill>
                  <a:srgbClr val="0EA5E9"/>
                </a:solidFill>
                <a:latin typeface="Malgun Gothic"/>
              </a:rPr>
              <a:t>S.05 · READY TO CONNECT</a:t>
            </a:r>
          </a:p>
        </p:txBody>
      </p:sp>
      <p:sp>
        <p:nvSpPr>
          <p:cNvPr id="33" name="Text 30"/>
          <p:cNvSpPr/>
          <p:nvPr/>
        </p:nvSpPr>
        <p:spPr>
          <a:xfrm>
            <a:off x="704081" y="145776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205776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S.05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Malgun Gothic"/>
              </a:rPr>
              <a:t>메인 / Act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20000" y="3386276"/>
            <a:ext cx="4920000" cy="1303724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502448" y="3515060"/>
            <a:ext cx="8890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WINHUB
IT Innovation Partner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642448" y="3515060"/>
            <a:ext cx="9525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About Us
Works
Contact Us
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- 16 -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- 17 -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768" y="164592"/>
            <a:ext cx="758952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3840" y="164592"/>
            <a:ext cx="1115568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8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8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 err="1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 아키텍처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- 18 -</a:t>
            </a: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- 19 -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works-detail.html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- 20 -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스마트</a:t>
            </a:r>
            <a:r>
              <a:rPr dirty="0"/>
              <a:t> </a:t>
            </a:r>
            <a:r>
              <a:rPr dirty="0" err="1"/>
              <a:t>견적</a:t>
            </a:r>
            <a:r>
              <a:rPr dirty="0"/>
              <a:t>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(웹/앱/ERP/</a:t>
            </a:r>
            <a:r>
              <a:rPr dirty="0" err="1"/>
              <a:t>솔루션</a:t>
            </a:r>
            <a:r>
              <a:rPr dirty="0"/>
              <a:t>), </a:t>
            </a:r>
            <a:r>
              <a:rPr dirty="0" err="1"/>
              <a:t>예산</a:t>
            </a:r>
            <a:r>
              <a:rPr dirty="0"/>
              <a:t>, </a:t>
            </a:r>
            <a:r>
              <a:rPr dirty="0" err="1"/>
              <a:t>일정</a:t>
            </a:r>
            <a:r>
              <a:rPr dirty="0"/>
              <a:t> </a:t>
            </a:r>
            <a:r>
              <a:rPr dirty="0" err="1"/>
              <a:t>인터랙티브</a:t>
            </a:r>
            <a:r>
              <a:rPr dirty="0"/>
              <a:t> </a:t>
            </a:r>
            <a:r>
              <a:rPr dirty="0" err="1"/>
              <a:t>입력</a:t>
            </a:r>
            <a:br>
              <a:rPr dirty="0"/>
            </a:br>
            <a:r>
              <a:rPr dirty="0"/>
              <a:t>  ·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 </a:t>
            </a:r>
            <a:r>
              <a:rPr dirty="0" err="1"/>
              <a:t>암호화</a:t>
            </a:r>
            <a:r>
              <a:rPr dirty="0"/>
              <a:t> 및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검증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본사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카카오맵</a:t>
            </a:r>
            <a:r>
              <a:rPr dirty="0"/>
              <a:t> API </a:t>
            </a:r>
            <a:r>
              <a:rPr dirty="0" err="1"/>
              <a:t>연동</a:t>
            </a:r>
            <a:r>
              <a:rPr dirty="0"/>
              <a:t> 및 </a:t>
            </a:r>
            <a:r>
              <a:rPr dirty="0" err="1"/>
              <a:t>오시는</a:t>
            </a:r>
            <a:r>
              <a:rPr dirty="0"/>
              <a:t> 길(</a:t>
            </a:r>
            <a:r>
              <a:rPr dirty="0" err="1"/>
              <a:t>마두역</a:t>
            </a:r>
            <a:r>
              <a:rPr dirty="0"/>
              <a:t> 4번출구) </a:t>
            </a:r>
            <a:r>
              <a:rPr dirty="0" err="1"/>
              <a:t>안내</a:t>
            </a:r>
            <a:br>
              <a:rPr dirty="0"/>
            </a:br>
            <a:r>
              <a:rPr dirty="0"/>
              <a:t>  · SK M-City </a:t>
            </a:r>
            <a:r>
              <a:rPr dirty="0" err="1"/>
              <a:t>섹션</a:t>
            </a:r>
            <a:r>
              <a:rPr dirty="0"/>
              <a:t> 9005호 맵 </a:t>
            </a:r>
            <a:r>
              <a:rPr dirty="0" err="1"/>
              <a:t>마커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연락처</a:t>
            </a:r>
            <a:r>
              <a:rPr dirty="0"/>
              <a:t> </a:t>
            </a:r>
            <a:r>
              <a:rPr dirty="0" err="1"/>
              <a:t>직통</a:t>
            </a:r>
            <a:r>
              <a:rPr dirty="0"/>
              <a:t> </a:t>
            </a:r>
            <a:r>
              <a:rPr dirty="0" err="1"/>
              <a:t>채널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이메일</a:t>
            </a:r>
            <a:r>
              <a:rPr dirty="0"/>
              <a:t>: contact@winhub.co.kr |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전화</a:t>
            </a:r>
            <a:r>
              <a:rPr dirty="0"/>
              <a:t>: 031-908-7711</a:t>
            </a:r>
            <a:br>
              <a:rPr dirty="0"/>
            </a:br>
            <a:r>
              <a:rPr dirty="0"/>
              <a:t>  · </a:t>
            </a:r>
            <a:r>
              <a:rPr dirty="0" err="1"/>
              <a:t>접수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담당자</a:t>
            </a:r>
            <a:r>
              <a:rPr dirty="0"/>
              <a:t> </a:t>
            </a:r>
            <a:r>
              <a:rPr dirty="0" err="1"/>
              <a:t>배정</a:t>
            </a:r>
            <a:r>
              <a:rPr dirty="0"/>
              <a:t> 및 24시간 내 </a:t>
            </a:r>
            <a:r>
              <a:rPr dirty="0" err="1"/>
              <a:t>회신</a:t>
            </a:r>
            <a:r>
              <a:rPr dirty="0"/>
              <a:t> </a:t>
            </a:r>
            <a:r>
              <a:rPr dirty="0" err="1"/>
              <a:t>프로세스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contact.html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- 21 -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A5E9"/>
                          </a:solidFill>
                          <a:latin typeface="Malgun Gothic"/>
                        </a:rPr>
                        <a:t>ACT 1 (Hero)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CONNECTS TO EMPOWER YOUR SUCCESS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미래를 여는 디지털 키(Gateway)로 고객 비즈니스의 성공적 도약을 견인합니다.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#futuristic_key #연결 #도약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2 (S.01)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ORCHESTRATING ENTERPRISE INTELLIGENCE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AI · 클라우드 · 빅데이터 아키텍처를 엔터프라이즈 환경에 최적화하여 구현합니다.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#AI칩셋 #신경망 #클라우드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3 (S.02)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PRECISION AT SCALE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비즈니스 파이프라인을 정밀 분석해 산업단위의 시스템 구축 및 운영 로드맵을 설계합니다.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#레이더스캔 #정밀분석 #맞춤전략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A5E9"/>
                          </a:solidFill>
                          <a:latin typeface="Malgun Gothic"/>
                        </a:rPr>
                        <a:t>ACT 4 (S.03)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PROVEN ENTERPRISE SOLUTIONS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대형 제조·유통·금융 엔터프라이즈 고객사의 성공적인 구축 레퍼런스 실적 인덱스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#실적쇼케이스 #포트폴리오 #레퍼런스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5 (S.04)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NUMBERS THAT PROVE LEADERSHIP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99.98% 시스템 가동률, 15+년 엔터프라이즈 SI 노하우, 50+ 대기업 파트너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#실적수치 #가동률 #엔터프라이즈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6 (Outro)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READY TO EMPOWER YOUR FUTURE?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단순한 시스템 구축을 넘어, 비즈니스의 성공적인 디지털 전환을 지금 시작하십시오.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#프로젝트제안 #상담문의 #전환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(About)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TECHNOLOGY ARCHITECTURE &amp; VISION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엔터프라이즈의 지속 가능한 성장을 리드하는 WINHUB의 기술 역량과 기업 철학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#회사소개 #비전 #도메인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- 22 -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- 23 -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- 24 -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- 25 -</a:t>
            </a: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5101</Words>
  <Application>Microsoft Office PowerPoint</Application>
  <PresentationFormat>화면 슬라이드 쇼(16:9)</PresentationFormat>
  <Paragraphs>668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5</cp:revision>
  <dcterms:created xsi:type="dcterms:W3CDTF">2026-10-16T06:28:46Z</dcterms:created>
  <dcterms:modified xsi:type="dcterms:W3CDTF">2026-10-19T08:06:27Z</dcterms:modified>
</cp:coreProperties>
</file>